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embeddings/oleObject1.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4"/>
  </p:notesMasterIdLst>
  <p:handoutMasterIdLst>
    <p:handoutMasterId r:id="rId45"/>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Lst>
  <p:sldSz cx="12192000" cy="6858000"/>
  <p:notesSz cx="7315200" cy="123444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1D55"/>
    <a:srgbClr val="2F1D53"/>
    <a:srgbClr val="0B4497"/>
    <a:srgbClr val="0E58C4"/>
    <a:srgbClr val="404040"/>
    <a:srgbClr val="7F8FA9"/>
    <a:srgbClr val="ACCBF9"/>
    <a:srgbClr val="85B2F6"/>
    <a:srgbClr val="4A8EF2"/>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D34E83-0208-4699-820D-BABC8997FF29}" v="52" dt="2026-10-02T04:52:23.8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84407" autoAdjust="0"/>
  </p:normalViewPr>
  <p:slideViewPr>
    <p:cSldViewPr snapToGrid="0" snapToObjects="1">
      <p:cViewPr varScale="1">
        <p:scale>
          <a:sx n="80" d="100"/>
          <a:sy n="80" d="100"/>
        </p:scale>
        <p:origin x="619" y="6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474"/>
    </p:cViewPr>
  </p:sorterViewPr>
  <p:notesViewPr>
    <p:cSldViewPr snapToGrid="0" snapToObjects="1">
      <p:cViewPr varScale="1">
        <p:scale>
          <a:sx n="60" d="100"/>
          <a:sy n="60" d="100"/>
        </p:scale>
        <p:origin x="4260" y="9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44" Type="http://schemas.openxmlformats.org/officeDocument/2006/relationships/notesMaster" Target="notesMasters/notesMaster1.xml"/><Relationship Id="rId45" Type="http://schemas.openxmlformats.org/officeDocument/2006/relationships/handoutMaster" Target="handoutMasters/handout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sar Silva" userId="5fd7436578886c79" providerId="LiveId" clId="{176B44B2-B01B-4A54-A4F4-97D3395904DD}"/>
    <pc:docChg chg="custSel modSld">
      <pc:chgData name="Cesar Silva" userId="5fd7436578886c79" providerId="LiveId" clId="{176B44B2-B01B-4A54-A4F4-97D3395904DD}" dt="2026-10-02T04:52:23.877" v="155"/>
      <pc:docMkLst>
        <pc:docMk/>
      </pc:docMkLst>
      <pc:sldChg chg="addSp delSp modSp mod">
        <pc:chgData name="Cesar Silva" userId="5fd7436578886c79" providerId="LiveId" clId="{176B44B2-B01B-4A54-A4F4-97D3395904DD}" dt="2026-10-02T04:48:16.899" v="138" actId="478"/>
        <pc:sldMkLst>
          <pc:docMk/>
          <pc:sldMk cId="2142701248" sldId="268"/>
        </pc:sldMkLst>
        <pc:picChg chg="add del mod">
          <ac:chgData name="Cesar Silva" userId="5fd7436578886c79" providerId="LiveId" clId="{176B44B2-B01B-4A54-A4F4-97D3395904DD}" dt="2026-10-02T04:48:16.899" v="138" actId="478"/>
          <ac:picMkLst>
            <pc:docMk/>
            <pc:sldMk cId="2142701248" sldId="268"/>
            <ac:picMk id="5" creationId="{E804AF1C-58A2-0926-1C78-04AD65E748AC}"/>
          </ac:picMkLst>
        </pc:picChg>
      </pc:sldChg>
      <pc:sldChg chg="addSp delSp modSp mod">
        <pc:chgData name="Cesar Silva" userId="5fd7436578886c79" providerId="LiveId" clId="{176B44B2-B01B-4A54-A4F4-97D3395904DD}" dt="2026-10-02T04:48:52.648" v="146" actId="478"/>
        <pc:sldMkLst>
          <pc:docMk/>
          <pc:sldMk cId="2952665402" sldId="320"/>
        </pc:sldMkLst>
        <pc:spChg chg="add del mod">
          <ac:chgData name="Cesar Silva" userId="5fd7436578886c79" providerId="LiveId" clId="{176B44B2-B01B-4A54-A4F4-97D3395904DD}" dt="2026-10-02T04:48:52.055" v="145" actId="478"/>
          <ac:spMkLst>
            <pc:docMk/>
            <pc:sldMk cId="2952665402" sldId="320"/>
            <ac:spMk id="12" creationId="{1237FA49-916A-141C-D76B-D86BB4846138}"/>
          </ac:spMkLst>
        </pc:spChg>
        <pc:graphicFrameChg chg="mod">
          <ac:chgData name="Cesar Silva" userId="5fd7436578886c79" providerId="LiveId" clId="{176B44B2-B01B-4A54-A4F4-97D3395904DD}" dt="2026-10-02T04:48:06.866" v="132"/>
          <ac:graphicFrameMkLst>
            <pc:docMk/>
            <pc:sldMk cId="2952665402" sldId="320"/>
            <ac:graphicFrameMk id="14" creationId="{D39695C8-403B-A663-0077-05489DECCC5C}"/>
          </ac:graphicFrameMkLst>
        </pc:graphicFrameChg>
        <pc:picChg chg="add del mod">
          <ac:chgData name="Cesar Silva" userId="5fd7436578886c79" providerId="LiveId" clId="{176B44B2-B01B-4A54-A4F4-97D3395904DD}" dt="2026-10-02T04:48:52.648" v="146" actId="478"/>
          <ac:picMkLst>
            <pc:docMk/>
            <pc:sldMk cId="2952665402" sldId="320"/>
            <ac:picMk id="11" creationId="{3B6A0CA7-7A7B-9C5E-B602-8B90329BD64F}"/>
          </ac:picMkLst>
        </pc:picChg>
      </pc:sldChg>
      <pc:sldChg chg="modSp mod">
        <pc:chgData name="Cesar Silva" userId="5fd7436578886c79" providerId="LiveId" clId="{176B44B2-B01B-4A54-A4F4-97D3395904DD}" dt="2026-10-02T04:48:06.866" v="134"/>
        <pc:sldMkLst>
          <pc:docMk/>
          <pc:sldMk cId="3518942910" sldId="321"/>
        </pc:sldMkLst>
        <pc:graphicFrameChg chg="mod">
          <ac:chgData name="Cesar Silva" userId="5fd7436578886c79" providerId="LiveId" clId="{176B44B2-B01B-4A54-A4F4-97D3395904DD}" dt="2026-10-02T04:48:06.866" v="134"/>
          <ac:graphicFrameMkLst>
            <pc:docMk/>
            <pc:sldMk cId="3518942910" sldId="321"/>
            <ac:graphicFrameMk id="18" creationId="{3E87A6A9-D480-3F8C-C0C7-2F9FEC3E9702}"/>
          </ac:graphicFrameMkLst>
        </pc:graphicFrameChg>
      </pc:sldChg>
      <pc:sldChg chg="modSp mod">
        <pc:chgData name="Cesar Silva" userId="5fd7436578886c79" providerId="LiveId" clId="{176B44B2-B01B-4A54-A4F4-97D3395904DD}" dt="2026-10-02T02:44:50.694" v="87" actId="20577"/>
        <pc:sldMkLst>
          <pc:docMk/>
          <pc:sldMk cId="0" sldId="327"/>
        </pc:sldMkLst>
        <pc:spChg chg="mod">
          <ac:chgData name="Cesar Silva" userId="5fd7436578886c79" providerId="LiveId" clId="{176B44B2-B01B-4A54-A4F4-97D3395904DD}" dt="2026-10-02T02:44:50.694" v="87" actId="20577"/>
          <ac:spMkLst>
            <pc:docMk/>
            <pc:sldMk cId="0" sldId="327"/>
            <ac:spMk id="4" creationId="{00000000-0000-0000-0000-000000000000}"/>
          </ac:spMkLst>
        </pc:spChg>
      </pc:sldChg>
      <pc:sldChg chg="mod modShow">
        <pc:chgData name="Cesar Silva" userId="5fd7436578886c79" providerId="LiveId" clId="{176B44B2-B01B-4A54-A4F4-97D3395904DD}" dt="2026-10-02T04:41:05.325" v="88" actId="729"/>
        <pc:sldMkLst>
          <pc:docMk/>
          <pc:sldMk cId="0" sldId="358"/>
        </pc:sldMkLst>
      </pc:sldChg>
      <pc:sldChg chg="mod modShow">
        <pc:chgData name="Cesar Silva" userId="5fd7436578886c79" providerId="LiveId" clId="{176B44B2-B01B-4A54-A4F4-97D3395904DD}" dt="2026-10-02T04:41:05.325" v="88" actId="729"/>
        <pc:sldMkLst>
          <pc:docMk/>
          <pc:sldMk cId="0" sldId="359"/>
        </pc:sldMkLst>
      </pc:sldChg>
      <pc:sldChg chg="mod modShow">
        <pc:chgData name="Cesar Silva" userId="5fd7436578886c79" providerId="LiveId" clId="{176B44B2-B01B-4A54-A4F4-97D3395904DD}" dt="2026-10-02T04:41:05.325" v="88" actId="729"/>
        <pc:sldMkLst>
          <pc:docMk/>
          <pc:sldMk cId="0" sldId="360"/>
        </pc:sldMkLst>
      </pc:sldChg>
      <pc:sldChg chg="mod modShow">
        <pc:chgData name="Cesar Silva" userId="5fd7436578886c79" providerId="LiveId" clId="{176B44B2-B01B-4A54-A4F4-97D3395904DD}" dt="2026-10-02T04:41:05.325" v="88" actId="729"/>
        <pc:sldMkLst>
          <pc:docMk/>
          <pc:sldMk cId="0" sldId="361"/>
        </pc:sldMkLst>
      </pc:sldChg>
      <pc:sldChg chg="mod modShow">
        <pc:chgData name="Cesar Silva" userId="5fd7436578886c79" providerId="LiveId" clId="{176B44B2-B01B-4A54-A4F4-97D3395904DD}" dt="2026-10-02T04:41:14.501" v="89" actId="729"/>
        <pc:sldMkLst>
          <pc:docMk/>
          <pc:sldMk cId="0" sldId="362"/>
        </pc:sldMkLst>
      </pc:sldChg>
      <pc:sldChg chg="mod modShow">
        <pc:chgData name="Cesar Silva" userId="5fd7436578886c79" providerId="LiveId" clId="{176B44B2-B01B-4A54-A4F4-97D3395904DD}" dt="2026-10-02T04:41:14.501" v="89" actId="729"/>
        <pc:sldMkLst>
          <pc:docMk/>
          <pc:sldMk cId="0" sldId="363"/>
        </pc:sldMkLst>
      </pc:sldChg>
      <pc:sldChg chg="mod modShow">
        <pc:chgData name="Cesar Silva" userId="5fd7436578886c79" providerId="LiveId" clId="{176B44B2-B01B-4A54-A4F4-97D3395904DD}" dt="2026-10-02T04:41:14.501" v="89" actId="729"/>
        <pc:sldMkLst>
          <pc:docMk/>
          <pc:sldMk cId="0" sldId="364"/>
        </pc:sldMkLst>
      </pc:sldChg>
      <pc:sldChg chg="mod modShow">
        <pc:chgData name="Cesar Silva" userId="5fd7436578886c79" providerId="LiveId" clId="{176B44B2-B01B-4A54-A4F4-97D3395904DD}" dt="2026-10-02T04:41:14.501" v="89" actId="729"/>
        <pc:sldMkLst>
          <pc:docMk/>
          <pc:sldMk cId="0" sldId="365"/>
        </pc:sldMkLst>
      </pc:sldChg>
      <pc:sldChg chg="modSp mod">
        <pc:chgData name="Cesar Silva" userId="5fd7436578886c79" providerId="LiveId" clId="{176B44B2-B01B-4A54-A4F4-97D3395904DD}" dt="2026-10-02T04:52:23.877" v="155"/>
        <pc:sldMkLst>
          <pc:docMk/>
          <pc:sldMk cId="0" sldId="366"/>
        </pc:sldMkLst>
        <pc:graphicFrameChg chg="mod">
          <ac:chgData name="Cesar Silva" userId="5fd7436578886c79" providerId="LiveId" clId="{176B44B2-B01B-4A54-A4F4-97D3395904DD}" dt="2026-10-02T04:50:42.770" v="148" actId="208"/>
          <ac:graphicFrameMkLst>
            <pc:docMk/>
            <pc:sldMk cId="0" sldId="366"/>
            <ac:graphicFrameMk id="11" creationId="{00000000-0000-0000-0000-000000000000}"/>
          </ac:graphicFrameMkLst>
        </pc:graphicFrameChg>
        <pc:graphicFrameChg chg="mod modGraphic">
          <ac:chgData name="Cesar Silva" userId="5fd7436578886c79" providerId="LiveId" clId="{176B44B2-B01B-4A54-A4F4-97D3395904DD}" dt="2026-10-02T04:52:23.877" v="155"/>
          <ac:graphicFrameMkLst>
            <pc:docMk/>
            <pc:sldMk cId="0" sldId="366"/>
            <ac:graphicFrameMk id="15" creationId="{00000000-0000-0000-0000-000000000000}"/>
          </ac:graphicFrameMkLst>
        </pc:graphicFrameChg>
      </pc:sldChg>
      <pc:sldChg chg="modSp mod">
        <pc:chgData name="Cesar Silva" userId="5fd7436578886c79" providerId="LiveId" clId="{176B44B2-B01B-4A54-A4F4-97D3395904DD}" dt="2026-10-02T04:51:47.814" v="151" actId="255"/>
        <pc:sldMkLst>
          <pc:docMk/>
          <pc:sldMk cId="0" sldId="367"/>
        </pc:sldMkLst>
        <pc:graphicFrameChg chg="modGraphic">
          <ac:chgData name="Cesar Silva" userId="5fd7436578886c79" providerId="LiveId" clId="{176B44B2-B01B-4A54-A4F4-97D3395904DD}" dt="2026-10-02T04:51:47.814" v="151" actId="255"/>
          <ac:graphicFrameMkLst>
            <pc:docMk/>
            <pc:sldMk cId="0" sldId="367"/>
            <ac:graphicFrameMk id="15" creationId="{00000000-0000-0000-0000-000000000000}"/>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
          <c:y val="0.12"/>
          <c:w val="0.96"/>
          <c:h val="0.74"/>
        </c:manualLayout>
      </c:layout>
      <c:barChart>
        <c:barDir val="col"/>
        <c:grouping val="stacked"/>
        <c:ser>
          <c:idx val="0"/>
          <c:order val="0"/>
          <c:tx>
            <c:strRef>
              <c:f>Sheet1!$B$1</c:f>
              <c:strCache>
                <c:ptCount val="1"/>
                <c:pt idx="0">
                  <c:v>Products</c:v>
                </c:pt>
              </c:strCache>
            </c:strRef>
          </c:tx>
          <c:spPr>
            <a:solidFill>
              <a:srgbClr val="242852"/>
            </a:solidFill>
            <a:ln>
              <a:noFill/>
            </a:ln>
          </c:spPr>
          <c:invertIfNegative val="0"/>
          <c:dPt>
            <c:idx val="5"/>
            <c:invertIfNegative val="0"/>
            <c:spPr>
              <a:solidFill>
                <a:srgbClr val="8789A0"/>
              </a:solidFill>
              <a:ln>
                <a:noFill/>
              </a:ln>
            </c:spPr>
          </c:dPt>
          <c:dPt>
            <c:idx val="6"/>
            <c:invertIfNegative val="0"/>
            <c:spPr>
              <a:solidFill>
                <a:srgbClr val="8789A0"/>
              </a:solidFill>
              <a:ln>
                <a:noFill/>
              </a:ln>
            </c:spPr>
          </c:dPt>
          <c:dLbls>
            <c:numFmt formatCode="#,##0" sourceLinked="0"/>
            <c:txPr>
              <a:bodyPr/>
              <a:lstStyle/>
              <a:p>
                <a:pPr>
                  <a:defRPr sz="900" b="0">
                    <a:solidFill>
                      <a:srgbClr val="FFFFFF"/>
                    </a:solidFill>
                    <a:latin typeface="Arial"/>
                  </a:defRPr>
                </a:pPr>
              </a:p>
            </c:txPr>
            <c:dLblPos val="ctr"/>
            <c:showLegendKey val="0"/>
            <c:showVal val="1"/>
            <c:showCatName val="0"/>
            <c:showSerName val="0"/>
            <c:showPercent val="0"/>
            <c:showBubbleSize val="0"/>
            <c:showLeaderLines val="1"/>
          </c:dLbls>
          <c:cat>
            <c:strRef>
              <c:f>Sheet1!$A$2:$A$8</c:f>
              <c:strCache>
                <c:ptCount val="7"/>
                <c:pt idx="0">
                  <c:v>FY21</c:v>
                </c:pt>
                <c:pt idx="1">
                  <c:v>FY22</c:v>
                </c:pt>
                <c:pt idx="2">
                  <c:v>FY23</c:v>
                </c:pt>
                <c:pt idx="3">
                  <c:v>FY24</c:v>
                </c:pt>
                <c:pt idx="4">
                  <c:v>FY25</c:v>
                </c:pt>
                <c:pt idx="5">
                  <c:v>FY26E</c:v>
                </c:pt>
                <c:pt idx="6">
                  <c:v>FY27E</c:v>
                </c:pt>
              </c:strCache>
            </c:strRef>
          </c:cat>
          <c:val>
            <c:numRef>
              <c:f>Sheet1!$B$2:$B$8</c:f>
              <c:numCache>
                <c:formatCode>General</c:formatCode>
                <c:ptCount val="7"/>
                <c:pt idx="0">
                  <c:v>5200</c:v>
                </c:pt>
                <c:pt idx="1">
                  <c:v>5900</c:v>
                </c:pt>
                <c:pt idx="2">
                  <c:v>6300</c:v>
                </c:pt>
                <c:pt idx="3">
                  <c:v>6400</c:v>
                </c:pt>
                <c:pt idx="4">
                  <c:v>7100</c:v>
                </c:pt>
                <c:pt idx="5">
                  <c:v>7700</c:v>
                </c:pt>
                <c:pt idx="6">
                  <c:v>8300</c:v>
                </c:pt>
              </c:numCache>
            </c:numRef>
          </c:val>
        </c:ser>
        <c:ser>
          <c:idx val="1"/>
          <c:order val="1"/>
          <c:tx>
            <c:strRef>
              <c:f>Sheet1!$C$1</c:f>
              <c:strCache>
                <c:ptCount val="1"/>
                <c:pt idx="0">
                  <c:v>Services</c:v>
                </c:pt>
              </c:strCache>
            </c:strRef>
          </c:tx>
          <c:spPr>
            <a:solidFill>
              <a:srgbClr val="F5C400"/>
            </a:solidFill>
            <a:ln>
              <a:noFill/>
            </a:ln>
          </c:spPr>
          <c:invertIfNegative val="0"/>
          <c:dPt>
            <c:idx val="5"/>
            <c:invertIfNegative val="0"/>
            <c:spPr>
              <a:solidFill>
                <a:srgbClr val="FADF73"/>
              </a:solidFill>
              <a:ln>
                <a:noFill/>
              </a:ln>
            </c:spPr>
          </c:dPt>
          <c:dPt>
            <c:idx val="6"/>
            <c:invertIfNegative val="0"/>
            <c:spPr>
              <a:solidFill>
                <a:srgbClr val="FADF73"/>
              </a:solidFill>
              <a:ln>
                <a:noFill/>
              </a:ln>
            </c:spPr>
          </c:dPt>
          <c:dLbls>
            <c:numFmt formatCode="#,##0" sourceLinked="0"/>
            <c:txPr>
              <a:bodyPr/>
              <a:lstStyle/>
              <a:p>
                <a:pPr>
                  <a:defRPr sz="900" b="0">
                    <a:solidFill>
                      <a:srgbClr val="000000"/>
                    </a:solidFill>
                    <a:latin typeface="Arial"/>
                  </a:defRPr>
                </a:pPr>
              </a:p>
            </c:txPr>
            <c:dLblPos val="ctr"/>
            <c:showLegendKey val="0"/>
            <c:showVal val="1"/>
            <c:showCatName val="0"/>
            <c:showSerName val="0"/>
            <c:showPercent val="0"/>
            <c:showBubbleSize val="0"/>
            <c:showLeaderLines val="1"/>
          </c:dLbls>
          <c:cat>
            <c:strRef>
              <c:f>Sheet1!$A$2:$A$8</c:f>
              <c:strCache>
                <c:ptCount val="7"/>
                <c:pt idx="0">
                  <c:v>FY21</c:v>
                </c:pt>
                <c:pt idx="1">
                  <c:v>FY22</c:v>
                </c:pt>
                <c:pt idx="2">
                  <c:v>FY23</c:v>
                </c:pt>
                <c:pt idx="3">
                  <c:v>FY24</c:v>
                </c:pt>
                <c:pt idx="4">
                  <c:v>FY25</c:v>
                </c:pt>
                <c:pt idx="5">
                  <c:v>FY26E</c:v>
                </c:pt>
                <c:pt idx="6">
                  <c:v>FY27E</c:v>
                </c:pt>
              </c:strCache>
            </c:strRef>
          </c:cat>
          <c:val>
            <c:numRef>
              <c:f>Sheet1!$C$2:$C$8</c:f>
              <c:numCache>
                <c:formatCode>General</c:formatCode>
                <c:ptCount val="7"/>
                <c:pt idx="0">
                  <c:v>1650</c:v>
                </c:pt>
                <c:pt idx="1">
                  <c:v>1950</c:v>
                </c:pt>
                <c:pt idx="2">
                  <c:v>2300</c:v>
                </c:pt>
                <c:pt idx="3">
                  <c:v>2700</c:v>
                </c:pt>
                <c:pt idx="4">
                  <c:v>3300</c:v>
                </c:pt>
                <c:pt idx="5">
                  <c:v>4100</c:v>
                </c:pt>
                <c:pt idx="6">
                  <c:v>5100</c:v>
                </c:pt>
              </c:numCache>
            </c:numRef>
          </c:val>
        </c:ser>
        <c:ser>
          <c:idx val="2"/>
          <c:order val="2"/>
          <c:tx>
            <c:strRef>
              <c:f>Sheet1!$D$1</c:f>
              <c:strCache>
                <c:ptCount val="1"/>
                <c:pt idx="0">
                  <c:v>_total</c:v>
                </c:pt>
              </c:strCache>
            </c:strRef>
          </c:tx>
          <c:spPr>
            <a:noFill/>
            <a:ln>
              <a:noFill/>
            </a:ln>
          </c:spPr>
          <c:invertIfNegative val="0"/>
          <c:dLbls>
            <c:dLbl>
              <c:idx val="0"/>
              <c:tx>
                <c:rich>
                  <a:bodyPr/>
                  <a:lstStyle/>
                  <a:p>
                    <a:r>
                      <a:rPr sz="1000" b="1">
                        <a:solidFill>
                          <a:srgbClr val="000000"/>
                        </a:solidFill>
                        <a:latin typeface="Arial"/>
                      </a:rPr>
                      <a:t>6,850</a:t>
                    </a:r>
                  </a:p>
                </c:rich>
              </c:tx>
              <c:dLblPos val="inBase"/>
              <c:showLegendKey val="0"/>
              <c:showVal val="1"/>
              <c:showCatName val="0"/>
              <c:showSerName val="0"/>
              <c:showPercent val="0"/>
              <c:showBubbleSize val="0"/>
            </c:dLbl>
            <c:dLbl>
              <c:idx val="1"/>
              <c:tx>
                <c:rich>
                  <a:bodyPr/>
                  <a:lstStyle/>
                  <a:p>
                    <a:r>
                      <a:rPr sz="1000" b="1">
                        <a:solidFill>
                          <a:srgbClr val="000000"/>
                        </a:solidFill>
                        <a:latin typeface="Arial"/>
                      </a:rPr>
                      <a:t>7,850</a:t>
                    </a:r>
                  </a:p>
                </c:rich>
              </c:tx>
              <c:dLblPos val="inBase"/>
              <c:showLegendKey val="0"/>
              <c:showVal val="1"/>
              <c:showCatName val="0"/>
              <c:showSerName val="0"/>
              <c:showPercent val="0"/>
              <c:showBubbleSize val="0"/>
            </c:dLbl>
            <c:dLbl>
              <c:idx val="2"/>
              <c:tx>
                <c:rich>
                  <a:bodyPr/>
                  <a:lstStyle/>
                  <a:p>
                    <a:r>
                      <a:rPr sz="1000" b="1">
                        <a:solidFill>
                          <a:srgbClr val="000000"/>
                        </a:solidFill>
                        <a:latin typeface="Arial"/>
                      </a:rPr>
                      <a:t>8,600</a:t>
                    </a:r>
                  </a:p>
                </c:rich>
              </c:tx>
              <c:dLblPos val="inBase"/>
              <c:showLegendKey val="0"/>
              <c:showVal val="1"/>
              <c:showCatName val="0"/>
              <c:showSerName val="0"/>
              <c:showPercent val="0"/>
              <c:showBubbleSize val="0"/>
            </c:dLbl>
            <c:dLbl>
              <c:idx val="3"/>
              <c:tx>
                <c:rich>
                  <a:bodyPr/>
                  <a:lstStyle/>
                  <a:p>
                    <a:r>
                      <a:rPr sz="1000" b="1">
                        <a:solidFill>
                          <a:srgbClr val="000000"/>
                        </a:solidFill>
                        <a:latin typeface="Arial"/>
                      </a:rPr>
                      <a:t>9,100</a:t>
                    </a:r>
                  </a:p>
                </c:rich>
              </c:tx>
              <c:dLblPos val="inBase"/>
              <c:showLegendKey val="0"/>
              <c:showVal val="1"/>
              <c:showCatName val="0"/>
              <c:showSerName val="0"/>
              <c:showPercent val="0"/>
              <c:showBubbleSize val="0"/>
            </c:dLbl>
            <c:dLbl>
              <c:idx val="4"/>
              <c:tx>
                <c:rich>
                  <a:bodyPr/>
                  <a:lstStyle/>
                  <a:p>
                    <a:r>
                      <a:rPr sz="1000" b="1">
                        <a:solidFill>
                          <a:srgbClr val="000000"/>
                        </a:solidFill>
                        <a:latin typeface="Arial"/>
                      </a:rPr>
                      <a:t>10,400</a:t>
                    </a:r>
                  </a:p>
                </c:rich>
              </c:tx>
              <c:dLblPos val="inBase"/>
              <c:showLegendKey val="0"/>
              <c:showVal val="1"/>
              <c:showCatName val="0"/>
              <c:showSerName val="0"/>
              <c:showPercent val="0"/>
              <c:showBubbleSize val="0"/>
            </c:dLbl>
            <c:dLbl>
              <c:idx val="5"/>
              <c:tx>
                <c:rich>
                  <a:bodyPr/>
                  <a:lstStyle/>
                  <a:p>
                    <a:r>
                      <a:rPr sz="1000" b="1">
                        <a:solidFill>
                          <a:srgbClr val="000000"/>
                        </a:solidFill>
                        <a:latin typeface="Arial"/>
                      </a:rPr>
                      <a:t>11,800</a:t>
                    </a:r>
                  </a:p>
                </c:rich>
              </c:tx>
              <c:dLblPos val="inBase"/>
              <c:showLegendKey val="0"/>
              <c:showVal val="1"/>
              <c:showCatName val="0"/>
              <c:showSerName val="0"/>
              <c:showPercent val="0"/>
              <c:showBubbleSize val="0"/>
            </c:dLbl>
            <c:dLbl>
              <c:idx val="6"/>
              <c:tx>
                <c:rich>
                  <a:bodyPr/>
                  <a:lstStyle/>
                  <a:p>
                    <a:r>
                      <a:rPr sz="1000" b="1">
                        <a:solidFill>
                          <a:srgbClr val="000000"/>
                        </a:solidFill>
                        <a:latin typeface="Arial"/>
                      </a:rPr>
                      <a:t>13,400</a:t>
                    </a:r>
                  </a:p>
                </c:rich>
              </c:tx>
              <c:dLblPos val="inBase"/>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FY21</c:v>
                </c:pt>
                <c:pt idx="1">
                  <c:v>FY22</c:v>
                </c:pt>
                <c:pt idx="2">
                  <c:v>FY23</c:v>
                </c:pt>
                <c:pt idx="3">
                  <c:v>FY24</c:v>
                </c:pt>
                <c:pt idx="4">
                  <c:v>FY25</c:v>
                </c:pt>
                <c:pt idx="5">
                  <c:v>FY26E</c:v>
                </c:pt>
                <c:pt idx="6">
                  <c:v>FY27E</c:v>
                </c:pt>
              </c:strCache>
            </c:strRef>
          </c:cat>
          <c:val>
            <c:numRef>
              <c:f>Sheet1!$D$2:$D$8</c:f>
              <c:numCache>
                <c:formatCode>General</c:formatCode>
                <c:ptCount val="7"/>
                <c:pt idx="0">
                  <c:v>0</c:v>
                </c:pt>
                <c:pt idx="1">
                  <c:v>0</c:v>
                </c:pt>
                <c:pt idx="2">
                  <c:v>0</c:v>
                </c:pt>
                <c:pt idx="3">
                  <c:v>0</c:v>
                </c:pt>
                <c:pt idx="4">
                  <c:v>0</c:v>
                </c:pt>
                <c:pt idx="5">
                  <c:v>0</c:v>
                </c:pt>
                <c:pt idx="6">
                  <c:v>0</c:v>
                </c:pt>
              </c:numCache>
            </c:numRef>
          </c:val>
        </c:ser>
        <c:gapWidth val="80"/>
        <c:overlap val="100"/>
        <c:axId val="-2068027336"/>
        <c:axId val="-2113994440"/>
      </c:barChart>
      <c:catAx>
        <c:axId val="-2068027336"/>
        <c:scaling>
          <c:orientation val="minMax"/>
        </c:scaling>
        <c:delete val="0"/>
        <c:axPos val="b"/>
        <c:majorTickMark val="none"/>
        <c:minorTickMark val="none"/>
        <c:tickLblPos val="nextTo"/>
        <c:spPr>
          <a:ln w="9525">
            <a:solidFill>
              <a:srgbClr val="7F7F7F"/>
            </a:solidFill>
          </a:ln>
        </c:spPr>
        <c:txPr>
          <a:bodyPr/>
          <a:lstStyle/>
          <a:p>
            <a:pPr>
              <a:defRPr sz="900">
                <a:latin typeface="Arial"/>
              </a:defRPr>
            </a:pPr>
          </a:p>
        </c:txPr>
        <c:crossAx val="-2113994440"/>
        <c:crosses val="autoZero"/>
        <c:auto val="1"/>
        <c:lblAlgn val="ctr"/>
        <c:lblOffset val="100"/>
        <c:noMultiLvlLbl val="0"/>
      </c:catAx>
      <c:valAx>
        <c:axId val="-2113994440"/>
        <c:scaling>
          <c:max val="17420.0"/>
          <c:min val="0.0"/>
        </c:scaling>
        <c:delete/>
        <c:axPos val="l"/>
        <c:majorTickMark val="out"/>
        <c:minorTickMark val="none"/>
        <c:tickLblPos val="nextTo"/>
        <c:txPr>
          <a:bodyPr/>
          <a:lstStyle/>
          <a:p>
            <a:pPr>
              <a:defRPr sz="900"/>
            </a:pPr>
          </a:p>
        </c:txPr>
        <c:crossAx val="-2068027336"/>
        <c:crosses val="autoZero"/>
      </c:valAx>
      <c:spPr>
        <a:noFill/>
        <a:ln>
          <a:noFill/>
        </a:ln>
      </c:spPr>
    </c:plotArea>
    <c:legend>
      <c:legendPos val="b"/>
      <c:legendEntry>
        <c:idx val="2"/>
        <c:delete val="1"/>
      </c:legendEntry>
      <c:overlay val="0"/>
      <c:txPr>
        <a:bodyPr/>
        <a:lstStyle/>
        <a:p>
          <a:pPr>
            <a:defRPr sz="900">
              <a:latin typeface="Arial"/>
            </a:defRPr>
          </a:pPr>
        </a:p>
      </c:txPr>
    </c:legend>
    <c:dispBlanksAs val="gap"/>
  </c:chart>
  <c:spPr>
    <a:noFill/>
    <a:ln>
      <a:noFill/>
    </a:ln>
  </c:spPr>
  <c:txPr>
    <a:bodyPr/>
    <a:lstStyle/>
    <a:p>
      <a:pPr>
        <a:defRPr sz="900">
          <a:solidFill>
            <a:srgbClr val="000000"/>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22"/>
          <c:y val="0.01"/>
          <c:w val="0.7"/>
          <c:h val="0.88"/>
        </c:manualLayout>
      </c:layout>
      <c:barChart>
        <c:barDir val="bar"/>
        <c:grouping val="clustered"/>
        <c:ser>
          <c:idx val="0"/>
          <c:order val="0"/>
          <c:tx>
            <c:strRef>
              <c:f>Sheet1!$B$1</c:f>
              <c:strCache>
                <c:ptCount val="1"/>
                <c:pt idx="0">
                  <c:v>Peer avg</c:v>
                </c:pt>
              </c:strCache>
            </c:strRef>
          </c:tx>
          <c:spPr>
            <a:solidFill>
              <a:srgbClr val="242852"/>
            </a:solidFill>
            <a:ln>
              <a:noFill/>
            </a:ln>
          </c:spPr>
          <c:invertIfNegative val="0"/>
          <c:dLbls>
            <c:numFmt formatCode="0.0&quot;%&quot;" sourceLinked="0"/>
            <c:txPr>
              <a:bodyPr/>
              <a:lstStyle/>
              <a:p>
                <a:pPr>
                  <a:defRPr sz="900" b="0">
                    <a:solidFill>
                      <a:srgbClr val="000000"/>
                    </a:solidFill>
                    <a:latin typeface="Arial"/>
                  </a:defRPr>
                </a:pPr>
              </a:p>
            </c:txPr>
            <c:dLblPos val="outEnd"/>
            <c:showLegendKey val="0"/>
            <c:showVal val="1"/>
            <c:showCatName val="0"/>
            <c:showSerName val="0"/>
            <c:showPercent val="0"/>
            <c:showBubbleSize val="0"/>
            <c:showLeaderLines val="1"/>
          </c:dLbls>
          <c:cat>
            <c:strRef>
              <c:f>Sheet1!$A$2:$A$9</c:f>
              <c:strCache>
                <c:ptCount val="8"/>
                <c:pt idx="0">
                  <c:v>Materials</c:v>
                </c:pt>
                <c:pt idx="1">
                  <c:v>Energy</c:v>
                </c:pt>
                <c:pt idx="2">
                  <c:v>Industrials</c:v>
                </c:pt>
                <c:pt idx="3">
                  <c:v>Financials</c:v>
                </c:pt>
                <c:pt idx="4">
                  <c:v>Utilities</c:v>
                </c:pt>
                <c:pt idx="5">
                  <c:v>Comm. Services</c:v>
                </c:pt>
                <c:pt idx="6">
                  <c:v>Health Care</c:v>
                </c:pt>
                <c:pt idx="7">
                  <c:v>Info. Technology</c:v>
                </c:pt>
              </c:strCache>
            </c:strRef>
          </c:cat>
          <c:val>
            <c:numRef>
              <c:f>Sheet1!$B$2:$B$9</c:f>
              <c:numCache>
                <c:formatCode>General</c:formatCode>
                <c:ptCount val="8"/>
                <c:pt idx="0">
                  <c:v>15.8</c:v>
                </c:pt>
                <c:pt idx="1">
                  <c:v>6.5</c:v>
                </c:pt>
                <c:pt idx="2">
                  <c:v>21.3</c:v>
                </c:pt>
                <c:pt idx="3">
                  <c:v>15.8</c:v>
                </c:pt>
                <c:pt idx="4">
                  <c:v>2.5</c:v>
                </c:pt>
                <c:pt idx="5">
                  <c:v>3.1</c:v>
                </c:pt>
                <c:pt idx="6">
                  <c:v>3.6</c:v>
                </c:pt>
                <c:pt idx="7">
                  <c:v>6.8</c:v>
                </c:pt>
              </c:numCache>
            </c:numRef>
          </c:val>
        </c:ser>
        <c:ser>
          <c:idx val="1"/>
          <c:order val="1"/>
          <c:tx>
            <c:strRef>
              <c:f>Sheet1!$C$1</c:f>
              <c:strCache>
                <c:ptCount val="1"/>
                <c:pt idx="0">
                  <c:v>Fund</c:v>
                </c:pt>
              </c:strCache>
            </c:strRef>
          </c:tx>
          <c:spPr>
            <a:solidFill>
              <a:srgbClr val="F5C400"/>
            </a:solidFill>
            <a:ln>
              <a:noFill/>
            </a:ln>
          </c:spPr>
          <c:invertIfNegative val="0"/>
          <c:dLbls>
            <c:numFmt formatCode="0.0&quot;%&quot;" sourceLinked="0"/>
            <c:txPr>
              <a:bodyPr/>
              <a:lstStyle/>
              <a:p>
                <a:pPr>
                  <a:defRPr sz="900" b="1">
                    <a:solidFill>
                      <a:srgbClr val="000000"/>
                    </a:solidFill>
                    <a:latin typeface="Arial"/>
                  </a:defRPr>
                </a:pPr>
              </a:p>
            </c:txPr>
            <c:dLblPos val="outEnd"/>
            <c:showLegendKey val="0"/>
            <c:showVal val="1"/>
            <c:showCatName val="0"/>
            <c:showSerName val="0"/>
            <c:showPercent val="0"/>
            <c:showBubbleSize val="0"/>
            <c:showLeaderLines val="1"/>
          </c:dLbls>
          <c:cat>
            <c:strRef>
              <c:f>Sheet1!$A$2:$A$9</c:f>
              <c:strCache>
                <c:ptCount val="8"/>
                <c:pt idx="0">
                  <c:v>Materials</c:v>
                </c:pt>
                <c:pt idx="1">
                  <c:v>Energy</c:v>
                </c:pt>
                <c:pt idx="2">
                  <c:v>Industrials</c:v>
                </c:pt>
                <c:pt idx="3">
                  <c:v>Financials</c:v>
                </c:pt>
                <c:pt idx="4">
                  <c:v>Utilities</c:v>
                </c:pt>
                <c:pt idx="5">
                  <c:v>Comm. Services</c:v>
                </c:pt>
                <c:pt idx="6">
                  <c:v>Health Care</c:v>
                </c:pt>
                <c:pt idx="7">
                  <c:v>Info. Technology</c:v>
                </c:pt>
              </c:strCache>
            </c:strRef>
          </c:cat>
          <c:val>
            <c:numRef>
              <c:f>Sheet1!$C$2:$C$9</c:f>
              <c:numCache>
                <c:formatCode>General</c:formatCode>
                <c:ptCount val="8"/>
                <c:pt idx="0">
                  <c:v>6.8</c:v>
                </c:pt>
                <c:pt idx="1">
                  <c:v>1.8</c:v>
                </c:pt>
                <c:pt idx="2">
                  <c:v>18.6</c:v>
                </c:pt>
                <c:pt idx="3">
                  <c:v>17.6</c:v>
                </c:pt>
                <c:pt idx="4">
                  <c:v>5.5</c:v>
                </c:pt>
                <c:pt idx="5">
                  <c:v>6.3</c:v>
                </c:pt>
                <c:pt idx="6">
                  <c:v>7.9</c:v>
                </c:pt>
                <c:pt idx="7">
                  <c:v>13.1</c:v>
                </c:pt>
              </c:numCache>
            </c:numRef>
          </c:val>
        </c:ser>
        <c:gapWidth val="60"/>
        <c:overlap val="-15"/>
        <c:axId val="-2068027336"/>
        <c:axId val="-2113994440"/>
      </c:barChart>
      <c:catAx>
        <c:axId val="-2068027336"/>
        <c:scaling>
          <c:orientation val="minMax"/>
        </c:scaling>
        <c:delete val="0"/>
        <c:axPos val="l"/>
        <c:majorTickMark val="none"/>
        <c:minorTickMark val="none"/>
        <c:tickLblPos val="nextTo"/>
        <c:spPr>
          <a:ln w="9525">
            <a:solidFill>
              <a:srgbClr val="7F7F7F"/>
            </a:solidFill>
          </a:ln>
        </c:spPr>
        <c:txPr>
          <a:bodyPr/>
          <a:lstStyle/>
          <a:p>
            <a:pPr>
              <a:defRPr sz="1000">
                <a:latin typeface="Arial"/>
              </a:defRPr>
            </a:pPr>
          </a:p>
        </c:txPr>
        <c:crossAx val="-2113994440"/>
        <c:crosses val="autoZero"/>
        <c:auto val="1"/>
        <c:lblAlgn val="ctr"/>
        <c:lblOffset val="100"/>
        <c:noMultiLvlLbl val="0"/>
      </c:catAx>
      <c:valAx>
        <c:axId val="-2113994440"/>
        <c:scaling>
          <c:max val="25.134"/>
          <c:min val="0.0"/>
        </c:scaling>
        <c:delete/>
        <c:axPos val="b"/>
        <c:majorTickMark val="out"/>
        <c:minorTickMark val="none"/>
        <c:tickLblPos val="nextTo"/>
        <c:txPr>
          <a:bodyPr/>
          <a:lstStyle/>
          <a:p>
            <a:pPr>
              <a:defRPr sz="900"/>
            </a:pPr>
          </a:p>
        </c:txPr>
        <c:crossAx val="-2068027336"/>
        <c:crosses val="autoZero"/>
      </c:valAx>
      <c:spPr>
        <a:noFill/>
        <a:ln>
          <a:noFill/>
        </a:ln>
      </c:spPr>
    </c:plotArea>
    <c:legend>
      <c:legendPos val="b"/>
      <c:overlay val="0"/>
      <c:txPr>
        <a:bodyPr/>
        <a:lstStyle/>
        <a:p>
          <a:pPr>
            <a:defRPr sz="900">
              <a:latin typeface="Arial"/>
            </a:defRPr>
          </a:pPr>
        </a:p>
      </c:txPr>
    </c:legend>
    <c:dispBlanksAs val="gap"/>
  </c:chart>
  <c:spPr>
    <a:noFill/>
    <a:ln>
      <a:noFill/>
    </a:ln>
  </c:spPr>
  <c:txPr>
    <a:bodyPr/>
    <a:lstStyle/>
    <a:p>
      <a:pPr>
        <a:defRPr sz="900">
          <a:solidFill>
            <a:srgbClr val="000000"/>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25"/>
          <c:y val="0.01"/>
          <c:w val="0.73"/>
          <c:h val="0.98"/>
        </c:manualLayout>
      </c:layout>
      <c:barChart>
        <c:barDir val="bar"/>
        <c:grouping val="clustered"/>
        <c:ser>
          <c:idx val="0"/>
          <c:order val="0"/>
          <c:tx>
            <c:strRef>
              <c:f>Sheet1!$B$1</c:f>
              <c:strCache>
                <c:ptCount val="1"/>
                <c:pt idx="0">
                  <c:v>Gap</c:v>
                </c:pt>
              </c:strCache>
            </c:strRef>
          </c:tx>
          <c:invertIfNegative val="0"/>
          <c:dPt>
            <c:idx val="0"/>
            <c:invertIfNegative val="0"/>
            <c:spPr>
              <a:solidFill>
                <a:srgbClr val="7F8FA9"/>
              </a:solidFill>
              <a:ln>
                <a:noFill/>
              </a:ln>
            </c:spPr>
          </c:dPt>
          <c:dPt>
            <c:idx val="1"/>
            <c:invertIfNegative val="0"/>
            <c:spPr>
              <a:solidFill>
                <a:srgbClr val="7F8FA9"/>
              </a:solidFill>
              <a:ln>
                <a:noFill/>
              </a:ln>
            </c:spPr>
          </c:dPt>
          <c:dPt>
            <c:idx val="2"/>
            <c:invertIfNegative val="0"/>
            <c:spPr>
              <a:solidFill>
                <a:srgbClr val="7F8FA9"/>
              </a:solidFill>
              <a:ln>
                <a:noFill/>
              </a:ln>
            </c:spPr>
          </c:dPt>
          <c:dPt>
            <c:idx val="3"/>
            <c:invertIfNegative val="0"/>
            <c:spPr>
              <a:solidFill>
                <a:srgbClr val="242852"/>
              </a:solidFill>
              <a:ln>
                <a:noFill/>
              </a:ln>
            </c:spPr>
          </c:dPt>
          <c:dPt>
            <c:idx val="4"/>
            <c:invertIfNegative val="0"/>
            <c:spPr>
              <a:solidFill>
                <a:srgbClr val="242852"/>
              </a:solidFill>
              <a:ln>
                <a:noFill/>
              </a:ln>
            </c:spPr>
          </c:dPt>
          <c:dPt>
            <c:idx val="5"/>
            <c:invertIfNegative val="0"/>
            <c:spPr>
              <a:solidFill>
                <a:srgbClr val="242852"/>
              </a:solidFill>
              <a:ln>
                <a:noFill/>
              </a:ln>
            </c:spPr>
          </c:dPt>
          <c:dPt>
            <c:idx val="6"/>
            <c:invertIfNegative val="0"/>
            <c:spPr>
              <a:solidFill>
                <a:srgbClr val="242852"/>
              </a:solidFill>
              <a:ln>
                <a:noFill/>
              </a:ln>
            </c:spPr>
          </c:dPt>
          <c:dPt>
            <c:idx val="7"/>
            <c:invertIfNegative val="0"/>
            <c:spPr>
              <a:solidFill>
                <a:srgbClr val="242852"/>
              </a:solidFill>
              <a:ln>
                <a:noFill/>
              </a:ln>
            </c:spPr>
          </c:dPt>
          <c:dLbls>
            <c:numFmt formatCode="+0.0&quot;pp&quot;;-0.0&quot;pp&quot;;0.0&quot;pp&quot;" sourceLinked="0"/>
            <c:txPr>
              <a:bodyPr/>
              <a:lstStyle/>
              <a:p>
                <a:pPr>
                  <a:defRPr sz="1000" b="0">
                    <a:solidFill>
                      <a:srgbClr val="000000"/>
                    </a:solidFill>
                    <a:latin typeface="Arial"/>
                  </a:defRPr>
                </a:pPr>
              </a:p>
            </c:txPr>
            <c:dLblPos val="outEnd"/>
            <c:showLegendKey val="0"/>
            <c:showVal val="1"/>
            <c:showCatName val="0"/>
            <c:showSerName val="0"/>
            <c:showPercent val="0"/>
            <c:showBubbleSize val="0"/>
            <c:showLeaderLines val="1"/>
          </c:dLbls>
          <c:cat>
            <c:strRef>
              <c:f>Sheet1!$A$2:$A$9</c:f>
              <c:strCache>
                <c:ptCount val="8"/>
                <c:pt idx="0">
                  <c:v>Materials</c:v>
                </c:pt>
                <c:pt idx="1">
                  <c:v>Energy</c:v>
                </c:pt>
                <c:pt idx="2">
                  <c:v>Industrials</c:v>
                </c:pt>
                <c:pt idx="3">
                  <c:v>Financials</c:v>
                </c:pt>
                <c:pt idx="4">
                  <c:v>Utilities</c:v>
                </c:pt>
                <c:pt idx="5">
                  <c:v>Comm. Services</c:v>
                </c:pt>
                <c:pt idx="6">
                  <c:v>Health Care</c:v>
                </c:pt>
                <c:pt idx="7">
                  <c:v>Info. Technology</c:v>
                </c:pt>
              </c:strCache>
            </c:strRef>
          </c:cat>
          <c:val>
            <c:numRef>
              <c:f>Sheet1!$B$2:$B$9</c:f>
              <c:numCache>
                <c:formatCode>General</c:formatCode>
                <c:ptCount val="8"/>
                <c:pt idx="0">
                  <c:v>-9.0</c:v>
                </c:pt>
                <c:pt idx="1">
                  <c:v>-4.7</c:v>
                </c:pt>
                <c:pt idx="2">
                  <c:v>-2.6999999999999993</c:v>
                </c:pt>
                <c:pt idx="3">
                  <c:v>1.8000000000000007</c:v>
                </c:pt>
                <c:pt idx="4">
                  <c:v>3.0</c:v>
                </c:pt>
                <c:pt idx="5">
                  <c:v>3.1999999999999997</c:v>
                </c:pt>
                <c:pt idx="6">
                  <c:v>4.300000000000001</c:v>
                </c:pt>
                <c:pt idx="7">
                  <c:v>6.3</c:v>
                </c:pt>
              </c:numCache>
            </c:numRef>
          </c:val>
        </c:ser>
        <c:gapWidth val="60"/>
        <c:axId val="-2068027336"/>
        <c:axId val="-2113994440"/>
      </c:barChart>
      <c:catAx>
        <c:axId val="-2068027336"/>
        <c:scaling>
          <c:orientation val="minMax"/>
        </c:scaling>
        <c:delete val="0"/>
        <c:axPos val="l"/>
        <c:majorTickMark val="none"/>
        <c:minorTickMark val="none"/>
        <c:tickLblPos val="low"/>
        <c:spPr>
          <a:ln w="9525">
            <a:solidFill>
              <a:srgbClr val="7F7F7F"/>
            </a:solidFill>
          </a:ln>
        </c:spPr>
        <c:txPr>
          <a:bodyPr/>
          <a:lstStyle/>
          <a:p>
            <a:pPr>
              <a:defRPr sz="1000">
                <a:latin typeface="Arial"/>
              </a:defRPr>
            </a:pPr>
          </a:p>
        </c:txPr>
        <c:crossAx val="-2113994440"/>
        <c:crosses val="autoZero"/>
        <c:auto val="1"/>
        <c:lblAlgn val="ctr"/>
        <c:lblOffset val="100"/>
        <c:noMultiLvlLbl val="0"/>
      </c:catAx>
      <c:valAx>
        <c:axId val="-2113994440"/>
        <c:scaling>
          <c:max val="9.45"/>
          <c:min val="-12.15"/>
        </c:scaling>
        <c:delete/>
        <c:axPos val="b"/>
        <c:majorTickMark val="out"/>
        <c:minorTickMark val="none"/>
        <c:tickLblPos val="nextTo"/>
        <c:txPr>
          <a:bodyPr/>
          <a:lstStyle/>
          <a:p>
            <a:pPr>
              <a:defRPr sz="900"/>
            </a:pPr>
          </a:p>
        </c:txPr>
        <c:crossAx val="-2068027336"/>
        <c:crosses val="autoZero"/>
      </c:valAx>
      <c:spPr>
        <a:noFill/>
        <a:ln>
          <a:noFill/>
        </a:ln>
      </c:spPr>
    </c:plotArea>
    <c:dispBlanksAs val="gap"/>
  </c:chart>
  <c:spPr>
    <a:noFill/>
    <a:ln>
      <a:noFill/>
    </a:ln>
  </c:spPr>
  <c:txPr>
    <a:bodyPr/>
    <a:lstStyle/>
    <a:p>
      <a:pPr>
        <a:defRPr sz="900">
          <a:solidFill>
            <a:srgbClr val="000000"/>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7"/>
          <c:y val="0.04"/>
          <c:w val="0.78"/>
          <c:h val="0.86"/>
        </c:manualLayout>
      </c:layout>
      <c:lineChart>
        <c:grouping val="standard"/>
        <c:varyColors val="0"/>
        <c:ser>
          <c:idx val="0"/>
          <c:order val="0"/>
          <c:tx>
            <c:strRef>
              <c:f>Sheet1!$B$1</c:f>
              <c:strCache>
                <c:ptCount val="1"/>
                <c:pt idx="0">
                  <c:v>Fund</c:v>
                </c:pt>
              </c:strCache>
            </c:strRef>
          </c:tx>
          <c:spPr>
            <a:ln w="31750">
              <a:solidFill>
                <a:srgbClr val="F5C400"/>
              </a:solidFill>
            </a:ln>
          </c:spPr>
          <c:marker>
            <c:symbol val="none"/>
          </c:marker>
          <c:dLbls>
            <c:dLbl>
              <c:idx val="11"/>
              <c:tx>
                <c:rich>
                  <a:bodyPr/>
                  <a:lstStyle/>
                  <a:p>
                    <a:r>
                      <a:rPr sz="900" b="1">
                        <a:solidFill>
                          <a:srgbClr val="F5C400"/>
                        </a:solidFill>
                        <a:latin typeface="Arial"/>
                      </a:rPr>
                      <a:t>Fund 144</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Sheet1!$A$2:$A$13</c:f>
              <c:strCache>
                <c:ptCount val="12"/>
                <c:pt idx="0">
                  <c:v>Dec-23</c:v>
                </c:pt>
                <c:pt idx="1">
                  <c:v>Mar-24</c:v>
                </c:pt>
                <c:pt idx="2">
                  <c:v>Jun-24</c:v>
                </c:pt>
                <c:pt idx="3">
                  <c:v>Sep-24</c:v>
                </c:pt>
                <c:pt idx="4">
                  <c:v>Dec-24</c:v>
                </c:pt>
                <c:pt idx="5">
                  <c:v>Mar-25</c:v>
                </c:pt>
                <c:pt idx="6">
                  <c:v>Jun-25</c:v>
                </c:pt>
                <c:pt idx="7">
                  <c:v>Sep-25</c:v>
                </c:pt>
                <c:pt idx="8">
                  <c:v>Dec-25</c:v>
                </c:pt>
                <c:pt idx="9">
                  <c:v>Mar-26</c:v>
                </c:pt>
                <c:pt idx="10">
                  <c:v>Jun-26</c:v>
                </c:pt>
                <c:pt idx="11">
                  <c:v>Sep-26</c:v>
                </c:pt>
              </c:strCache>
            </c:strRef>
          </c:cat>
          <c:val>
            <c:numRef>
              <c:f>Sheet1!$B$2:$B$13</c:f>
              <c:numCache>
                <c:formatCode>General</c:formatCode>
                <c:ptCount val="12"/>
                <c:pt idx="0">
                  <c:v>100</c:v>
                </c:pt>
                <c:pt idx="1">
                  <c:v>104</c:v>
                </c:pt>
                <c:pt idx="2">
                  <c:v>103</c:v>
                </c:pt>
                <c:pt idx="3">
                  <c:v>110</c:v>
                </c:pt>
                <c:pt idx="4">
                  <c:v>108</c:v>
                </c:pt>
                <c:pt idx="5">
                  <c:v>115</c:v>
                </c:pt>
                <c:pt idx="6">
                  <c:v>121</c:v>
                </c:pt>
                <c:pt idx="7">
                  <c:v>129</c:v>
                </c:pt>
                <c:pt idx="8">
                  <c:v>133</c:v>
                </c:pt>
                <c:pt idx="9">
                  <c:v>138</c:v>
                </c:pt>
                <c:pt idx="10">
                  <c:v>145</c:v>
                </c:pt>
                <c:pt idx="11">
                  <c:v>144</c:v>
                </c:pt>
              </c:numCache>
            </c:numRef>
          </c:val>
          <c:smooth val="0"/>
        </c:ser>
        <c:ser>
          <c:idx val="1"/>
          <c:order val="1"/>
          <c:tx>
            <c:strRef>
              <c:f>Sheet1!$C$1</c:f>
              <c:strCache>
                <c:ptCount val="1"/>
                <c:pt idx="0">
                  <c:v>Peer A</c:v>
                </c:pt>
              </c:strCache>
            </c:strRef>
          </c:tx>
          <c:spPr>
            <a:ln w="19050">
              <a:solidFill>
                <a:srgbClr val="A6A6A6"/>
              </a:solidFill>
            </a:ln>
          </c:spPr>
          <c:marker>
            <c:symbol val="none"/>
          </c:marker>
          <c:dLbls>
            <c:dLbl>
              <c:idx val="11"/>
              <c:tx>
                <c:rich>
                  <a:bodyPr/>
                  <a:lstStyle/>
                  <a:p>
                    <a:r>
                      <a:rPr sz="900" b="1">
                        <a:solidFill>
                          <a:srgbClr val="A6A6A6"/>
                        </a:solidFill>
                        <a:latin typeface="Arial"/>
                      </a:rPr>
                      <a:t>Peer A 178</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Sheet1!$A$2:$A$13</c:f>
              <c:strCache>
                <c:ptCount val="12"/>
                <c:pt idx="0">
                  <c:v>Dec-23</c:v>
                </c:pt>
                <c:pt idx="1">
                  <c:v>Mar-24</c:v>
                </c:pt>
                <c:pt idx="2">
                  <c:v>Jun-24</c:v>
                </c:pt>
                <c:pt idx="3">
                  <c:v>Sep-24</c:v>
                </c:pt>
                <c:pt idx="4">
                  <c:v>Dec-24</c:v>
                </c:pt>
                <c:pt idx="5">
                  <c:v>Mar-25</c:v>
                </c:pt>
                <c:pt idx="6">
                  <c:v>Jun-25</c:v>
                </c:pt>
                <c:pt idx="7">
                  <c:v>Sep-25</c:v>
                </c:pt>
                <c:pt idx="8">
                  <c:v>Dec-25</c:v>
                </c:pt>
                <c:pt idx="9">
                  <c:v>Mar-26</c:v>
                </c:pt>
                <c:pt idx="10">
                  <c:v>Jun-26</c:v>
                </c:pt>
                <c:pt idx="11">
                  <c:v>Sep-26</c:v>
                </c:pt>
              </c:strCache>
            </c:strRef>
          </c:cat>
          <c:val>
            <c:numRef>
              <c:f>Sheet1!$C$2:$C$13</c:f>
              <c:numCache>
                <c:formatCode>General</c:formatCode>
                <c:ptCount val="12"/>
                <c:pt idx="0">
                  <c:v>100</c:v>
                </c:pt>
                <c:pt idx="1">
                  <c:v>106</c:v>
                </c:pt>
                <c:pt idx="2">
                  <c:v>108</c:v>
                </c:pt>
                <c:pt idx="3">
                  <c:v>115</c:v>
                </c:pt>
                <c:pt idx="4">
                  <c:v>116</c:v>
                </c:pt>
                <c:pt idx="5">
                  <c:v>126</c:v>
                </c:pt>
                <c:pt idx="6">
                  <c:v>135</c:v>
                </c:pt>
                <c:pt idx="7">
                  <c:v>147</c:v>
                </c:pt>
                <c:pt idx="8">
                  <c:v>155</c:v>
                </c:pt>
                <c:pt idx="9">
                  <c:v>163</c:v>
                </c:pt>
                <c:pt idx="10">
                  <c:v>176</c:v>
                </c:pt>
                <c:pt idx="11">
                  <c:v>178</c:v>
                </c:pt>
              </c:numCache>
            </c:numRef>
          </c:val>
          <c:smooth val="0"/>
        </c:ser>
        <c:ser>
          <c:idx val="2"/>
          <c:order val="2"/>
          <c:tx>
            <c:strRef>
              <c:f>Sheet1!$D$1</c:f>
              <c:strCache>
                <c:ptCount val="1"/>
                <c:pt idx="0">
                  <c:v>Peer B</c:v>
                </c:pt>
              </c:strCache>
            </c:strRef>
          </c:tx>
          <c:spPr>
            <a:ln w="19050">
              <a:solidFill>
                <a:srgbClr val="7F8FA9"/>
              </a:solidFill>
            </a:ln>
          </c:spPr>
          <c:marker>
            <c:symbol val="none"/>
          </c:marker>
          <c:dLbls>
            <c:dLbl>
              <c:idx val="11"/>
              <c:tx>
                <c:rich>
                  <a:bodyPr/>
                  <a:lstStyle/>
                  <a:p>
                    <a:r>
                      <a:rPr sz="900" b="1">
                        <a:solidFill>
                          <a:srgbClr val="7F8FA9"/>
                        </a:solidFill>
                        <a:latin typeface="Arial"/>
                      </a:rPr>
                      <a:t>Peer B 161</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Sheet1!$A$2:$A$13</c:f>
              <c:strCache>
                <c:ptCount val="12"/>
                <c:pt idx="0">
                  <c:v>Dec-23</c:v>
                </c:pt>
                <c:pt idx="1">
                  <c:v>Mar-24</c:v>
                </c:pt>
                <c:pt idx="2">
                  <c:v>Jun-24</c:v>
                </c:pt>
                <c:pt idx="3">
                  <c:v>Sep-24</c:v>
                </c:pt>
                <c:pt idx="4">
                  <c:v>Dec-24</c:v>
                </c:pt>
                <c:pt idx="5">
                  <c:v>Mar-25</c:v>
                </c:pt>
                <c:pt idx="6">
                  <c:v>Jun-25</c:v>
                </c:pt>
                <c:pt idx="7">
                  <c:v>Sep-25</c:v>
                </c:pt>
                <c:pt idx="8">
                  <c:v>Dec-25</c:v>
                </c:pt>
                <c:pt idx="9">
                  <c:v>Mar-26</c:v>
                </c:pt>
                <c:pt idx="10">
                  <c:v>Jun-26</c:v>
                </c:pt>
                <c:pt idx="11">
                  <c:v>Sep-26</c:v>
                </c:pt>
              </c:strCache>
            </c:strRef>
          </c:cat>
          <c:val>
            <c:numRef>
              <c:f>Sheet1!$D$2:$D$13</c:f>
              <c:numCache>
                <c:formatCode>General</c:formatCode>
                <c:ptCount val="12"/>
                <c:pt idx="0">
                  <c:v>100</c:v>
                </c:pt>
                <c:pt idx="1">
                  <c:v>103</c:v>
                </c:pt>
                <c:pt idx="2">
                  <c:v>107</c:v>
                </c:pt>
                <c:pt idx="3">
                  <c:v>111</c:v>
                </c:pt>
                <c:pt idx="4">
                  <c:v>112</c:v>
                </c:pt>
                <c:pt idx="5">
                  <c:v>120</c:v>
                </c:pt>
                <c:pt idx="6">
                  <c:v>128</c:v>
                </c:pt>
                <c:pt idx="7">
                  <c:v>136</c:v>
                </c:pt>
                <c:pt idx="8">
                  <c:v>141</c:v>
                </c:pt>
                <c:pt idx="9">
                  <c:v>149</c:v>
                </c:pt>
                <c:pt idx="10">
                  <c:v>158</c:v>
                </c:pt>
                <c:pt idx="11">
                  <c:v>161</c:v>
                </c:pt>
              </c:numCache>
            </c:numRef>
          </c:val>
          <c:smooth val="0"/>
        </c:ser>
        <c:ser>
          <c:idx val="3"/>
          <c:order val="3"/>
          <c:tx>
            <c:strRef>
              <c:f>Sheet1!$E$1</c:f>
              <c:strCache>
                <c:ptCount val="1"/>
                <c:pt idx="0">
                  <c:v>Peer avg</c:v>
                </c:pt>
              </c:strCache>
            </c:strRef>
          </c:tx>
          <c:spPr>
            <a:ln w="25400">
              <a:solidFill>
                <a:srgbClr val="242852"/>
              </a:solidFill>
              <a:prstDash val="dash"/>
            </a:ln>
          </c:spPr>
          <c:marker>
            <c:symbol val="none"/>
          </c:marker>
          <c:dLbls>
            <c:dLbl>
              <c:idx val="11"/>
              <c:tx>
                <c:rich>
                  <a:bodyPr/>
                  <a:lstStyle/>
                  <a:p>
                    <a:r>
                      <a:rPr sz="900" b="1">
                        <a:solidFill>
                          <a:srgbClr val="242852"/>
                        </a:solidFill>
                        <a:latin typeface="Arial"/>
                      </a:rPr>
                      <a:t>Peer avg 170</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Sheet1!$A$2:$A$13</c:f>
              <c:strCache>
                <c:ptCount val="12"/>
                <c:pt idx="0">
                  <c:v>Dec-23</c:v>
                </c:pt>
                <c:pt idx="1">
                  <c:v>Mar-24</c:v>
                </c:pt>
                <c:pt idx="2">
                  <c:v>Jun-24</c:v>
                </c:pt>
                <c:pt idx="3">
                  <c:v>Sep-24</c:v>
                </c:pt>
                <c:pt idx="4">
                  <c:v>Dec-24</c:v>
                </c:pt>
                <c:pt idx="5">
                  <c:v>Mar-25</c:v>
                </c:pt>
                <c:pt idx="6">
                  <c:v>Jun-25</c:v>
                </c:pt>
                <c:pt idx="7">
                  <c:v>Sep-25</c:v>
                </c:pt>
                <c:pt idx="8">
                  <c:v>Dec-25</c:v>
                </c:pt>
                <c:pt idx="9">
                  <c:v>Mar-26</c:v>
                </c:pt>
                <c:pt idx="10">
                  <c:v>Jun-26</c:v>
                </c:pt>
                <c:pt idx="11">
                  <c:v>Sep-26</c:v>
                </c:pt>
              </c:strCache>
            </c:strRef>
          </c:cat>
          <c:val>
            <c:numRef>
              <c:f>Sheet1!$E$2:$E$13</c:f>
              <c:numCache>
                <c:formatCode>General</c:formatCode>
                <c:ptCount val="12"/>
                <c:pt idx="0">
                  <c:v>100</c:v>
                </c:pt>
                <c:pt idx="1">
                  <c:v>105</c:v>
                </c:pt>
                <c:pt idx="2">
                  <c:v>107</c:v>
                </c:pt>
                <c:pt idx="3">
                  <c:v>113</c:v>
                </c:pt>
                <c:pt idx="4">
                  <c:v>114</c:v>
                </c:pt>
                <c:pt idx="5">
                  <c:v>123</c:v>
                </c:pt>
                <c:pt idx="6">
                  <c:v>131</c:v>
                </c:pt>
                <c:pt idx="7">
                  <c:v>141</c:v>
                </c:pt>
                <c:pt idx="8">
                  <c:v>148</c:v>
                </c:pt>
                <c:pt idx="9">
                  <c:v>156</c:v>
                </c:pt>
                <c:pt idx="10">
                  <c:v>167</c:v>
                </c:pt>
                <c:pt idx="11">
                  <c:v>170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w="9525">
            <a:solidFill>
              <a:srgbClr val="7F7F7F"/>
            </a:solidFill>
          </a:ln>
        </c:spPr>
        <c:txPr>
          <a:bodyPr/>
          <a:lstStyle/>
          <a:p>
            <a:pPr>
              <a:defRPr sz="900">
                <a:latin typeface="Arial"/>
              </a:defRPr>
            </a:pPr>
          </a:p>
        </c:txPr>
        <c:crossAx val="2140495176"/>
        <c:crosses val="autoZero"/>
        <c:auto val="1"/>
        <c:lblAlgn val="ctr"/>
        <c:lblOffset val="100"/>
        <c:noMultiLvlLbl val="0"/>
      </c:catAx>
      <c:valAx>
        <c:axId val="2140495176"/>
        <c:scaling>
          <c:max val="190.0"/>
          <c:min val="90.0"/>
        </c:scaling>
        <c:delete val="0"/>
        <c:axPos val="l"/>
        <c:majorGridlines>
          <c:spPr>
            <a:ln w="6350">
              <a:solidFill>
                <a:srgbClr val="E6E6E6"/>
              </a:solidFill>
            </a:ln>
          </c:spPr>
        </c:majorGridlines>
        <c:numFmt formatCode="0" sourceLinked="0"/>
        <c:majorTickMark val="none"/>
        <c:minorTickMark val="none"/>
        <c:tickLblPos val="nextTo"/>
        <c:spPr>
          <a:ln>
            <a:noFill/>
          </a:ln>
        </c:spPr>
        <c:txPr>
          <a:bodyPr/>
          <a:lstStyle/>
          <a:p>
            <a:pPr>
              <a:defRPr sz="900"/>
            </a:pPr>
          </a:p>
        </c:txPr>
        <c:crossAx val="2118791784"/>
        <c:crosses val="autoZero"/>
      </c:valAx>
      <c:spPr>
        <a:noFill/>
        <a:ln>
          <a:noFill/>
        </a:ln>
      </c:spPr>
    </c:plotArea>
    <c:plotVisOnly val="1"/>
    <c:dispBlanksAs val="gap"/>
    <c:showDLblsOverMax val="0"/>
  </c:chart>
  <c:spPr>
    <a:noFill/>
    <a:ln>
      <a:noFill/>
    </a:ln>
  </c:spPr>
  <c:txPr>
    <a:bodyPr/>
    <a:lstStyle/>
    <a:p>
      <a:pPr>
        <a:defRPr sz="900">
          <a:solidFill>
            <a:srgbClr val="000000"/>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
          <c:y val="0.04"/>
          <c:w val="0.96"/>
          <c:h val="0.84"/>
        </c:manualLayout>
      </c:layout>
      <c:barChart>
        <c:barDir val="col"/>
        <c:grouping val="stacked"/>
        <c:ser>
          <c:idx val="0"/>
          <c:order val="0"/>
          <c:tx>
            <c:strRef>
              <c:f>Sheet1!$B$1</c:f>
              <c:strCache>
                <c:ptCount val="1"/>
                <c:pt idx="0">
                  <c:v>_base</c:v>
                </c:pt>
              </c:strCache>
            </c:strRef>
          </c:tx>
          <c:spPr>
            <a:noFill/>
            <a:ln>
              <a:noFill/>
            </a:ln>
          </c:spPr>
          <c:invertIfNegative val="0"/>
          <c:cat>
            <c:strRef>
              <c:f>Sheet1!$A$2:$A$7</c:f>
              <c:strCache>
                <c:ptCount val="6"/>
                <c:pt idx="0">
                  <c:v>Excess cash</c:v>
                </c:pt>
                <c:pt idx="1">
                  <c:v>Ordinary div.</c:v>
                </c:pt>
                <c:pt idx="2">
                  <c:v>Extraord. div.</c:v>
                </c:pt>
                <c:pt idx="3">
                  <c:v>Buybacks</c:v>
                </c:pt>
                <c:pt idx="4">
                  <c:v>New debt</c:v>
                </c:pt>
                <c:pt idx="5">
                  <c:v>Remaining</c:v>
                </c:pt>
              </c:strCache>
            </c:strRef>
          </c:cat>
          <c:val>
            <c:numRef>
              <c:f>Sheet1!$B$2:$B$7</c:f>
              <c:numCache>
                <c:formatCode>General</c:formatCode>
                <c:ptCount val="6"/>
                <c:pt idx="0">
                  <c:v>0</c:v>
                </c:pt>
                <c:pt idx="1">
                  <c:v>63.8</c:v>
                </c:pt>
                <c:pt idx="2">
                  <c:v>38.0</c:v>
                </c:pt>
                <c:pt idx="3">
                  <c:v>32.4</c:v>
                </c:pt>
                <c:pt idx="4">
                  <c:v>32.4</c:v>
                </c:pt>
                <c:pt idx="5">
                  <c:v>0</c:v>
                </c:pt>
              </c:numCache>
            </c:numRef>
          </c:val>
        </c:ser>
        <c:ser>
          <c:idx val="1"/>
          <c:order val="1"/>
          <c:tx>
            <c:strRef>
              <c:f>Sheet1!$C$1</c:f>
              <c:strCache>
                <c:ptCount val="1"/>
                <c:pt idx="0">
                  <c:v>Increase</c:v>
                </c:pt>
              </c:strCache>
            </c:strRef>
          </c:tx>
          <c:spPr>
            <a:solidFill>
              <a:srgbClr val="42825D"/>
            </a:solidFill>
            <a:ln>
              <a:noFill/>
            </a:ln>
          </c:spPr>
          <c:invertIfNegative val="0"/>
          <c:cat>
            <c:strRef>
              <c:f>Sheet1!$A$2:$A$7</c:f>
              <c:strCache>
                <c:ptCount val="6"/>
                <c:pt idx="0">
                  <c:v>Excess cash</c:v>
                </c:pt>
                <c:pt idx="1">
                  <c:v>Ordinary div.</c:v>
                </c:pt>
                <c:pt idx="2">
                  <c:v>Extraord. div.</c:v>
                </c:pt>
                <c:pt idx="3">
                  <c:v>Buybacks</c:v>
                </c:pt>
                <c:pt idx="4">
                  <c:v>New debt</c:v>
                </c:pt>
                <c:pt idx="5">
                  <c:v>Remaining</c:v>
                </c:pt>
              </c:strCache>
            </c:strRef>
          </c:cat>
          <c:val>
            <c:numRef>
              <c:f>Sheet1!$C$2:$C$7</c:f>
              <c:numCache>
                <c:formatCode>General</c:formatCode>
                <c:ptCount val="6"/>
                <c:pt idx="0">
                  <c:v>0</c:v>
                </c:pt>
                <c:pt idx="1">
                  <c:v>0</c:v>
                </c:pt>
                <c:pt idx="2">
                  <c:v>0</c:v>
                </c:pt>
                <c:pt idx="3">
                  <c:v>0</c:v>
                </c:pt>
                <c:pt idx="4">
                  <c:v>9.7</c:v>
                </c:pt>
                <c:pt idx="5">
                  <c:v>0</c:v>
                </c:pt>
              </c:numCache>
            </c:numRef>
          </c:val>
        </c:ser>
        <c:ser>
          <c:idx val="2"/>
          <c:order val="2"/>
          <c:tx>
            <c:strRef>
              <c:f>Sheet1!$D$1</c:f>
              <c:strCache>
                <c:ptCount val="1"/>
                <c:pt idx="0">
                  <c:v>Decrease</c:v>
                </c:pt>
              </c:strCache>
            </c:strRef>
          </c:tx>
          <c:spPr>
            <a:solidFill>
              <a:srgbClr val="C00000"/>
            </a:solidFill>
            <a:ln>
              <a:noFill/>
            </a:ln>
          </c:spPr>
          <c:invertIfNegative val="0"/>
          <c:cat>
            <c:strRef>
              <c:f>Sheet1!$A$2:$A$7</c:f>
              <c:strCache>
                <c:ptCount val="6"/>
                <c:pt idx="0">
                  <c:v>Excess cash</c:v>
                </c:pt>
                <c:pt idx="1">
                  <c:v>Ordinary div.</c:v>
                </c:pt>
                <c:pt idx="2">
                  <c:v>Extraord. div.</c:v>
                </c:pt>
                <c:pt idx="3">
                  <c:v>Buybacks</c:v>
                </c:pt>
                <c:pt idx="4">
                  <c:v>New debt</c:v>
                </c:pt>
                <c:pt idx="5">
                  <c:v>Remaining</c:v>
                </c:pt>
              </c:strCache>
            </c:strRef>
          </c:cat>
          <c:val>
            <c:numRef>
              <c:f>Sheet1!$D$2:$D$7</c:f>
              <c:numCache>
                <c:formatCode>General</c:formatCode>
                <c:ptCount val="6"/>
                <c:pt idx="0">
                  <c:v>0</c:v>
                </c:pt>
                <c:pt idx="1">
                  <c:v>15.2</c:v>
                </c:pt>
                <c:pt idx="2">
                  <c:v>25.8</c:v>
                </c:pt>
                <c:pt idx="3">
                  <c:v>5.6</c:v>
                </c:pt>
                <c:pt idx="4">
                  <c:v>0</c:v>
                </c:pt>
                <c:pt idx="5">
                  <c:v>0</c:v>
                </c:pt>
              </c:numCache>
            </c:numRef>
          </c:val>
        </c:ser>
        <c:ser>
          <c:idx val="3"/>
          <c:order val="3"/>
          <c:tx>
            <c:strRef>
              <c:f>Sheet1!$E$1</c:f>
              <c:strCache>
                <c:ptCount val="1"/>
                <c:pt idx="0">
                  <c:v>Total</c:v>
                </c:pt>
              </c:strCache>
            </c:strRef>
          </c:tx>
          <c:spPr>
            <a:solidFill>
              <a:srgbClr val="242852"/>
            </a:solidFill>
            <a:ln>
              <a:noFill/>
            </a:ln>
          </c:spPr>
          <c:invertIfNegative val="0"/>
          <c:cat>
            <c:strRef>
              <c:f>Sheet1!$A$2:$A$7</c:f>
              <c:strCache>
                <c:ptCount val="6"/>
                <c:pt idx="0">
                  <c:v>Excess cash</c:v>
                </c:pt>
                <c:pt idx="1">
                  <c:v>Ordinary div.</c:v>
                </c:pt>
                <c:pt idx="2">
                  <c:v>Extraord. div.</c:v>
                </c:pt>
                <c:pt idx="3">
                  <c:v>Buybacks</c:v>
                </c:pt>
                <c:pt idx="4">
                  <c:v>New debt</c:v>
                </c:pt>
                <c:pt idx="5">
                  <c:v>Remaining</c:v>
                </c:pt>
              </c:strCache>
            </c:strRef>
          </c:cat>
          <c:val>
            <c:numRef>
              <c:f>Sheet1!$E$2:$E$7</c:f>
              <c:numCache>
                <c:formatCode>General</c:formatCode>
                <c:ptCount val="6"/>
                <c:pt idx="0">
                  <c:v>79.0</c:v>
                </c:pt>
                <c:pt idx="1">
                  <c:v>0</c:v>
                </c:pt>
                <c:pt idx="2">
                  <c:v>0</c:v>
                </c:pt>
                <c:pt idx="3">
                  <c:v>0</c:v>
                </c:pt>
                <c:pt idx="4">
                  <c:v>0</c:v>
                </c:pt>
                <c:pt idx="5">
                  <c:v>42.1</c:v>
                </c:pt>
              </c:numCache>
            </c:numRef>
          </c:val>
        </c:ser>
        <c:ser>
          <c:idx val="4"/>
          <c:order val="4"/>
          <c:tx>
            <c:strRef>
              <c:f>Sheet1!$F$1</c:f>
              <c:strCache>
                <c:ptCount val="1"/>
                <c:pt idx="0">
                  <c:v>_lab</c:v>
                </c:pt>
              </c:strCache>
            </c:strRef>
          </c:tx>
          <c:spPr>
            <a:noFill/>
            <a:ln>
              <a:noFill/>
            </a:ln>
          </c:spPr>
          <c:invertIfNegative val="0"/>
          <c:dLbls>
            <c:dLbl>
              <c:idx val="0"/>
              <c:tx>
                <c:rich>
                  <a:bodyPr/>
                  <a:lstStyle/>
                  <a:p>
                    <a:r>
                      <a:rPr sz="900" b="1">
                        <a:solidFill>
                          <a:srgbClr val="000000"/>
                        </a:solidFill>
                        <a:latin typeface="Arial"/>
                      </a:rPr>
                      <a:t>79.0</a:t>
                    </a:r>
                  </a:p>
                </c:rich>
              </c:tx>
              <c:dLblPos val="inBase"/>
              <c:showLegendKey val="0"/>
              <c:showVal val="1"/>
              <c:showCatName val="0"/>
              <c:showSerName val="0"/>
              <c:showPercent val="0"/>
              <c:showBubbleSize val="0"/>
            </c:dLbl>
            <c:dLbl>
              <c:idx val="1"/>
              <c:tx>
                <c:rich>
                  <a:bodyPr/>
                  <a:lstStyle/>
                  <a:p>
                    <a:r>
                      <a:rPr sz="900" b="0">
                        <a:solidFill>
                          <a:srgbClr val="000000"/>
                        </a:solidFill>
                        <a:latin typeface="Arial"/>
                      </a:rPr>
                      <a:t>(15.2)</a:t>
                    </a:r>
                  </a:p>
                </c:rich>
              </c:tx>
              <c:dLblPos val="inBase"/>
              <c:showLegendKey val="0"/>
              <c:showVal val="1"/>
              <c:showCatName val="0"/>
              <c:showSerName val="0"/>
              <c:showPercent val="0"/>
              <c:showBubbleSize val="0"/>
            </c:dLbl>
            <c:dLbl>
              <c:idx val="2"/>
              <c:tx>
                <c:rich>
                  <a:bodyPr/>
                  <a:lstStyle/>
                  <a:p>
                    <a:r>
                      <a:rPr sz="900" b="0">
                        <a:solidFill>
                          <a:srgbClr val="000000"/>
                        </a:solidFill>
                        <a:latin typeface="Arial"/>
                      </a:rPr>
                      <a:t>(25.8)</a:t>
                    </a:r>
                  </a:p>
                </c:rich>
              </c:tx>
              <c:dLblPos val="inBase"/>
              <c:showLegendKey val="0"/>
              <c:showVal val="1"/>
              <c:showCatName val="0"/>
              <c:showSerName val="0"/>
              <c:showPercent val="0"/>
              <c:showBubbleSize val="0"/>
            </c:dLbl>
            <c:dLbl>
              <c:idx val="3"/>
              <c:tx>
                <c:rich>
                  <a:bodyPr/>
                  <a:lstStyle/>
                  <a:p>
                    <a:r>
                      <a:rPr sz="900" b="0">
                        <a:solidFill>
                          <a:srgbClr val="000000"/>
                        </a:solidFill>
                        <a:latin typeface="Arial"/>
                      </a:rPr>
                      <a:t>(5.6)</a:t>
                    </a:r>
                  </a:p>
                </c:rich>
              </c:tx>
              <c:dLblPos val="inBase"/>
              <c:showLegendKey val="0"/>
              <c:showVal val="1"/>
              <c:showCatName val="0"/>
              <c:showSerName val="0"/>
              <c:showPercent val="0"/>
              <c:showBubbleSize val="0"/>
            </c:dLbl>
            <c:dLbl>
              <c:idx val="4"/>
              <c:tx>
                <c:rich>
                  <a:bodyPr/>
                  <a:lstStyle/>
                  <a:p>
                    <a:r>
                      <a:rPr sz="900" b="0">
                        <a:solidFill>
                          <a:srgbClr val="000000"/>
                        </a:solidFill>
                        <a:latin typeface="Arial"/>
                      </a:rPr>
                      <a:t>+9.7</a:t>
                    </a:r>
                  </a:p>
                </c:rich>
              </c:tx>
              <c:dLblPos val="inBase"/>
              <c:showLegendKey val="0"/>
              <c:showVal val="1"/>
              <c:showCatName val="0"/>
              <c:showSerName val="0"/>
              <c:showPercent val="0"/>
              <c:showBubbleSize val="0"/>
            </c:dLbl>
            <c:dLbl>
              <c:idx val="5"/>
              <c:tx>
                <c:rich>
                  <a:bodyPr/>
                  <a:lstStyle/>
                  <a:p>
                    <a:r>
                      <a:rPr sz="900" b="1">
                        <a:solidFill>
                          <a:srgbClr val="000000"/>
                        </a:solidFill>
                        <a:latin typeface="Arial"/>
                      </a:rPr>
                      <a:t>42.1</a:t>
                    </a:r>
                  </a:p>
                </c:rich>
              </c:tx>
              <c:dLblPos val="inBase"/>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Excess cash</c:v>
                </c:pt>
                <c:pt idx="1">
                  <c:v>Ordinary div.</c:v>
                </c:pt>
                <c:pt idx="2">
                  <c:v>Extraord. div.</c:v>
                </c:pt>
                <c:pt idx="3">
                  <c:v>Buybacks</c:v>
                </c:pt>
                <c:pt idx="4">
                  <c:v>New debt</c:v>
                </c:pt>
                <c:pt idx="5">
                  <c:v>Remaining</c:v>
                </c:pt>
              </c:strCache>
            </c:strRef>
          </c:cat>
          <c:val>
            <c:numRef>
              <c:f>Sheet1!$F$2:$F$7</c:f>
              <c:numCache>
                <c:formatCode>General</c:formatCode>
                <c:ptCount val="6"/>
                <c:pt idx="0">
                  <c:v>0</c:v>
                </c:pt>
                <c:pt idx="1">
                  <c:v>0</c:v>
                </c:pt>
                <c:pt idx="2">
                  <c:v>0</c:v>
                </c:pt>
                <c:pt idx="3">
                  <c:v>0</c:v>
                </c:pt>
                <c:pt idx="4">
                  <c:v>0</c:v>
                </c:pt>
                <c:pt idx="5">
                  <c:v>0</c:v>
                </c:pt>
              </c:numCache>
            </c:numRef>
          </c:val>
        </c:ser>
        <c:gapWidth val="50"/>
        <c:overlap val="100"/>
        <c:axId val="-2068027336"/>
        <c:axId val="-2113994440"/>
      </c:barChart>
      <c:catAx>
        <c:axId val="-2068027336"/>
        <c:scaling>
          <c:orientation val="minMax"/>
        </c:scaling>
        <c:delete val="0"/>
        <c:axPos val="b"/>
        <c:majorTickMark val="none"/>
        <c:minorTickMark val="none"/>
        <c:tickLblPos val="nextTo"/>
        <c:spPr>
          <a:ln w="9525">
            <a:solidFill>
              <a:srgbClr val="7F7F7F"/>
            </a:solidFill>
          </a:ln>
        </c:spPr>
        <c:txPr>
          <a:bodyPr/>
          <a:lstStyle/>
          <a:p>
            <a:pPr>
              <a:defRPr sz="900">
                <a:latin typeface="Arial"/>
              </a:defRPr>
            </a:pPr>
          </a:p>
        </c:txPr>
        <c:crossAx val="-2113994440"/>
        <c:crosses val="autoZero"/>
        <c:auto val="1"/>
        <c:lblAlgn val="ctr"/>
        <c:lblOffset val="100"/>
        <c:noMultiLvlLbl val="0"/>
      </c:catAx>
      <c:valAx>
        <c:axId val="-2113994440"/>
        <c:scaling>
          <c:max val="90.85"/>
          <c:min val="0.0"/>
        </c:scaling>
        <c:delete/>
        <c:axPos val="l"/>
        <c:majorTickMark val="out"/>
        <c:minorTickMark val="none"/>
        <c:tickLblPos val="nextTo"/>
        <c:txPr>
          <a:bodyPr/>
          <a:lstStyle/>
          <a:p>
            <a:pPr>
              <a:defRPr sz="900"/>
            </a:pPr>
          </a:p>
        </c:txPr>
        <c:crossAx val="-2068027336"/>
        <c:crosses val="autoZero"/>
      </c:valAx>
      <c:spPr>
        <a:noFill/>
        <a:ln>
          <a:noFill/>
        </a:ln>
      </c:spPr>
    </c:plotArea>
    <c:dispBlanksAs val="gap"/>
  </c:chart>
  <c:spPr>
    <a:noFill/>
    <a:ln>
      <a:noFill/>
    </a:ln>
  </c:spPr>
  <c:txPr>
    <a:bodyPr/>
    <a:lstStyle/>
    <a:p>
      <a:pPr>
        <a:defRPr sz="900">
          <a:solidFill>
            <a:srgbClr val="000000"/>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36"/>
          <c:y val="0.08"/>
          <c:w val="0.6"/>
          <c:h val="0.8"/>
        </c:manualLayout>
      </c:layout>
      <c:barChart>
        <c:barDir val="bar"/>
        <c:grouping val="stacked"/>
        <c:ser>
          <c:idx val="0"/>
          <c:order val="0"/>
          <c:tx>
            <c:strRef>
              <c:f>Sheet1!$B$1</c:f>
              <c:strCache>
                <c:ptCount val="1"/>
                <c:pt idx="0">
                  <c:v>_off</c:v>
                </c:pt>
              </c:strCache>
            </c:strRef>
          </c:tx>
          <c:spPr>
            <a:noFill/>
            <a:ln>
              <a:noFill/>
            </a:ln>
          </c:spPr>
          <c:invertIfNegative val="0"/>
          <c:dLbls>
            <c:dLbl>
              <c:idx val="0"/>
              <c:tx>
                <c:rich>
                  <a:bodyPr/>
                  <a:lstStyle/>
                  <a:p>
                    <a:r>
                      <a:rPr sz="900" b="0">
                        <a:solidFill>
                          <a:srgbClr val="000000"/>
                        </a:solidFill>
                        <a:latin typeface="Arial"/>
                      </a:rPr>
                      <a:t>$23.00</a:t>
                    </a:r>
                  </a:p>
                </c:rich>
              </c:tx>
              <c:dLblPos val="inEnd"/>
              <c:showLegendKey val="0"/>
              <c:showVal val="1"/>
              <c:showCatName val="0"/>
              <c:showSerName val="0"/>
              <c:showPercent val="0"/>
              <c:showBubbleSize val="0"/>
            </c:dLbl>
            <c:dLbl>
              <c:idx val="1"/>
              <c:tx>
                <c:rich>
                  <a:bodyPr/>
                  <a:lstStyle/>
                  <a:p>
                    <a:r>
                      <a:rPr sz="900" b="0">
                        <a:solidFill>
                          <a:srgbClr val="000000"/>
                        </a:solidFill>
                        <a:latin typeface="Arial"/>
                      </a:rPr>
                      <a:t>$31.50</a:t>
                    </a:r>
                  </a:p>
                </c:rich>
              </c:tx>
              <c:dLblPos val="inEnd"/>
              <c:showLegendKey val="0"/>
              <c:showVal val="1"/>
              <c:showCatName val="0"/>
              <c:showSerName val="0"/>
              <c:showPercent val="0"/>
              <c:showBubbleSize val="0"/>
            </c:dLbl>
            <c:dLbl>
              <c:idx val="2"/>
              <c:tx>
                <c:rich>
                  <a:bodyPr/>
                  <a:lstStyle/>
                  <a:p>
                    <a:r>
                      <a:rPr sz="900" b="0">
                        <a:solidFill>
                          <a:srgbClr val="000000"/>
                        </a:solidFill>
                        <a:latin typeface="Arial"/>
                      </a:rPr>
                      <a:t>$37.80</a:t>
                    </a:r>
                  </a:p>
                </c:rich>
              </c:tx>
              <c:dLblPos val="inEnd"/>
              <c:showLegendKey val="0"/>
              <c:showVal val="1"/>
              <c:showCatName val="0"/>
              <c:showSerName val="0"/>
              <c:showPercent val="0"/>
              <c:showBubbleSize val="0"/>
            </c:dLbl>
            <c:dLbl>
              <c:idx val="3"/>
              <c:tx>
                <c:rich>
                  <a:bodyPr/>
                  <a:lstStyle/>
                  <a:p>
                    <a:r>
                      <a:rPr sz="900" b="0">
                        <a:solidFill>
                          <a:srgbClr val="000000"/>
                        </a:solidFill>
                        <a:latin typeface="Arial"/>
                      </a:rPr>
                      <a:t>$34.95</a:t>
                    </a:r>
                  </a:p>
                </c:rich>
              </c:tx>
              <c:dLblPos val="inEnd"/>
              <c:showLegendKey val="0"/>
              <c:showVal val="1"/>
              <c:showCatName val="0"/>
              <c:showSerName val="0"/>
              <c:showPercent val="0"/>
              <c:showBubbleSize val="0"/>
            </c:dLbl>
            <c:dLbl>
              <c:idx val="4"/>
              <c:tx>
                <c:rich>
                  <a:bodyPr/>
                  <a:lstStyle/>
                  <a:p>
                    <a:r>
                      <a:rPr sz="900" b="0">
                        <a:solidFill>
                          <a:srgbClr val="000000"/>
                        </a:solidFill>
                        <a:latin typeface="Arial"/>
                      </a:rPr>
                      <a:t>$36.75</a:t>
                    </a:r>
                  </a:p>
                </c:rich>
              </c:tx>
              <c:dLblPos val="inEnd"/>
              <c:showLegendKey val="0"/>
              <c:showVal val="1"/>
              <c:showCatName val="0"/>
              <c:showSerName val="0"/>
              <c:showPercent val="0"/>
              <c:showBubbleSize val="0"/>
            </c:dLbl>
            <c:dLbl>
              <c:idx val="5"/>
              <c:tx>
                <c:rich>
                  <a:bodyPr/>
                  <a:lstStyle/>
                  <a:p>
                    <a:r>
                      <a:rPr sz="900" b="0">
                        <a:solidFill>
                          <a:srgbClr val="000000"/>
                        </a:solidFill>
                        <a:latin typeface="Arial"/>
                      </a:rPr>
                      <a:t>$33.50</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52-week trading range</c:v>
                </c:pt>
                <c:pt idx="1">
                  <c:v>Analyst price targets</c:v>
                </c:pt>
                <c:pt idx="2">
                  <c:v>DCF (WACC 10-12%, g 1-2%)</c:v>
                </c:pt>
                <c:pt idx="3">
                  <c:v>Precedents (8x-12x)</c:v>
                </c:pt>
                <c:pt idx="4">
                  <c:v>P / E '25E (14x-19x)</c:v>
                </c:pt>
                <c:pt idx="5">
                  <c:v>EV / EBITDA '25E (7.6x-13.5x)</c:v>
                </c:pt>
              </c:strCache>
            </c:strRef>
          </c:cat>
          <c:val>
            <c:numRef>
              <c:f>Sheet1!$B$2:$B$7</c:f>
              <c:numCache>
                <c:formatCode>General</c:formatCode>
                <c:ptCount val="6"/>
                <c:pt idx="0">
                  <c:v>3.0</c:v>
                </c:pt>
                <c:pt idx="1">
                  <c:v>11.5</c:v>
                </c:pt>
                <c:pt idx="2">
                  <c:v>17.799999999999997</c:v>
                </c:pt>
                <c:pt idx="3">
                  <c:v>14.950000000000003</c:v>
                </c:pt>
                <c:pt idx="4">
                  <c:v>16.75</c:v>
                </c:pt>
                <c:pt idx="5">
                  <c:v>13.5</c:v>
                </c:pt>
              </c:numCache>
            </c:numRef>
          </c:val>
        </c:ser>
        <c:ser>
          <c:idx val="1"/>
          <c:order val="1"/>
          <c:tx>
            <c:strRef>
              <c:f>Sheet1!$C$1</c:f>
              <c:strCache>
                <c:ptCount val="1"/>
                <c:pt idx="0">
                  <c:v>Range</c:v>
                </c:pt>
              </c:strCache>
            </c:strRef>
          </c:tx>
          <c:invertIfNegative val="0"/>
          <c:dPt>
            <c:idx val="0"/>
            <c:invertIfNegative val="0"/>
            <c:spPr>
              <a:solidFill>
                <a:srgbClr val="A6A6A6"/>
              </a:solidFill>
              <a:ln>
                <a:noFill/>
              </a:ln>
            </c:spPr>
          </c:dPt>
          <c:dPt>
            <c:idx val="1"/>
            <c:invertIfNegative val="0"/>
            <c:spPr>
              <a:solidFill>
                <a:srgbClr val="A6A6A6"/>
              </a:solidFill>
              <a:ln>
                <a:noFill/>
              </a:ln>
            </c:spPr>
          </c:dPt>
          <c:dPt>
            <c:idx val="2"/>
            <c:invertIfNegative val="0"/>
            <c:spPr>
              <a:solidFill>
                <a:srgbClr val="7F8FA9"/>
              </a:solidFill>
              <a:ln>
                <a:noFill/>
              </a:ln>
            </c:spPr>
          </c:dPt>
          <c:dPt>
            <c:idx val="3"/>
            <c:invertIfNegative val="0"/>
            <c:spPr>
              <a:solidFill>
                <a:srgbClr val="7F8FA9"/>
              </a:solidFill>
              <a:ln>
                <a:noFill/>
              </a:ln>
            </c:spPr>
          </c:dPt>
          <c:dPt>
            <c:idx val="4"/>
            <c:invertIfNegative val="0"/>
            <c:spPr>
              <a:solidFill>
                <a:srgbClr val="242852"/>
              </a:solidFill>
              <a:ln>
                <a:noFill/>
              </a:ln>
            </c:spPr>
          </c:dPt>
          <c:dPt>
            <c:idx val="5"/>
            <c:invertIfNegative val="0"/>
            <c:spPr>
              <a:solidFill>
                <a:srgbClr val="242852"/>
              </a:solidFill>
              <a:ln>
                <a:noFill/>
              </a:ln>
            </c:spPr>
          </c:dPt>
          <c:cat>
            <c:strRef>
              <c:f>Sheet1!$A$2:$A$7</c:f>
              <c:strCache>
                <c:ptCount val="6"/>
                <c:pt idx="0">
                  <c:v>52-week trading range</c:v>
                </c:pt>
                <c:pt idx="1">
                  <c:v>Analyst price targets</c:v>
                </c:pt>
                <c:pt idx="2">
                  <c:v>DCF (WACC 10-12%, g 1-2%)</c:v>
                </c:pt>
                <c:pt idx="3">
                  <c:v>Precedents (8x-12x)</c:v>
                </c:pt>
                <c:pt idx="4">
                  <c:v>P / E '25E (14x-19x)</c:v>
                </c:pt>
                <c:pt idx="5">
                  <c:v>EV / EBITDA '25E (7.6x-13.5x)</c:v>
                </c:pt>
              </c:strCache>
            </c:strRef>
          </c:cat>
          <c:val>
            <c:numRef>
              <c:f>Sheet1!$C$2:$C$7</c:f>
              <c:numCache>
                <c:formatCode>General</c:formatCode>
                <c:ptCount val="6"/>
                <c:pt idx="0">
                  <c:v>16.9</c:v>
                </c:pt>
                <c:pt idx="1">
                  <c:v>13.5</c:v>
                </c:pt>
                <c:pt idx="2">
                  <c:v>7.800000000000004</c:v>
                </c:pt>
                <c:pt idx="3">
                  <c:v>11.25</c:v>
                </c:pt>
                <c:pt idx="4">
                  <c:v>7.549999999999997</c:v>
                </c:pt>
                <c:pt idx="5">
                  <c:v>11.600000000000001</c:v>
                </c:pt>
              </c:numCache>
            </c:numRef>
          </c:val>
        </c:ser>
        <c:ser>
          <c:idx val="2"/>
          <c:order val="2"/>
          <c:tx>
            <c:strRef>
              <c:f>Sheet1!$D$1</c:f>
              <c:strCache>
                <c:ptCount val="1"/>
                <c:pt idx="0">
                  <c:v>_hi</c:v>
                </c:pt>
              </c:strCache>
            </c:strRef>
          </c:tx>
          <c:spPr>
            <a:noFill/>
            <a:ln>
              <a:noFill/>
            </a:ln>
          </c:spPr>
          <c:invertIfNegative val="0"/>
          <c:dLbls>
            <c:dLbl>
              <c:idx val="0"/>
              <c:tx>
                <c:rich>
                  <a:bodyPr/>
                  <a:lstStyle/>
                  <a:p>
                    <a:r>
                      <a:rPr sz="900" b="0">
                        <a:solidFill>
                          <a:srgbClr val="000000"/>
                        </a:solidFill>
                        <a:latin typeface="Arial"/>
                      </a:rPr>
                      <a:t>$39.90</a:t>
                    </a:r>
                  </a:p>
                </c:rich>
              </c:tx>
              <c:dLblPos val="inBase"/>
              <c:showLegendKey val="0"/>
              <c:showVal val="1"/>
              <c:showCatName val="0"/>
              <c:showSerName val="0"/>
              <c:showPercent val="0"/>
              <c:showBubbleSize val="0"/>
            </c:dLbl>
            <c:dLbl>
              <c:idx val="1"/>
              <c:tx>
                <c:rich>
                  <a:bodyPr/>
                  <a:lstStyle/>
                  <a:p>
                    <a:r>
                      <a:rPr sz="900" b="0">
                        <a:solidFill>
                          <a:srgbClr val="000000"/>
                        </a:solidFill>
                        <a:latin typeface="Arial"/>
                      </a:rPr>
                      <a:t>$45.00</a:t>
                    </a:r>
                  </a:p>
                </c:rich>
              </c:tx>
              <c:dLblPos val="inBase"/>
              <c:showLegendKey val="0"/>
              <c:showVal val="1"/>
              <c:showCatName val="0"/>
              <c:showSerName val="0"/>
              <c:showPercent val="0"/>
              <c:showBubbleSize val="0"/>
            </c:dLbl>
            <c:dLbl>
              <c:idx val="2"/>
              <c:tx>
                <c:rich>
                  <a:bodyPr/>
                  <a:lstStyle/>
                  <a:p>
                    <a:r>
                      <a:rPr sz="900" b="0">
                        <a:solidFill>
                          <a:srgbClr val="000000"/>
                        </a:solidFill>
                        <a:latin typeface="Arial"/>
                      </a:rPr>
                      <a:t>$45.60</a:t>
                    </a:r>
                  </a:p>
                </c:rich>
              </c:tx>
              <c:dLblPos val="inBase"/>
              <c:showLegendKey val="0"/>
              <c:showVal val="1"/>
              <c:showCatName val="0"/>
              <c:showSerName val="0"/>
              <c:showPercent val="0"/>
              <c:showBubbleSize val="0"/>
            </c:dLbl>
            <c:dLbl>
              <c:idx val="3"/>
              <c:tx>
                <c:rich>
                  <a:bodyPr/>
                  <a:lstStyle/>
                  <a:p>
                    <a:r>
                      <a:rPr sz="900" b="0">
                        <a:solidFill>
                          <a:srgbClr val="000000"/>
                        </a:solidFill>
                        <a:latin typeface="Arial"/>
                      </a:rPr>
                      <a:t>$46.20</a:t>
                    </a:r>
                  </a:p>
                </c:rich>
              </c:tx>
              <c:dLblPos val="inBase"/>
              <c:showLegendKey val="0"/>
              <c:showVal val="1"/>
              <c:showCatName val="0"/>
              <c:showSerName val="0"/>
              <c:showPercent val="0"/>
              <c:showBubbleSize val="0"/>
            </c:dLbl>
            <c:dLbl>
              <c:idx val="4"/>
              <c:tx>
                <c:rich>
                  <a:bodyPr/>
                  <a:lstStyle/>
                  <a:p>
                    <a:r>
                      <a:rPr sz="900" b="0">
                        <a:solidFill>
                          <a:srgbClr val="000000"/>
                        </a:solidFill>
                        <a:latin typeface="Arial"/>
                      </a:rPr>
                      <a:t>$44.30</a:t>
                    </a:r>
                  </a:p>
                </c:rich>
              </c:tx>
              <c:dLblPos val="inBase"/>
              <c:showLegendKey val="0"/>
              <c:showVal val="1"/>
              <c:showCatName val="0"/>
              <c:showSerName val="0"/>
              <c:showPercent val="0"/>
              <c:showBubbleSize val="0"/>
            </c:dLbl>
            <c:dLbl>
              <c:idx val="5"/>
              <c:tx>
                <c:rich>
                  <a:bodyPr/>
                  <a:lstStyle/>
                  <a:p>
                    <a:r>
                      <a:rPr sz="900" b="0">
                        <a:solidFill>
                          <a:srgbClr val="000000"/>
                        </a:solidFill>
                        <a:latin typeface="Arial"/>
                      </a:rPr>
                      <a:t>$45.10</a:t>
                    </a:r>
                  </a:p>
                </c:rich>
              </c:tx>
              <c:dLblPos val="inBase"/>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52-week trading range</c:v>
                </c:pt>
                <c:pt idx="1">
                  <c:v>Analyst price targets</c:v>
                </c:pt>
                <c:pt idx="2">
                  <c:v>DCF (WACC 10-12%, g 1-2%)</c:v>
                </c:pt>
                <c:pt idx="3">
                  <c:v>Precedents (8x-12x)</c:v>
                </c:pt>
                <c:pt idx="4">
                  <c:v>P / E '25E (14x-19x)</c:v>
                </c:pt>
                <c:pt idx="5">
                  <c:v>EV / EBITDA '25E (7.6x-13.5x)</c:v>
                </c:pt>
              </c:strCache>
            </c:strRef>
          </c:cat>
          <c:val>
            <c:numRef>
              <c:f>Sheet1!$D$2:$D$7</c:f>
              <c:numCache>
                <c:formatCode>General</c:formatCode>
                <c:ptCount val="6"/>
                <c:pt idx="0">
                  <c:v>0</c:v>
                </c:pt>
                <c:pt idx="1">
                  <c:v>0</c:v>
                </c:pt>
                <c:pt idx="2">
                  <c:v>0</c:v>
                </c:pt>
                <c:pt idx="3">
                  <c:v>0</c:v>
                </c:pt>
                <c:pt idx="4">
                  <c:v>0</c:v>
                </c:pt>
                <c:pt idx="5">
                  <c:v>0</c:v>
                </c:pt>
              </c:numCache>
            </c:numRef>
          </c:val>
        </c:ser>
        <c:gapWidth val="60"/>
        <c:overlap val="100"/>
        <c:axId val="-2068027336"/>
        <c:axId val="-2113994440"/>
      </c:barChart>
      <c:catAx>
        <c:axId val="-2068027336"/>
        <c:scaling>
          <c:orientation val="minMax"/>
        </c:scaling>
        <c:delete val="0"/>
        <c:axPos val="l"/>
        <c:majorTickMark val="none"/>
        <c:minorTickMark val="none"/>
        <c:tickLblPos val="nextTo"/>
        <c:spPr>
          <a:ln w="9525">
            <a:solidFill>
              <a:srgbClr val="7F7F7F"/>
            </a:solidFill>
          </a:ln>
        </c:spPr>
        <c:txPr>
          <a:bodyPr/>
          <a:lstStyle/>
          <a:p>
            <a:pPr>
              <a:defRPr sz="1000">
                <a:latin typeface="Arial"/>
              </a:defRPr>
            </a:pPr>
          </a:p>
        </c:txPr>
        <c:crossAx val="-2113994440"/>
        <c:crosses val="autoZero"/>
        <c:auto val="1"/>
        <c:lblAlgn val="ctr"/>
        <c:lblOffset val="100"/>
        <c:noMultiLvlLbl val="0"/>
      </c:catAx>
      <c:valAx>
        <c:axId val="-2113994440"/>
        <c:scaling>
          <c:max val="30.0"/>
          <c:min val="0.0"/>
        </c:scaling>
        <c:delete/>
        <c:axPos val="b"/>
        <c:majorTickMark val="out"/>
        <c:minorTickMark val="none"/>
        <c:tickLblPos val="nextTo"/>
        <c:txPr>
          <a:bodyPr/>
          <a:lstStyle/>
          <a:p>
            <a:pPr>
              <a:defRPr sz="900"/>
            </a:pPr>
          </a:p>
        </c:txPr>
        <c:crossAx val="-2068027336"/>
        <c:crosses val="autoZero"/>
      </c:valAx>
      <c:spPr>
        <a:noFill/>
        <a:ln>
          <a:noFill/>
        </a:ln>
      </c:spPr>
    </c:plotArea>
    <c:dispBlanksAs val="gap"/>
  </c:chart>
  <c:spPr>
    <a:noFill/>
    <a:ln>
      <a:noFill/>
    </a:ln>
  </c:spPr>
  <c:txPr>
    <a:bodyPr/>
    <a:lstStyle/>
    <a:p>
      <a:pPr>
        <a:defRPr sz="900">
          <a:solidFill>
            <a:srgbClr val="000000"/>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3"/>
          <c:y val="0.03"/>
          <c:w val="0.68"/>
          <c:h val="0.94"/>
        </c:manualLayout>
      </c:layout>
      <c:barChart>
        <c:barDir val="bar"/>
        <c:grouping val="clustered"/>
        <c:ser>
          <c:idx val="0"/>
          <c:order val="0"/>
          <c:tx>
            <c:strRef>
              <c:f>Sheet1!$B$1</c:f>
              <c:strCache>
                <c:ptCount val="1"/>
                <c:pt idx="0">
                  <c:v>Downside</c:v>
                </c:pt>
              </c:strCache>
            </c:strRef>
          </c:tx>
          <c:spPr>
            <a:solidFill>
              <a:srgbClr val="7F8FA9"/>
            </a:solidFill>
            <a:ln>
              <a:noFill/>
            </a:ln>
          </c:spPr>
          <c:invertIfNegative val="0"/>
          <c:dLbls>
            <c:dLbl>
              <c:idx val="0"/>
              <c:tx>
                <c:rich>
                  <a:bodyPr/>
                  <a:lstStyle/>
                  <a:p>
                    <a:r>
                      <a:rPr sz="900" b="1">
                        <a:solidFill>
                          <a:srgbClr val="000000"/>
                        </a:solidFill>
                        <a:latin typeface="Arial"/>
                      </a:rPr>
                      <a:t>($0.55)</a:t>
                    </a:r>
                  </a:p>
                </c:rich>
              </c:tx>
              <c:dLblPos val="outEnd"/>
              <c:showLegendKey val="0"/>
              <c:showVal val="1"/>
              <c:showCatName val="0"/>
              <c:showSerName val="0"/>
              <c:showPercent val="0"/>
              <c:showBubbleSize val="0"/>
            </c:dLbl>
            <c:dLbl>
              <c:idx val="1"/>
              <c:tx>
                <c:rich>
                  <a:bodyPr/>
                  <a:lstStyle/>
                  <a:p>
                    <a:r>
                      <a:rPr sz="900" b="1">
                        <a:solidFill>
                          <a:srgbClr val="000000"/>
                        </a:solidFill>
                        <a:latin typeface="Arial"/>
                      </a:rPr>
                      <a:t>($0.65)</a:t>
                    </a:r>
                  </a:p>
                </c:rich>
              </c:tx>
              <c:dLblPos val="outEnd"/>
              <c:showLegendKey val="0"/>
              <c:showVal val="1"/>
              <c:showCatName val="0"/>
              <c:showSerName val="0"/>
              <c:showPercent val="0"/>
              <c:showBubbleSize val="0"/>
            </c:dLbl>
            <c:dLbl>
              <c:idx val="2"/>
              <c:tx>
                <c:rich>
                  <a:bodyPr/>
                  <a:lstStyle/>
                  <a:p>
                    <a:r>
                      <a:rPr sz="900" b="1">
                        <a:solidFill>
                          <a:srgbClr val="000000"/>
                        </a:solidFill>
                        <a:latin typeface="Arial"/>
                      </a:rPr>
                      <a:t>($1.25)</a:t>
                    </a:r>
                  </a:p>
                </c:rich>
              </c:tx>
              <c:dLblPos val="outEnd"/>
              <c:showLegendKey val="0"/>
              <c:showVal val="1"/>
              <c:showCatName val="0"/>
              <c:showSerName val="0"/>
              <c:showPercent val="0"/>
              <c:showBubbleSize val="0"/>
            </c:dLbl>
            <c:dLbl>
              <c:idx val="3"/>
              <c:tx>
                <c:rich>
                  <a:bodyPr/>
                  <a:lstStyle/>
                  <a:p>
                    <a:r>
                      <a:rPr sz="900" b="1">
                        <a:solidFill>
                          <a:srgbClr val="000000"/>
                        </a:solidFill>
                        <a:latin typeface="Arial"/>
                      </a:rPr>
                      <a:t>($1.65)</a:t>
                    </a:r>
                  </a:p>
                </c:rich>
              </c:tx>
              <c:dLblPos val="outEnd"/>
              <c:showLegendKey val="0"/>
              <c:showVal val="1"/>
              <c:showCatName val="0"/>
              <c:showSerName val="0"/>
              <c:showPercent val="0"/>
              <c:showBubbleSize val="0"/>
            </c:dLbl>
            <c:dLbl>
              <c:idx val="4"/>
              <c:tx>
                <c:rich>
                  <a:bodyPr/>
                  <a:lstStyle/>
                  <a:p>
                    <a:r>
                      <a:rPr sz="900" b="1">
                        <a:solidFill>
                          <a:srgbClr val="000000"/>
                        </a:solidFill>
                        <a:latin typeface="Arial"/>
                      </a:rPr>
                      <a:t>($3.75)</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Perpetuity growth +/-1.0%</c:v>
                </c:pt>
                <c:pt idx="1">
                  <c:v>Revenue growth +/-1.0%</c:v>
                </c:pt>
                <c:pt idx="2">
                  <c:v>WACC +/-1.0%</c:v>
                </c:pt>
                <c:pt idx="3">
                  <c:v>EBITDA margin +/-1.0%</c:v>
                </c:pt>
                <c:pt idx="4">
                  <c:v>Litigation accrual $141m</c:v>
                </c:pt>
              </c:strCache>
            </c:strRef>
          </c:cat>
          <c:val>
            <c:numRef>
              <c:f>Sheet1!$B$2:$B$6</c:f>
              <c:numCache>
                <c:formatCode>General</c:formatCode>
                <c:ptCount val="5"/>
                <c:pt idx="0">
                  <c:v>-0.55</c:v>
                </c:pt>
                <c:pt idx="1">
                  <c:v>-0.65</c:v>
                </c:pt>
                <c:pt idx="2">
                  <c:v>-1.25</c:v>
                </c:pt>
                <c:pt idx="3">
                  <c:v>-1.65</c:v>
                </c:pt>
                <c:pt idx="4">
                  <c:v>-3.75</c:v>
                </c:pt>
              </c:numCache>
            </c:numRef>
          </c:val>
        </c:ser>
        <c:ser>
          <c:idx val="1"/>
          <c:order val="1"/>
          <c:tx>
            <c:strRef>
              <c:f>Sheet1!$C$1</c:f>
              <c:strCache>
                <c:ptCount val="1"/>
                <c:pt idx="0">
                  <c:v>Upside</c:v>
                </c:pt>
              </c:strCache>
            </c:strRef>
          </c:tx>
          <c:spPr>
            <a:solidFill>
              <a:srgbClr val="242852"/>
            </a:solidFill>
            <a:ln>
              <a:noFill/>
            </a:ln>
          </c:spPr>
          <c:invertIfNegative val="0"/>
          <c:dLbls>
            <c:dLbl>
              <c:idx val="0"/>
              <c:tx>
                <c:rich>
                  <a:bodyPr/>
                  <a:lstStyle/>
                  <a:p>
                    <a:r>
                      <a:rPr sz="900" b="1">
                        <a:solidFill>
                          <a:srgbClr val="000000"/>
                        </a:solidFill>
                        <a:latin typeface="Arial"/>
                      </a:rPr>
                      <a:t>$0.65</a:t>
                    </a:r>
                  </a:p>
                </c:rich>
              </c:tx>
              <c:dLblPos val="outEnd"/>
              <c:showLegendKey val="0"/>
              <c:showVal val="1"/>
              <c:showCatName val="0"/>
              <c:showSerName val="0"/>
              <c:showPercent val="0"/>
              <c:showBubbleSize val="0"/>
            </c:dLbl>
            <c:dLbl>
              <c:idx val="1"/>
              <c:tx>
                <c:rich>
                  <a:bodyPr/>
                  <a:lstStyle/>
                  <a:p>
                    <a:r>
                      <a:rPr sz="900" b="1">
                        <a:solidFill>
                          <a:srgbClr val="000000"/>
                        </a:solidFill>
                        <a:latin typeface="Arial"/>
                      </a:rPr>
                      <a:t>$0.70</a:t>
                    </a:r>
                  </a:p>
                </c:rich>
              </c:tx>
              <c:dLblPos val="outEnd"/>
              <c:showLegendKey val="0"/>
              <c:showVal val="1"/>
              <c:showCatName val="0"/>
              <c:showSerName val="0"/>
              <c:showPercent val="0"/>
              <c:showBubbleSize val="0"/>
            </c:dLbl>
            <c:dLbl>
              <c:idx val="2"/>
              <c:tx>
                <c:rich>
                  <a:bodyPr/>
                  <a:lstStyle/>
                  <a:p>
                    <a:r>
                      <a:rPr sz="900" b="1">
                        <a:solidFill>
                          <a:srgbClr val="000000"/>
                        </a:solidFill>
                        <a:latin typeface="Arial"/>
                      </a:rPr>
                      <a:t>$1.50</a:t>
                    </a:r>
                  </a:p>
                </c:rich>
              </c:tx>
              <c:dLblPos val="outEnd"/>
              <c:showLegendKey val="0"/>
              <c:showVal val="1"/>
              <c:showCatName val="0"/>
              <c:showSerName val="0"/>
              <c:showPercent val="0"/>
              <c:showBubbleSize val="0"/>
            </c:dLbl>
            <c:dLbl>
              <c:idx val="3"/>
              <c:tx>
                <c:rich>
                  <a:bodyPr/>
                  <a:lstStyle/>
                  <a:p>
                    <a:r>
                      <a:rPr sz="900" b="1">
                        <a:solidFill>
                          <a:srgbClr val="000000"/>
                        </a:solidFill>
                        <a:latin typeface="Arial"/>
                      </a:rPr>
                      <a:t>$1.65</a:t>
                    </a:r>
                  </a:p>
                </c:rich>
              </c:tx>
              <c:dLblPos val="outEnd"/>
              <c:showLegendKey val="0"/>
              <c:showVal val="1"/>
              <c:showCatName val="0"/>
              <c:showSerName val="0"/>
              <c:showPercent val="0"/>
              <c:showBubbleSize val="0"/>
            </c:dLbl>
            <c:dLbl>
              <c:idx val="4"/>
              <c:tx>
                <c:rich>
                  <a:bodyPr/>
                  <a:lstStyle/>
                  <a:p>
                    <a:r>
                      <a:rPr sz="900" b="1">
                        <a:solidFill>
                          <a:srgbClr val="000000"/>
                        </a:solidFill>
                        <a:latin typeface="Arial"/>
                      </a:rPr>
                      <a:t> </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Perpetuity growth +/-1.0%</c:v>
                </c:pt>
                <c:pt idx="1">
                  <c:v>Revenue growth +/-1.0%</c:v>
                </c:pt>
                <c:pt idx="2">
                  <c:v>WACC +/-1.0%</c:v>
                </c:pt>
                <c:pt idx="3">
                  <c:v>EBITDA margin +/-1.0%</c:v>
                </c:pt>
                <c:pt idx="4">
                  <c:v>Litigation accrual $141m</c:v>
                </c:pt>
              </c:strCache>
            </c:strRef>
          </c:cat>
          <c:val>
            <c:numRef>
              <c:f>Sheet1!$C$2:$C$6</c:f>
              <c:numCache>
                <c:formatCode>General</c:formatCode>
                <c:ptCount val="5"/>
                <c:pt idx="0">
                  <c:v>0.65</c:v>
                </c:pt>
                <c:pt idx="1">
                  <c:v>0.7</c:v>
                </c:pt>
                <c:pt idx="2">
                  <c:v>1.5</c:v>
                </c:pt>
                <c:pt idx="3">
                  <c:v>1.65</c:v>
                </c:pt>
                <c:pt idx="4">
                  <c:v>0.0</c:v>
                </c:pt>
              </c:numCache>
            </c:numRef>
          </c:val>
        </c:ser>
        <c:gapWidth val="45"/>
        <c:overlap val="100"/>
        <c:axId val="-2068027336"/>
        <c:axId val="-2113994440"/>
      </c:barChart>
      <c:catAx>
        <c:axId val="-2068027336"/>
        <c:scaling>
          <c:orientation val="minMax"/>
        </c:scaling>
        <c:delete val="0"/>
        <c:axPos val="l"/>
        <c:majorTickMark val="none"/>
        <c:minorTickMark val="none"/>
        <c:tickLblPos val="low"/>
        <c:spPr>
          <a:ln w="9525">
            <a:solidFill>
              <a:srgbClr val="FFFFFF"/>
            </a:solidFill>
          </a:ln>
        </c:spPr>
        <c:txPr>
          <a:bodyPr/>
          <a:lstStyle/>
          <a:p>
            <a:pPr>
              <a:defRPr sz="1000">
                <a:latin typeface="Arial"/>
              </a:defRPr>
            </a:pPr>
          </a:p>
        </c:txPr>
        <c:crossAx val="-2113994440"/>
        <c:crosses val="autoZero"/>
        <c:auto val="1"/>
        <c:lblAlgn val="ctr"/>
        <c:lblOffset val="100"/>
        <c:noMultiLvlLbl val="0"/>
      </c:catAx>
      <c:valAx>
        <c:axId val="-2113994440"/>
        <c:scaling>
          <c:max val="5.4375"/>
          <c:min val="-5.4375"/>
        </c:scaling>
        <c:delete/>
        <c:axPos val="b"/>
        <c:majorTickMark val="out"/>
        <c:minorTickMark val="none"/>
        <c:tickLblPos val="nextTo"/>
        <c:txPr>
          <a:bodyPr/>
          <a:lstStyle/>
          <a:p>
            <a:pPr>
              <a:defRPr sz="900"/>
            </a:pPr>
          </a:p>
        </c:txPr>
        <c:crossAx val="-2068027336"/>
        <c:crosses val="autoZero"/>
      </c:valAx>
      <c:spPr>
        <a:noFill/>
        <a:ln>
          <a:noFill/>
        </a:ln>
      </c:spPr>
    </c:plotArea>
    <c:dispBlanksAs val="gap"/>
  </c:chart>
  <c:spPr>
    <a:noFill/>
    <a:ln>
      <a:noFill/>
    </a:ln>
  </c:spPr>
  <c:txPr>
    <a:bodyPr/>
    <a:lstStyle/>
    <a:p>
      <a:pPr>
        <a:defRPr sz="900">
          <a:solidFill>
            <a:srgbClr val="000000"/>
          </a:solidFill>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8"/>
          <c:y val="0.04"/>
          <c:w val="0.84"/>
          <c:h val="0.74"/>
        </c:manualLayout>
      </c:layout>
      <c:doughnutChart>
        <c:varyColors val="1"/>
        <c:ser>
          <c:idx val="0"/>
          <c:order val="0"/>
          <c:tx>
            <c:strRef>
              <c:f>Sheet1!$B$1</c:f>
              <c:strCache>
                <c:ptCount val="1"/>
                <c:pt idx="0">
                  <c:v>Mix</c:v>
                </c:pt>
              </c:strCache>
            </c:strRef>
          </c:tx>
          <c:dPt>
            <c:idx val="0"/>
            <c:spPr>
              <a:solidFill>
                <a:srgbClr val="242852"/>
              </a:solidFill>
              <a:ln w="19050">
                <a:solidFill>
                  <a:srgbClr val="FFFFFF"/>
                </a:solidFill>
              </a:ln>
            </c:spPr>
          </c:dPt>
          <c:dPt>
            <c:idx val="1"/>
            <c:spPr>
              <a:solidFill>
                <a:srgbClr val="F5C400"/>
              </a:solidFill>
              <a:ln w="19050">
                <a:solidFill>
                  <a:srgbClr val="FFFFFF"/>
                </a:solidFill>
              </a:ln>
            </c:spPr>
          </c:dPt>
          <c:dPt>
            <c:idx val="2"/>
            <c:spPr>
              <a:solidFill>
                <a:srgbClr val="7F8FA9"/>
              </a:solidFill>
              <a:ln w="19050">
                <a:solidFill>
                  <a:srgbClr val="FFFFFF"/>
                </a:solidFill>
              </a:ln>
            </c:spPr>
          </c:dPt>
          <c:dPt>
            <c:idx val="3"/>
            <c:spPr>
              <a:solidFill>
                <a:srgbClr val="9DAAC0"/>
              </a:solidFill>
              <a:ln w="19050">
                <a:solidFill>
                  <a:srgbClr val="FFFFFF"/>
                </a:solidFill>
              </a:ln>
            </c:spPr>
          </c:dPt>
          <c:dLbls>
            <c:dLbl>
              <c:idx val="0"/>
              <c:tx>
                <c:rich>
                  <a:bodyPr/>
                  <a:lstStyle/>
                  <a:p>
                    <a:r>
                      <a:rPr sz="900" b="1">
                        <a:solidFill>
                          <a:srgbClr val="FFFFFF"/>
                        </a:solidFill>
                        <a:latin typeface="Arial"/>
                      </a:rPr>
                      <a:t>45%</a:t>
                    </a:r>
                  </a:p>
                </c:rich>
              </c:tx>
              <c:showLegendKey val="0"/>
              <c:showVal val="1"/>
              <c:showCatName val="0"/>
              <c:showSerName val="0"/>
              <c:showPercent val="0"/>
              <c:showBubbleSize val="0"/>
            </c:dLbl>
            <c:dLbl>
              <c:idx val="1"/>
              <c:tx>
                <c:rich>
                  <a:bodyPr/>
                  <a:lstStyle/>
                  <a:p>
                    <a:r>
                      <a:rPr sz="900" b="1">
                        <a:solidFill>
                          <a:srgbClr val="000000"/>
                        </a:solidFill>
                        <a:latin typeface="Arial"/>
                      </a:rPr>
                      <a:t>30%</a:t>
                    </a:r>
                  </a:p>
                </c:rich>
              </c:tx>
              <c:showLegendKey val="0"/>
              <c:showVal val="1"/>
              <c:showCatName val="0"/>
              <c:showSerName val="0"/>
              <c:showPercent val="0"/>
              <c:showBubbleSize val="0"/>
            </c:dLbl>
            <c:dLbl>
              <c:idx val="2"/>
              <c:tx>
                <c:rich>
                  <a:bodyPr/>
                  <a:lstStyle/>
                  <a:p>
                    <a:r>
                      <a:rPr sz="900" b="1">
                        <a:solidFill>
                          <a:srgbClr val="FFFFFF"/>
                        </a:solidFill>
                        <a:latin typeface="Arial"/>
                      </a:rPr>
                      <a:t>15%</a:t>
                    </a:r>
                  </a:p>
                </c:rich>
              </c:tx>
              <c:showLegendKey val="0"/>
              <c:showVal val="1"/>
              <c:showCatName val="0"/>
              <c:showSerName val="0"/>
              <c:showPercent val="0"/>
              <c:showBubbleSize val="0"/>
            </c:dLbl>
            <c:dLbl>
              <c:idx val="3"/>
              <c:tx>
                <c:rich>
                  <a:bodyPr/>
                  <a:lstStyle/>
                  <a:p>
                    <a:r>
                      <a:rPr sz="900" b="1">
                        <a:solidFill>
                          <a:srgbClr val="000000"/>
                        </a:solidFill>
                        <a:latin typeface="Arial"/>
                      </a:rPr>
                      <a:t>10%</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Retail</c:v>
                </c:pt>
                <c:pt idx="1">
                  <c:v>Beverages</c:v>
                </c:pt>
                <c:pt idx="2">
                  <c:v>Health</c:v>
                </c:pt>
                <c:pt idx="3">
                  <c:v>Other</c:v>
                </c:pt>
              </c:strCache>
            </c:strRef>
          </c:cat>
          <c:val>
            <c:numRef>
              <c:f>Sheet1!$B$2:$B$5</c:f>
              <c:numCache>
                <c:formatCode>General</c:formatCode>
                <c:ptCount val="4"/>
                <c:pt idx="0">
                  <c:v>45</c:v>
                </c:pt>
                <c:pt idx="1">
                  <c:v>30</c:v>
                </c:pt>
                <c:pt idx="2">
                  <c:v>15</c:v>
                </c:pt>
                <c:pt idx="3">
                  <c:v>10</c:v>
                </c:pt>
              </c:numCache>
            </c:numRef>
          </c:val>
        </c:ser>
        <c:dLbls>
          <c:showLegendKey val="0"/>
          <c:showVal val="0"/>
          <c:showCatName val="0"/>
          <c:showSerName val="0"/>
          <c:showPercent val="0"/>
          <c:showBubbleSize val="0"/>
          <c:showLeaderLines val="1"/>
        </c:dLbls>
        <c:firstSliceAng val="0"/>
        <c:holeSize val="60"/>
      </c:doughnutChart>
      <c:spPr>
        <a:noFill/>
        <a:ln>
          <a:noFill/>
        </a:ln>
      </c:spPr>
    </c:plotArea>
    <c:legend>
      <c:legendPos val="b"/>
      <c:layout/>
      <c:overlay val="0"/>
      <c:txPr>
        <a:bodyPr/>
        <a:lstStyle/>
        <a:p>
          <a:pPr>
            <a:defRPr sz="900">
              <a:latin typeface="Arial"/>
            </a:defRPr>
          </a:pPr>
        </a:p>
      </c:txPr>
    </c:legend>
    <c:plotVisOnly val="1"/>
    <c:dispBlanksAs val="gap"/>
    <c:showDLblsOverMax val="0"/>
  </c:chart>
  <c:spPr>
    <a:noFill/>
    <a:ln>
      <a:noFill/>
    </a:ln>
  </c:spPr>
  <c:txPr>
    <a:bodyPr/>
    <a:lstStyle/>
    <a:p>
      <a:pPr>
        <a:defRPr sz="900">
          <a:solidFill>
            <a:srgbClr val="000000"/>
          </a:solidFill>
          <a:latin typeface="Arial"/>
        </a:defRPr>
      </a:pPr>
      <a:endParaR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
          <c:y val="0.08"/>
          <c:w val="0.96"/>
          <c:h val="0.8"/>
        </c:manualLayout>
      </c:layout>
      <c:barChart>
        <c:barDir val="col"/>
        <c:grouping val="clustered"/>
        <c:ser>
          <c:idx val="0"/>
          <c:order val="0"/>
          <c:tx>
            <c:strRef>
              <c:f>Sheet1!$B$1</c:f>
              <c:strCache>
                <c:ptCount val="1"/>
                <c:pt idx="0">
                  <c:v>Series</c:v>
                </c:pt>
              </c:strCache>
            </c:strRef>
          </c:tx>
          <c:spPr>
            <a:solidFill>
              <a:srgbClr val="A6A6A6"/>
            </a:solidFill>
            <a:ln>
              <a:noFill/>
            </a:ln>
          </c:spPr>
          <c:invertIfNegative val="0"/>
          <c:dPt>
            <c:idx val="0"/>
            <c:invertIfNegative val="0"/>
            <c:spPr>
              <a:solidFill>
                <a:srgbClr val="242852"/>
              </a:solidFill>
              <a:ln>
                <a:noFill/>
              </a:ln>
            </c:spPr>
          </c:dPt>
          <c:dLbls>
            <c:numFmt formatCode="0.0&quot;x&quot;" sourceLinked="0"/>
            <c:txPr>
              <a:bodyPr/>
              <a:lstStyle/>
              <a:p>
                <a:pPr>
                  <a:defRPr sz="1000" b="0">
                    <a:solidFill>
                      <a:srgbClr val="000000"/>
                    </a:solidFill>
                    <a:latin typeface="Arial"/>
                  </a:defRPr>
                </a:pPr>
              </a:p>
            </c:txPr>
            <c:dLblPos val="outEnd"/>
            <c:showLegendKey val="0"/>
            <c:showVal val="1"/>
            <c:showCatName val="0"/>
            <c:showSerName val="0"/>
            <c:showPercent val="0"/>
            <c:showBubbleSize val="0"/>
            <c:showLeaderLines val="1"/>
          </c:dLbls>
          <c:cat>
            <c:strRef>
              <c:f>Sheet1!$A$2:$A$6</c:f>
              <c:strCache>
                <c:ptCount val="5"/>
                <c:pt idx="0">
                  <c:v>Company</c:v>
                </c:pt>
                <c:pt idx="1">
                  <c:v>Peer A</c:v>
                </c:pt>
                <c:pt idx="2">
                  <c:v>Peer B</c:v>
                </c:pt>
                <c:pt idx="3">
                  <c:v>Peer C</c:v>
                </c:pt>
                <c:pt idx="4">
                  <c:v>Peer D</c:v>
                </c:pt>
              </c:strCache>
            </c:strRef>
          </c:cat>
          <c:val>
            <c:numRef>
              <c:f>Sheet1!$B$2:$B$6</c:f>
              <c:numCache>
                <c:formatCode>General</c:formatCode>
                <c:ptCount val="5"/>
                <c:pt idx="0">
                  <c:v>1.02</c:v>
                </c:pt>
                <c:pt idx="1">
                  <c:v>2.4</c:v>
                </c:pt>
                <c:pt idx="2">
                  <c:v>1.8</c:v>
                </c:pt>
                <c:pt idx="3">
                  <c:v>3.1</c:v>
                </c:pt>
                <c:pt idx="4">
                  <c:v>2.2</c:v>
                </c:pt>
              </c:numCache>
            </c:numRef>
          </c:val>
        </c:ser>
        <c:gapWidth val="60"/>
        <c:axId val="-2068027336"/>
        <c:axId val="-2113994440"/>
      </c:barChart>
      <c:catAx>
        <c:axId val="-2068027336"/>
        <c:scaling>
          <c:orientation val="minMax"/>
        </c:scaling>
        <c:delete val="0"/>
        <c:axPos val="b"/>
        <c:majorTickMark val="none"/>
        <c:minorTickMark val="none"/>
        <c:tickLblPos val="nextTo"/>
        <c:spPr>
          <a:ln w="9525">
            <a:solidFill>
              <a:srgbClr val="7F7F7F"/>
            </a:solidFill>
          </a:ln>
        </c:spPr>
        <c:txPr>
          <a:bodyPr/>
          <a:lstStyle/>
          <a:p>
            <a:pPr>
              <a:defRPr sz="900">
                <a:latin typeface="Arial"/>
              </a:defRPr>
            </a:pPr>
          </a:p>
        </c:txPr>
        <c:crossAx val="-2113994440"/>
        <c:crosses val="autoZero"/>
        <c:auto val="1"/>
        <c:lblAlgn val="ctr"/>
        <c:lblOffset val="100"/>
        <c:noMultiLvlLbl val="0"/>
      </c:catAx>
      <c:valAx>
        <c:axId val="-2113994440"/>
        <c:scaling>
          <c:max val="3.565"/>
          <c:min val="0.0"/>
        </c:scaling>
        <c:delete/>
        <c:axPos val="l"/>
        <c:majorTickMark val="out"/>
        <c:minorTickMark val="none"/>
        <c:tickLblPos val="nextTo"/>
        <c:txPr>
          <a:bodyPr/>
          <a:lstStyle/>
          <a:p>
            <a:pPr>
              <a:defRPr sz="900"/>
            </a:pPr>
          </a:p>
        </c:txPr>
        <c:crossAx val="-2068027336"/>
        <c:crosses val="autoZero"/>
      </c:valAx>
      <c:spPr>
        <a:noFill/>
        <a:ln>
          <a:noFill/>
        </a:ln>
      </c:spPr>
    </c:plotArea>
    <c:dispBlanksAs val="gap"/>
  </c:chart>
  <c:spPr>
    <a:noFill/>
    <a:ln>
      <a:noFill/>
    </a:ln>
  </c:spPr>
  <c:txPr>
    <a:bodyPr/>
    <a:lstStyle/>
    <a:p>
      <a:pPr>
        <a:defRPr sz="900">
          <a:solidFill>
            <a:srgbClr val="000000"/>
          </a:solidFill>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B0EB1A-8AEA-7F3F-1A01-EBB1741B7992}"/>
              </a:ext>
            </a:extLst>
          </p:cNvPr>
          <p:cNvSpPr>
            <a:spLocks noGrp="1"/>
          </p:cNvSpPr>
          <p:nvPr>
            <p:ph type="hdr" sz="quarter"/>
          </p:nvPr>
        </p:nvSpPr>
        <p:spPr>
          <a:xfrm>
            <a:off x="0" y="0"/>
            <a:ext cx="3170238" cy="6191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729C36D-7B32-3359-A62B-5F136AEF160B}"/>
              </a:ext>
            </a:extLst>
          </p:cNvPr>
          <p:cNvSpPr>
            <a:spLocks noGrp="1"/>
          </p:cNvSpPr>
          <p:nvPr>
            <p:ph type="dt" sz="quarter" idx="1"/>
          </p:nvPr>
        </p:nvSpPr>
        <p:spPr>
          <a:xfrm>
            <a:off x="4143375" y="0"/>
            <a:ext cx="3170238" cy="619125"/>
          </a:xfrm>
          <a:prstGeom prst="rect">
            <a:avLst/>
          </a:prstGeom>
        </p:spPr>
        <p:txBody>
          <a:bodyPr vert="horz" lIns="91440" tIns="45720" rIns="91440" bIns="45720" rtlCol="0"/>
          <a:lstStyle>
            <a:lvl1pPr algn="r">
              <a:defRPr sz="1200"/>
            </a:lvl1pPr>
          </a:lstStyle>
          <a:p>
            <a:fld id="{F101C0D6-05B3-4ACF-8E39-BCB34DF184E8}" type="datetimeFigureOut">
              <a:rPr lang="en-US" smtClean="0"/>
              <a:t>10/1/2026</a:t>
            </a:fld>
            <a:endParaRPr lang="en-US"/>
          </a:p>
        </p:txBody>
      </p:sp>
      <p:sp>
        <p:nvSpPr>
          <p:cNvPr id="4" name="Footer Placeholder 3">
            <a:extLst>
              <a:ext uri="{FF2B5EF4-FFF2-40B4-BE49-F238E27FC236}">
                <a16:creationId xmlns:a16="http://schemas.microsoft.com/office/drawing/2014/main" id="{DEB01E89-54B8-23F7-585E-1B1C568D277E}"/>
              </a:ext>
            </a:extLst>
          </p:cNvPr>
          <p:cNvSpPr>
            <a:spLocks noGrp="1"/>
          </p:cNvSpPr>
          <p:nvPr>
            <p:ph type="ftr" sz="quarter" idx="2"/>
          </p:nvPr>
        </p:nvSpPr>
        <p:spPr>
          <a:xfrm>
            <a:off x="0" y="11725275"/>
            <a:ext cx="3170238" cy="6191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C90DD16-DAD6-2CE8-FEC6-33CDD77B30CD}"/>
              </a:ext>
            </a:extLst>
          </p:cNvPr>
          <p:cNvSpPr>
            <a:spLocks noGrp="1"/>
          </p:cNvSpPr>
          <p:nvPr>
            <p:ph type="sldNum" sz="quarter" idx="3"/>
          </p:nvPr>
        </p:nvSpPr>
        <p:spPr>
          <a:xfrm>
            <a:off x="4143375" y="11725275"/>
            <a:ext cx="3170238" cy="619125"/>
          </a:xfrm>
          <a:prstGeom prst="rect">
            <a:avLst/>
          </a:prstGeom>
        </p:spPr>
        <p:txBody>
          <a:bodyPr vert="horz" lIns="91440" tIns="45720" rIns="91440" bIns="45720" rtlCol="0" anchor="b"/>
          <a:lstStyle>
            <a:lvl1pPr algn="r">
              <a:defRPr sz="1200"/>
            </a:lvl1pPr>
          </a:lstStyle>
          <a:p>
            <a:fld id="{97B67920-FB51-4B8C-BACC-237CB5C34EC5}" type="slidenum">
              <a:rPr lang="en-US" smtClean="0"/>
              <a:t>‹#›</a:t>
            </a:fld>
            <a:endParaRPr lang="en-US"/>
          </a:p>
        </p:txBody>
      </p:sp>
    </p:spTree>
    <p:extLst>
      <p:ext uri="{BB962C8B-B14F-4D97-AF65-F5344CB8AC3E}">
        <p14:creationId xmlns:p14="http://schemas.microsoft.com/office/powerpoint/2010/main" val="22719212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170238" cy="619125"/>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4143375" y="0"/>
            <a:ext cx="3170238" cy="619125"/>
          </a:xfrm>
          <a:prstGeom prst="rect">
            <a:avLst/>
          </a:prstGeom>
        </p:spPr>
        <p:txBody>
          <a:bodyPr vert="horz" lIns="91440" tIns="45720" rIns="91440" bIns="45720" rtlCol="0"/>
          <a:lstStyle>
            <a:lvl1pPr algn="r">
              <a:defRPr sz="1200"/>
            </a:lvl1pPr>
          </a:lstStyle>
          <a:p>
            <a:fld id="{9D158C8C-6436-4601-A041-0CA519A1B529}" type="datetimeFigureOut">
              <a:rPr lang="es-MX" smtClean="0"/>
              <a:t>01/10/2026</a:t>
            </a:fld>
            <a:endParaRPr lang="es-MX"/>
          </a:p>
        </p:txBody>
      </p:sp>
      <p:sp>
        <p:nvSpPr>
          <p:cNvPr id="4" name="Marcador de imagen de diapositiva 3"/>
          <p:cNvSpPr>
            <a:spLocks noGrp="1" noRot="1" noChangeAspect="1"/>
          </p:cNvSpPr>
          <p:nvPr>
            <p:ph type="sldImg" idx="2"/>
          </p:nvPr>
        </p:nvSpPr>
        <p:spPr>
          <a:xfrm>
            <a:off x="-44450" y="1543050"/>
            <a:ext cx="7404100" cy="41656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731838" y="5940425"/>
            <a:ext cx="5851525" cy="4860925"/>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11725275"/>
            <a:ext cx="3170238" cy="619125"/>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4143375" y="11725275"/>
            <a:ext cx="3170238" cy="619125"/>
          </a:xfrm>
          <a:prstGeom prst="rect">
            <a:avLst/>
          </a:prstGeom>
        </p:spPr>
        <p:txBody>
          <a:bodyPr vert="horz" lIns="91440" tIns="45720" rIns="91440" bIns="45720" rtlCol="0" anchor="b"/>
          <a:lstStyle>
            <a:lvl1pPr algn="r">
              <a:defRPr sz="1200"/>
            </a:lvl1pPr>
          </a:lstStyle>
          <a:p>
            <a:fld id="{3DF902A1-0F12-4123-9C8D-069C2E8E07DC}" type="slidenum">
              <a:rPr lang="es-MX" smtClean="0"/>
              <a:t>‹#›</a:t>
            </a:fld>
            <a:endParaRPr lang="es-MX"/>
          </a:p>
        </p:txBody>
      </p:sp>
    </p:spTree>
    <p:extLst>
      <p:ext uri="{BB962C8B-B14F-4D97-AF65-F5344CB8AC3E}">
        <p14:creationId xmlns:p14="http://schemas.microsoft.com/office/powerpoint/2010/main" val="4231098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7F07B77-EC2B-E249-9734-1A241F3C2E5E}"/>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1" name="Text Placeholder 10">
            <a:extLst>
              <a:ext uri="{FF2B5EF4-FFF2-40B4-BE49-F238E27FC236}">
                <a16:creationId xmlns:a16="http://schemas.microsoft.com/office/drawing/2014/main" id="{91E635AE-82D2-B66B-328F-B1E1156D4D78}"/>
              </a:ext>
            </a:extLst>
          </p:cNvPr>
          <p:cNvSpPr>
            <a:spLocks noGrp="1"/>
          </p:cNvSpPr>
          <p:nvPr>
            <p:ph type="body" sz="quarter" idx="11" hasCustomPrompt="1"/>
          </p:nvPr>
        </p:nvSpPr>
        <p:spPr>
          <a:xfrm>
            <a:off x="498764" y="3246689"/>
            <a:ext cx="11693236" cy="909602"/>
          </a:xfrm>
          <a:prstGeom prst="rect">
            <a:avLst/>
          </a:prstGeom>
        </p:spPr>
        <p:txBody>
          <a:bodyPr lIns="0" anchor="ctr"/>
          <a:lstStyle>
            <a:lvl1pPr marL="0" indent="0">
              <a:buNone/>
              <a:defRPr sz="4000">
                <a:solidFill>
                  <a:schemeClr val="bg1"/>
                </a:solidFill>
                <a:latin typeface="+mj-lt"/>
              </a:defRPr>
            </a:lvl1pPr>
          </a:lstStyle>
          <a:p>
            <a:pPr lvl="0"/>
            <a:r>
              <a:rPr lang="en-US" noProof="0"/>
              <a:t>Title of Analysis</a:t>
            </a:r>
          </a:p>
        </p:txBody>
      </p:sp>
      <p:sp>
        <p:nvSpPr>
          <p:cNvPr id="13" name="Text Placeholder 10">
            <a:extLst>
              <a:ext uri="{FF2B5EF4-FFF2-40B4-BE49-F238E27FC236}">
                <a16:creationId xmlns:a16="http://schemas.microsoft.com/office/drawing/2014/main" id="{CC7BB4E6-730D-509F-3104-02F405529A3D}"/>
              </a:ext>
            </a:extLst>
          </p:cNvPr>
          <p:cNvSpPr>
            <a:spLocks noGrp="1"/>
          </p:cNvSpPr>
          <p:nvPr>
            <p:ph type="body" sz="quarter" idx="12" hasCustomPrompt="1"/>
          </p:nvPr>
        </p:nvSpPr>
        <p:spPr>
          <a:xfrm>
            <a:off x="498764" y="4156292"/>
            <a:ext cx="11693236" cy="459590"/>
          </a:xfrm>
          <a:prstGeom prst="rect">
            <a:avLst/>
          </a:prstGeom>
        </p:spPr>
        <p:txBody>
          <a:bodyPr lIns="0" anchor="t"/>
          <a:lstStyle>
            <a:lvl1pPr marL="0" indent="0">
              <a:buNone/>
              <a:defRPr sz="2400">
                <a:solidFill>
                  <a:schemeClr val="bg1"/>
                </a:solidFill>
                <a:latin typeface="+mj-lt"/>
              </a:defRPr>
            </a:lvl1pPr>
          </a:lstStyle>
          <a:p>
            <a:pPr lvl="0"/>
            <a:r>
              <a:rPr lang="en-US" noProof="0" dirty="0"/>
              <a:t>Subtitle of Analysis / Analyst Initials</a:t>
            </a:r>
          </a:p>
        </p:txBody>
      </p:sp>
      <p:pic>
        <p:nvPicPr>
          <p:cNvPr id="21" name="Picture 20" descr="A black and white logo&#10;&#10;Description automatically generated">
            <a:extLst>
              <a:ext uri="{FF2B5EF4-FFF2-40B4-BE49-F238E27FC236}">
                <a16:creationId xmlns:a16="http://schemas.microsoft.com/office/drawing/2014/main" id="{467376BC-9C0F-BC2C-7072-0D0DB72332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8764" y="1560281"/>
            <a:ext cx="4762864" cy="1111338"/>
          </a:xfrm>
          <a:prstGeom prst="rect">
            <a:avLst/>
          </a:prstGeom>
        </p:spPr>
      </p:pic>
    </p:spTree>
    <p:extLst>
      <p:ext uri="{BB962C8B-B14F-4D97-AF65-F5344CB8AC3E}">
        <p14:creationId xmlns:p14="http://schemas.microsoft.com/office/powerpoint/2010/main" val="2958343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claimer_1">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0C0FA438-A50E-6746-6904-9C99E89FDE4A}"/>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TextBox 4">
            <a:extLst>
              <a:ext uri="{FF2B5EF4-FFF2-40B4-BE49-F238E27FC236}">
                <a16:creationId xmlns:a16="http://schemas.microsoft.com/office/drawing/2014/main" id="{91FDDEA5-8A29-A472-3223-3D8D3392A192}"/>
              </a:ext>
            </a:extLst>
          </p:cNvPr>
          <p:cNvSpPr txBox="1"/>
          <p:nvPr userDrawn="1"/>
        </p:nvSpPr>
        <p:spPr>
          <a:xfrm>
            <a:off x="516676" y="487030"/>
            <a:ext cx="8995686" cy="414794"/>
          </a:xfrm>
          <a:prstGeom prst="rect">
            <a:avLst/>
          </a:prstGeom>
        </p:spPr>
        <p:txBody>
          <a:bodyPr lIns="0">
            <a:noAutofit/>
          </a:bodyPr>
          <a:lstStyle>
            <a:defPPr>
              <a:defRPr lang="es-MX"/>
            </a:defPPr>
            <a:lvl1pPr lvl="0">
              <a:lnSpc>
                <a:spcPct val="90000"/>
              </a:lnSpc>
              <a:spcBef>
                <a:spcPct val="0"/>
              </a:spcBef>
              <a:buNone/>
              <a:defRPr sz="2800" b="0">
                <a:latin typeface="Arial" panose="020B0604020202020204" pitchFamily="34" charset="0"/>
                <a:ea typeface="+mj-ea"/>
                <a:cs typeface="Arial" panose="020B0604020202020204" pitchFamily="34" charset="0"/>
              </a:defRPr>
            </a:lvl1pPr>
          </a:lstStyle>
          <a:p>
            <a:pPr lvl="0"/>
            <a:r>
              <a:rPr lang="en-US" noProof="0" dirty="0">
                <a:solidFill>
                  <a:schemeClr val="tx1"/>
                </a:solidFill>
              </a:rPr>
              <a:t>Disclaimer</a:t>
            </a:r>
          </a:p>
        </p:txBody>
      </p:sp>
      <p:cxnSp>
        <p:nvCxnSpPr>
          <p:cNvPr id="7" name="Conector recto 6">
            <a:extLst>
              <a:ext uri="{FF2B5EF4-FFF2-40B4-BE49-F238E27FC236}">
                <a16:creationId xmlns:a16="http://schemas.microsoft.com/office/drawing/2014/main" id="{4E6C3F20-2666-8543-8C31-2C5B3049A759}"/>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8" name="Imagen 7" descr="Imagen que contiene negro, firmar, hombre&#10;&#10;Descripción generada automáticamente">
            <a:extLst>
              <a:ext uri="{FF2B5EF4-FFF2-40B4-BE49-F238E27FC236}">
                <a16:creationId xmlns:a16="http://schemas.microsoft.com/office/drawing/2014/main" id="{7C331CAA-24FF-4CEB-B423-C1D80DD69E26}"/>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2" name="TextBox 1">
            <a:extLst>
              <a:ext uri="{FF2B5EF4-FFF2-40B4-BE49-F238E27FC236}">
                <a16:creationId xmlns:a16="http://schemas.microsoft.com/office/drawing/2014/main" id="{A61F37F1-2268-7286-14F6-02583EAFFBA2}"/>
              </a:ext>
            </a:extLst>
          </p:cNvPr>
          <p:cNvSpPr txBox="1"/>
          <p:nvPr userDrawn="1"/>
        </p:nvSpPr>
        <p:spPr>
          <a:xfrm>
            <a:off x="516676" y="1985818"/>
            <a:ext cx="11266695" cy="4207778"/>
          </a:xfrm>
          <a:prstGeom prst="rect">
            <a:avLst/>
          </a:prstGeom>
        </p:spPr>
        <p:txBody>
          <a:bodyPr lIns="0">
            <a:noAutofit/>
          </a:bodyPr>
          <a:lstStyle>
            <a:lvl1pPr lvl="0" indent="0">
              <a:lnSpc>
                <a:spcPct val="90000"/>
              </a:lnSpc>
              <a:spcBef>
                <a:spcPts val="1000"/>
              </a:spcBef>
              <a:buFont typeface="Arial" panose="020B0604020202020204" pitchFamily="34" charset="0"/>
              <a:buNone/>
              <a:defRPr sz="1400">
                <a:latin typeface="Arial" panose="020B0604020202020204" pitchFamily="34" charset="0"/>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endParaRPr lang="es-419" dirty="0"/>
          </a:p>
        </p:txBody>
      </p:sp>
      <p:sp>
        <p:nvSpPr>
          <p:cNvPr id="6" name="TextBox 5">
            <a:extLst>
              <a:ext uri="{FF2B5EF4-FFF2-40B4-BE49-F238E27FC236}">
                <a16:creationId xmlns:a16="http://schemas.microsoft.com/office/drawing/2014/main" id="{C9A0BA19-AA04-5C68-3357-C892BE04F8D9}"/>
              </a:ext>
            </a:extLst>
          </p:cNvPr>
          <p:cNvSpPr txBox="1"/>
          <p:nvPr userDrawn="1"/>
        </p:nvSpPr>
        <p:spPr>
          <a:xfrm>
            <a:off x="516676" y="1196456"/>
            <a:ext cx="11249123" cy="4810582"/>
          </a:xfrm>
          <a:prstGeom prst="rect">
            <a:avLst/>
          </a:prstGeom>
        </p:spPr>
        <p:txBody>
          <a:bodyPr lIns="0">
            <a:noAutofit/>
          </a:bodyPr>
          <a:lstStyle>
            <a:lvl1pPr lvl="0" indent="0">
              <a:lnSpc>
                <a:spcPct val="90000"/>
              </a:lnSpc>
              <a:spcBef>
                <a:spcPts val="1000"/>
              </a:spcBef>
              <a:buFont typeface="Arial" panose="020B0604020202020204" pitchFamily="34" charset="0"/>
              <a:buNone/>
              <a:defRPr sz="1400">
                <a:latin typeface="Arial" panose="020B0604020202020204" pitchFamily="34" charset="0"/>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just">
              <a:lnSpc>
                <a:spcPct val="150000"/>
              </a:lnSpc>
            </a:pPr>
            <a:r>
              <a:rPr lang="en-US" sz="1200" i="0" dirty="0"/>
              <a:t>The information contained in this presentation has been prepared by Aztlan Equity Management LLC for informational purposes only. It is not intended as, and should not be construed as, financial, investment, legal, or tax advice, nor as an offer or solicitation to buy or sell any securities or to participate in any investment strategy. Any projections, estimates, and forward-looking statements are speculative in nature and are subject to various risks and uncertainties, which may cause actual results to differ materially from the assumptions or expectations reflected in these materials.</a:t>
            </a:r>
          </a:p>
          <a:p>
            <a:pPr lvl="0" algn="just">
              <a:lnSpc>
                <a:spcPct val="150000"/>
              </a:lnSpc>
            </a:pPr>
            <a:r>
              <a:rPr lang="en-US" sz="1200" i="0" dirty="0"/>
              <a:t>Aztlan Equity Management LLC makes no representation or warranty, express or implied, as to the accuracy or completeness of the information presented. While efforts have been made to ensure the reliability of the data, Aztlan Equity Management LLC assumes no responsibility for errors or omissions, nor does it guarantee the achievement of any stated objectives. Past performance is not indicative of future results, and the value of investments can go down as well as up.</a:t>
            </a:r>
          </a:p>
          <a:p>
            <a:pPr lvl="0" algn="just">
              <a:lnSpc>
                <a:spcPct val="150000"/>
              </a:lnSpc>
            </a:pPr>
            <a:r>
              <a:rPr lang="en-US" sz="1200" i="0" dirty="0"/>
              <a:t>Investing involves risks, including the potential loss of principal, and investors should conduct their own due diligence or consult with a professional advisor before making any investment decisions. Aztlan Equity Management LLC and its affiliates shall not be liable for any direct, indirect, consequential, or incidental damages arising out of any use of, or reliance on, the information contained in this presentation.</a:t>
            </a:r>
          </a:p>
          <a:p>
            <a:pPr lvl="0" algn="just">
              <a:lnSpc>
                <a:spcPct val="150000"/>
              </a:lnSpc>
            </a:pPr>
            <a:r>
              <a:rPr lang="en-US" sz="1200" i="0" dirty="0"/>
              <a:t>All opinions and viewpoints expressed herein are those of Aztlan Equity Management LLC and are subject to change without notice. This material may not be reproduced, distributed, or transmitted to any other person without the prior written consent of Aztlan Equity Management LLC.</a:t>
            </a:r>
          </a:p>
        </p:txBody>
      </p:sp>
      <p:sp>
        <p:nvSpPr>
          <p:cNvPr id="11" name="Slide Number Placeholder 4">
            <a:extLst>
              <a:ext uri="{FF2B5EF4-FFF2-40B4-BE49-F238E27FC236}">
                <a16:creationId xmlns:a16="http://schemas.microsoft.com/office/drawing/2014/main" id="{BA04F41A-8F0B-706E-4153-3B461AD93A10}"/>
              </a:ext>
            </a:extLst>
          </p:cNvPr>
          <p:cNvSpPr>
            <a:spLocks noGrp="1"/>
          </p:cNvSpPr>
          <p:nvPr>
            <p:ph type="sldNum" sz="quarter" idx="12"/>
          </p:nvPr>
        </p:nvSpPr>
        <p:spPr>
          <a:xfrm>
            <a:off x="11353126" y="6356350"/>
            <a:ext cx="421460" cy="365123"/>
          </a:xfrm>
          <a:prstGeom prst="rect">
            <a:avLst/>
          </a:prstGeom>
        </p:spPr>
        <p:txBody>
          <a:bodyPr rIns="0" anchor="ctr"/>
          <a:lstStyle>
            <a:lvl1pPr algn="r">
              <a:defRPr sz="1100" i="1">
                <a:solidFill>
                  <a:srgbClr val="002060"/>
                </a:solidFill>
                <a:latin typeface="Arial" panose="020B0604020202020204" pitchFamily="34" charset="0"/>
                <a:cs typeface="Arial" panose="020B0604020202020204" pitchFamily="34" charset="0"/>
              </a:defRPr>
            </a:lvl1pPr>
          </a:lstStyle>
          <a:p>
            <a:fld id="{3623642F-8B6C-4948-BDBA-D9CE46053C76}" type="slidenum">
              <a:rPr lang="en-MX" smtClean="0"/>
              <a:pPr/>
              <a:t>‹#›</a:t>
            </a:fld>
            <a:endParaRPr lang="en-MX"/>
          </a:p>
        </p:txBody>
      </p:sp>
    </p:spTree>
    <p:extLst>
      <p:ext uri="{BB962C8B-B14F-4D97-AF65-F5344CB8AC3E}">
        <p14:creationId xmlns:p14="http://schemas.microsoft.com/office/powerpoint/2010/main" val="4203381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92B8F434-9817-9A24-A8D6-3376AB29519E}"/>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7" name="Conector recto 6">
            <a:extLst>
              <a:ext uri="{FF2B5EF4-FFF2-40B4-BE49-F238E27FC236}">
                <a16:creationId xmlns:a16="http://schemas.microsoft.com/office/drawing/2014/main" id="{4E6C3F20-2666-8543-8C31-2C5B3049A759}"/>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8" name="Imagen 7" descr="Imagen que contiene negro, firmar, hombre&#10;&#10;Descripción generada automáticamente">
            <a:extLst>
              <a:ext uri="{FF2B5EF4-FFF2-40B4-BE49-F238E27FC236}">
                <a16:creationId xmlns:a16="http://schemas.microsoft.com/office/drawing/2014/main" id="{7C331CAA-24FF-4CEB-B423-C1D80DD69E26}"/>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4" name="Text Placeholder 6">
            <a:extLst>
              <a:ext uri="{FF2B5EF4-FFF2-40B4-BE49-F238E27FC236}">
                <a16:creationId xmlns:a16="http://schemas.microsoft.com/office/drawing/2014/main" id="{10CC8164-8FB8-0BAF-6597-50836A007D3F}"/>
              </a:ext>
            </a:extLst>
          </p:cNvPr>
          <p:cNvSpPr>
            <a:spLocks noGrp="1"/>
          </p:cNvSpPr>
          <p:nvPr>
            <p:ph type="body" sz="quarter" idx="13"/>
          </p:nvPr>
        </p:nvSpPr>
        <p:spPr>
          <a:xfrm>
            <a:off x="525464" y="1352108"/>
            <a:ext cx="11257907" cy="4841488"/>
          </a:xfrm>
          <a:prstGeom prst="rect">
            <a:avLst/>
          </a:prstGeom>
        </p:spPr>
        <p:txBody>
          <a:bodyPr lIns="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12" name="Title 1">
            <a:extLst>
              <a:ext uri="{FF2B5EF4-FFF2-40B4-BE49-F238E27FC236}">
                <a16:creationId xmlns:a16="http://schemas.microsoft.com/office/drawing/2014/main" id="{C84385AE-5A58-AA0A-6FBC-DCBB0170EC3A}"/>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3" name="Subtítulo 2">
            <a:extLst>
              <a:ext uri="{FF2B5EF4-FFF2-40B4-BE49-F238E27FC236}">
                <a16:creationId xmlns:a16="http://schemas.microsoft.com/office/drawing/2014/main" id="{40983DC9-0401-3E91-2C38-17C369DE45B8}"/>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accent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20" name="Text Placeholder 5">
            <a:extLst>
              <a:ext uri="{FF2B5EF4-FFF2-40B4-BE49-F238E27FC236}">
                <a16:creationId xmlns:a16="http://schemas.microsoft.com/office/drawing/2014/main" id="{E80C2372-6B86-E2B2-6142-02AD8CF4873B}"/>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22" name="Slide Number Placeholder 4">
            <a:extLst>
              <a:ext uri="{FF2B5EF4-FFF2-40B4-BE49-F238E27FC236}">
                <a16:creationId xmlns:a16="http://schemas.microsoft.com/office/drawing/2014/main" id="{9AC34BD3-ABCE-9192-9AC9-9558DB51D042}"/>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dirty="0"/>
          </a:p>
        </p:txBody>
      </p:sp>
    </p:spTree>
    <p:extLst>
      <p:ext uri="{BB962C8B-B14F-4D97-AF65-F5344CB8AC3E}">
        <p14:creationId xmlns:p14="http://schemas.microsoft.com/office/powerpoint/2010/main" val="1489591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Chart">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2C74D7C4-B84E-294B-5981-6A73F0925A9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 name="Conector recto 6">
            <a:extLst>
              <a:ext uri="{FF2B5EF4-FFF2-40B4-BE49-F238E27FC236}">
                <a16:creationId xmlns:a16="http://schemas.microsoft.com/office/drawing/2014/main" id="{9E0B75B3-13EF-37CA-6829-71856F5E4064}"/>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n 7" descr="Imagen que contiene negro, firmar, hombre&#10;&#10;Descripción generada automáticamente">
            <a:extLst>
              <a:ext uri="{FF2B5EF4-FFF2-40B4-BE49-F238E27FC236}">
                <a16:creationId xmlns:a16="http://schemas.microsoft.com/office/drawing/2014/main" id="{05ECC982-E22C-57C2-AC52-FA02F3D441BB}"/>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3" name="Title 1">
            <a:extLst>
              <a:ext uri="{FF2B5EF4-FFF2-40B4-BE49-F238E27FC236}">
                <a16:creationId xmlns:a16="http://schemas.microsoft.com/office/drawing/2014/main" id="{0D5094BD-D4A8-BAE0-FC29-49F7827188EF}"/>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5" name="Subtítulo 2">
            <a:extLst>
              <a:ext uri="{FF2B5EF4-FFF2-40B4-BE49-F238E27FC236}">
                <a16:creationId xmlns:a16="http://schemas.microsoft.com/office/drawing/2014/main" id="{D1999416-8E00-C48F-77CB-57362CEC11FB}"/>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24" name="Chart Placeholder 14">
            <a:extLst>
              <a:ext uri="{FF2B5EF4-FFF2-40B4-BE49-F238E27FC236}">
                <a16:creationId xmlns:a16="http://schemas.microsoft.com/office/drawing/2014/main" id="{776688E8-1EDD-97EB-E252-6F8A63EE7DF8}"/>
              </a:ext>
            </a:extLst>
          </p:cNvPr>
          <p:cNvSpPr>
            <a:spLocks noGrp="1"/>
          </p:cNvSpPr>
          <p:nvPr>
            <p:ph type="chart" sz="quarter" idx="24"/>
          </p:nvPr>
        </p:nvSpPr>
        <p:spPr>
          <a:xfrm>
            <a:off x="516676" y="1279191"/>
            <a:ext cx="11266695" cy="4993153"/>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8" name="Text Placeholder 5">
            <a:extLst>
              <a:ext uri="{FF2B5EF4-FFF2-40B4-BE49-F238E27FC236}">
                <a16:creationId xmlns:a16="http://schemas.microsoft.com/office/drawing/2014/main" id="{AC74AF88-7224-1BB4-2AE1-0F5C0E2B225D}"/>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9" name="Slide Number Placeholder 4">
            <a:extLst>
              <a:ext uri="{FF2B5EF4-FFF2-40B4-BE49-F238E27FC236}">
                <a16:creationId xmlns:a16="http://schemas.microsoft.com/office/drawing/2014/main" id="{E572418D-CCF3-B270-9FFA-97CD0CF5F59C}"/>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a:p>
        </p:txBody>
      </p:sp>
    </p:spTree>
    <p:extLst>
      <p:ext uri="{BB962C8B-B14F-4D97-AF65-F5344CB8AC3E}">
        <p14:creationId xmlns:p14="http://schemas.microsoft.com/office/powerpoint/2010/main" val="142637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ChartTableBelow">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2C74D7C4-B84E-294B-5981-6A73F0925A9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 name="Conector recto 6">
            <a:extLst>
              <a:ext uri="{FF2B5EF4-FFF2-40B4-BE49-F238E27FC236}">
                <a16:creationId xmlns:a16="http://schemas.microsoft.com/office/drawing/2014/main" id="{9E0B75B3-13EF-37CA-6829-71856F5E4064}"/>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n 7" descr="Imagen que contiene negro, firmar, hombre&#10;&#10;Descripción generada automáticamente">
            <a:extLst>
              <a:ext uri="{FF2B5EF4-FFF2-40B4-BE49-F238E27FC236}">
                <a16:creationId xmlns:a16="http://schemas.microsoft.com/office/drawing/2014/main" id="{05ECC982-E22C-57C2-AC52-FA02F3D441BB}"/>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3" name="Title 1">
            <a:extLst>
              <a:ext uri="{FF2B5EF4-FFF2-40B4-BE49-F238E27FC236}">
                <a16:creationId xmlns:a16="http://schemas.microsoft.com/office/drawing/2014/main" id="{0D5094BD-D4A8-BAE0-FC29-49F7827188EF}"/>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5" name="Subtítulo 2">
            <a:extLst>
              <a:ext uri="{FF2B5EF4-FFF2-40B4-BE49-F238E27FC236}">
                <a16:creationId xmlns:a16="http://schemas.microsoft.com/office/drawing/2014/main" id="{D1999416-8E00-C48F-77CB-57362CEC11FB}"/>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24" name="Chart Placeholder 14">
            <a:extLst>
              <a:ext uri="{FF2B5EF4-FFF2-40B4-BE49-F238E27FC236}">
                <a16:creationId xmlns:a16="http://schemas.microsoft.com/office/drawing/2014/main" id="{776688E8-1EDD-97EB-E252-6F8A63EE7DF8}"/>
              </a:ext>
            </a:extLst>
          </p:cNvPr>
          <p:cNvSpPr>
            <a:spLocks noGrp="1"/>
          </p:cNvSpPr>
          <p:nvPr>
            <p:ph type="chart" sz="quarter" idx="24"/>
          </p:nvPr>
        </p:nvSpPr>
        <p:spPr>
          <a:xfrm>
            <a:off x="516676" y="1279192"/>
            <a:ext cx="11266695" cy="3255864"/>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8" name="Text Placeholder 5">
            <a:extLst>
              <a:ext uri="{FF2B5EF4-FFF2-40B4-BE49-F238E27FC236}">
                <a16:creationId xmlns:a16="http://schemas.microsoft.com/office/drawing/2014/main" id="{AC74AF88-7224-1BB4-2AE1-0F5C0E2B225D}"/>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9" name="Slide Number Placeholder 4">
            <a:extLst>
              <a:ext uri="{FF2B5EF4-FFF2-40B4-BE49-F238E27FC236}">
                <a16:creationId xmlns:a16="http://schemas.microsoft.com/office/drawing/2014/main" id="{E572418D-CCF3-B270-9FFA-97CD0CF5F59C}"/>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a:p>
        </p:txBody>
      </p:sp>
      <p:sp>
        <p:nvSpPr>
          <p:cNvPr id="4" name="Content Placeholder 3">
            <a:extLst>
              <a:ext uri="{FF2B5EF4-FFF2-40B4-BE49-F238E27FC236}">
                <a16:creationId xmlns:a16="http://schemas.microsoft.com/office/drawing/2014/main" id="{C3C12AFD-85DC-FFE5-E69A-A7DEE9B5DC39}"/>
              </a:ext>
            </a:extLst>
          </p:cNvPr>
          <p:cNvSpPr>
            <a:spLocks noGrp="1"/>
          </p:cNvSpPr>
          <p:nvPr>
            <p:ph sz="quarter" idx="25"/>
          </p:nvPr>
        </p:nvSpPr>
        <p:spPr>
          <a:xfrm>
            <a:off x="516676" y="4618038"/>
            <a:ext cx="11257812" cy="14890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419"/>
          </a:p>
        </p:txBody>
      </p:sp>
    </p:spTree>
    <p:extLst>
      <p:ext uri="{BB962C8B-B14F-4D97-AF65-F5344CB8AC3E}">
        <p14:creationId xmlns:p14="http://schemas.microsoft.com/office/powerpoint/2010/main" val="773097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ChartsVertical">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2C74D7C4-B84E-294B-5981-6A73F0925A9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 name="Conector recto 6">
            <a:extLst>
              <a:ext uri="{FF2B5EF4-FFF2-40B4-BE49-F238E27FC236}">
                <a16:creationId xmlns:a16="http://schemas.microsoft.com/office/drawing/2014/main" id="{9E0B75B3-13EF-37CA-6829-71856F5E4064}"/>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n 7" descr="Imagen que contiene negro, firmar, hombre&#10;&#10;Descripción generada automáticamente">
            <a:extLst>
              <a:ext uri="{FF2B5EF4-FFF2-40B4-BE49-F238E27FC236}">
                <a16:creationId xmlns:a16="http://schemas.microsoft.com/office/drawing/2014/main" id="{05ECC982-E22C-57C2-AC52-FA02F3D441BB}"/>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3" name="Title 1">
            <a:extLst>
              <a:ext uri="{FF2B5EF4-FFF2-40B4-BE49-F238E27FC236}">
                <a16:creationId xmlns:a16="http://schemas.microsoft.com/office/drawing/2014/main" id="{0D5094BD-D4A8-BAE0-FC29-49F7827188EF}"/>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5" name="Subtítulo 2">
            <a:extLst>
              <a:ext uri="{FF2B5EF4-FFF2-40B4-BE49-F238E27FC236}">
                <a16:creationId xmlns:a16="http://schemas.microsoft.com/office/drawing/2014/main" id="{D1999416-8E00-C48F-77CB-57362CEC11FB}"/>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6" name="Text Placeholder 5">
            <a:extLst>
              <a:ext uri="{FF2B5EF4-FFF2-40B4-BE49-F238E27FC236}">
                <a16:creationId xmlns:a16="http://schemas.microsoft.com/office/drawing/2014/main" id="{5A3DD8F5-1A5F-1F35-5057-366542BF3C59}"/>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22" name="Text Placeholder 17">
            <a:extLst>
              <a:ext uri="{FF2B5EF4-FFF2-40B4-BE49-F238E27FC236}">
                <a16:creationId xmlns:a16="http://schemas.microsoft.com/office/drawing/2014/main" id="{A1E1E2EC-35CE-D750-D007-0FBBAAC12DAF}"/>
              </a:ext>
            </a:extLst>
          </p:cNvPr>
          <p:cNvSpPr>
            <a:spLocks noGrp="1"/>
          </p:cNvSpPr>
          <p:nvPr>
            <p:ph type="body" sz="quarter" idx="22"/>
          </p:nvPr>
        </p:nvSpPr>
        <p:spPr>
          <a:xfrm>
            <a:off x="6432807" y="1704095"/>
            <a:ext cx="5341778" cy="220806"/>
          </a:xfrm>
          <a:prstGeom prst="rect">
            <a:avLst/>
          </a:prstGeom>
        </p:spPr>
        <p:txBody>
          <a:bodyPr lIns="0"/>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3" name="Text Placeholder 17">
            <a:extLst>
              <a:ext uri="{FF2B5EF4-FFF2-40B4-BE49-F238E27FC236}">
                <a16:creationId xmlns:a16="http://schemas.microsoft.com/office/drawing/2014/main" id="{2D4722E2-9434-349D-E736-22C8F7E6E325}"/>
              </a:ext>
            </a:extLst>
          </p:cNvPr>
          <p:cNvSpPr>
            <a:spLocks noGrp="1"/>
          </p:cNvSpPr>
          <p:nvPr>
            <p:ph type="body" sz="quarter" idx="23"/>
          </p:nvPr>
        </p:nvSpPr>
        <p:spPr>
          <a:xfrm>
            <a:off x="6432807" y="1346812"/>
            <a:ext cx="5341778" cy="313932"/>
          </a:xfrm>
          <a:prstGeom prst="rect">
            <a:avLst/>
          </a:prstGeom>
        </p:spPr>
        <p:txBody>
          <a:bodyPr lIns="0" anchor="b">
            <a:noAutofit/>
          </a:bodyPr>
          <a:lstStyle>
            <a:lvl1pPr marL="0" indent="0">
              <a:buNone/>
              <a:defRPr sz="1600" b="1" i="0">
                <a:solidFill>
                  <a:schemeClr val="accent5"/>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4" name="Chart Placeholder 14">
            <a:extLst>
              <a:ext uri="{FF2B5EF4-FFF2-40B4-BE49-F238E27FC236}">
                <a16:creationId xmlns:a16="http://schemas.microsoft.com/office/drawing/2014/main" id="{776688E8-1EDD-97EB-E252-6F8A63EE7DF8}"/>
              </a:ext>
            </a:extLst>
          </p:cNvPr>
          <p:cNvSpPr>
            <a:spLocks noGrp="1"/>
          </p:cNvSpPr>
          <p:nvPr>
            <p:ph type="chart" sz="quarter" idx="24"/>
          </p:nvPr>
        </p:nvSpPr>
        <p:spPr>
          <a:xfrm>
            <a:off x="6432807" y="4452484"/>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25" name="Text Placeholder 17">
            <a:extLst>
              <a:ext uri="{FF2B5EF4-FFF2-40B4-BE49-F238E27FC236}">
                <a16:creationId xmlns:a16="http://schemas.microsoft.com/office/drawing/2014/main" id="{F20A9A80-6FFB-99F6-ECBE-8CFE719033BD}"/>
              </a:ext>
            </a:extLst>
          </p:cNvPr>
          <p:cNvSpPr>
            <a:spLocks noGrp="1"/>
          </p:cNvSpPr>
          <p:nvPr>
            <p:ph type="body" sz="quarter" idx="25"/>
          </p:nvPr>
        </p:nvSpPr>
        <p:spPr>
          <a:xfrm>
            <a:off x="6432807" y="4225752"/>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6" name="Text Placeholder 17">
            <a:extLst>
              <a:ext uri="{FF2B5EF4-FFF2-40B4-BE49-F238E27FC236}">
                <a16:creationId xmlns:a16="http://schemas.microsoft.com/office/drawing/2014/main" id="{059B415B-13F1-9645-0AC0-DB150986491D}"/>
              </a:ext>
            </a:extLst>
          </p:cNvPr>
          <p:cNvSpPr>
            <a:spLocks noGrp="1"/>
          </p:cNvSpPr>
          <p:nvPr>
            <p:ph type="body" sz="quarter" idx="26"/>
          </p:nvPr>
        </p:nvSpPr>
        <p:spPr>
          <a:xfrm>
            <a:off x="6432807" y="3868469"/>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cxnSp>
        <p:nvCxnSpPr>
          <p:cNvPr id="30" name="Straight Connector 29">
            <a:extLst>
              <a:ext uri="{FF2B5EF4-FFF2-40B4-BE49-F238E27FC236}">
                <a16:creationId xmlns:a16="http://schemas.microsoft.com/office/drawing/2014/main" id="{F27EFA6E-13F7-E054-DBEC-8F7D53949A3F}"/>
              </a:ext>
            </a:extLst>
          </p:cNvPr>
          <p:cNvCxnSpPr>
            <a:cxnSpLocks/>
          </p:cNvCxnSpPr>
          <p:nvPr userDrawn="1"/>
        </p:nvCxnSpPr>
        <p:spPr>
          <a:xfrm flipV="1">
            <a:off x="6432339" y="1666647"/>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31" name="Chart Placeholder 14">
            <a:extLst>
              <a:ext uri="{FF2B5EF4-FFF2-40B4-BE49-F238E27FC236}">
                <a16:creationId xmlns:a16="http://schemas.microsoft.com/office/drawing/2014/main" id="{D4090BD7-F91C-DA21-4623-1D04ADA64B2C}"/>
              </a:ext>
            </a:extLst>
          </p:cNvPr>
          <p:cNvSpPr>
            <a:spLocks noGrp="1"/>
          </p:cNvSpPr>
          <p:nvPr>
            <p:ph type="chart" sz="quarter" idx="21"/>
          </p:nvPr>
        </p:nvSpPr>
        <p:spPr>
          <a:xfrm>
            <a:off x="6432807" y="1930827"/>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cxnSp>
        <p:nvCxnSpPr>
          <p:cNvPr id="32" name="Straight Connector 31">
            <a:extLst>
              <a:ext uri="{FF2B5EF4-FFF2-40B4-BE49-F238E27FC236}">
                <a16:creationId xmlns:a16="http://schemas.microsoft.com/office/drawing/2014/main" id="{58214282-EED8-4DDC-CAAE-7D0D72FC3EEB}"/>
              </a:ext>
            </a:extLst>
          </p:cNvPr>
          <p:cNvCxnSpPr>
            <a:cxnSpLocks/>
          </p:cNvCxnSpPr>
          <p:nvPr userDrawn="1"/>
        </p:nvCxnSpPr>
        <p:spPr>
          <a:xfrm flipV="1">
            <a:off x="6432339" y="4188304"/>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Text Placeholder 6">
            <a:extLst>
              <a:ext uri="{FF2B5EF4-FFF2-40B4-BE49-F238E27FC236}">
                <a16:creationId xmlns:a16="http://schemas.microsoft.com/office/drawing/2014/main" id="{3EE1FD8C-2099-3D7B-14B5-A29833CDAB7E}"/>
              </a:ext>
            </a:extLst>
          </p:cNvPr>
          <p:cNvSpPr>
            <a:spLocks noGrp="1"/>
          </p:cNvSpPr>
          <p:nvPr>
            <p:ph type="body" sz="quarter" idx="13"/>
          </p:nvPr>
        </p:nvSpPr>
        <p:spPr>
          <a:xfrm>
            <a:off x="525465" y="1352108"/>
            <a:ext cx="5341778" cy="4920236"/>
          </a:xfrm>
          <a:prstGeom prst="rect">
            <a:avLst/>
          </a:prstGeom>
        </p:spPr>
        <p:txBody>
          <a:bodyPr lIns="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8" name="Slide Number Placeholder 4">
            <a:extLst>
              <a:ext uri="{FF2B5EF4-FFF2-40B4-BE49-F238E27FC236}">
                <a16:creationId xmlns:a16="http://schemas.microsoft.com/office/drawing/2014/main" id="{76AA7F5C-B746-591C-E60E-09AF73B8AF29}"/>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dirty="0"/>
          </a:p>
        </p:txBody>
      </p:sp>
    </p:spTree>
    <p:extLst>
      <p:ext uri="{BB962C8B-B14F-4D97-AF65-F5344CB8AC3E}">
        <p14:creationId xmlns:p14="http://schemas.microsoft.com/office/powerpoint/2010/main" val="1632729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2ChartsVertical">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2C74D7C4-B84E-294B-5981-6A73F0925A9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 name="Conector recto 6">
            <a:extLst>
              <a:ext uri="{FF2B5EF4-FFF2-40B4-BE49-F238E27FC236}">
                <a16:creationId xmlns:a16="http://schemas.microsoft.com/office/drawing/2014/main" id="{9E0B75B3-13EF-37CA-6829-71856F5E4064}"/>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n 7" descr="Imagen que contiene negro, firmar, hombre&#10;&#10;Descripción generada automáticamente">
            <a:extLst>
              <a:ext uri="{FF2B5EF4-FFF2-40B4-BE49-F238E27FC236}">
                <a16:creationId xmlns:a16="http://schemas.microsoft.com/office/drawing/2014/main" id="{05ECC982-E22C-57C2-AC52-FA02F3D441BB}"/>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3" name="Title 1">
            <a:extLst>
              <a:ext uri="{FF2B5EF4-FFF2-40B4-BE49-F238E27FC236}">
                <a16:creationId xmlns:a16="http://schemas.microsoft.com/office/drawing/2014/main" id="{0D5094BD-D4A8-BAE0-FC29-49F7827188EF}"/>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5" name="Subtítulo 2">
            <a:extLst>
              <a:ext uri="{FF2B5EF4-FFF2-40B4-BE49-F238E27FC236}">
                <a16:creationId xmlns:a16="http://schemas.microsoft.com/office/drawing/2014/main" id="{D1999416-8E00-C48F-77CB-57362CEC11FB}"/>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6" name="Text Placeholder 5">
            <a:extLst>
              <a:ext uri="{FF2B5EF4-FFF2-40B4-BE49-F238E27FC236}">
                <a16:creationId xmlns:a16="http://schemas.microsoft.com/office/drawing/2014/main" id="{5A3DD8F5-1A5F-1F35-5057-366542BF3C59}"/>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22" name="Text Placeholder 17">
            <a:extLst>
              <a:ext uri="{FF2B5EF4-FFF2-40B4-BE49-F238E27FC236}">
                <a16:creationId xmlns:a16="http://schemas.microsoft.com/office/drawing/2014/main" id="{A1E1E2EC-35CE-D750-D007-0FBBAAC12DAF}"/>
              </a:ext>
            </a:extLst>
          </p:cNvPr>
          <p:cNvSpPr>
            <a:spLocks noGrp="1"/>
          </p:cNvSpPr>
          <p:nvPr>
            <p:ph type="body" sz="quarter" idx="22"/>
          </p:nvPr>
        </p:nvSpPr>
        <p:spPr>
          <a:xfrm>
            <a:off x="6432807" y="1704095"/>
            <a:ext cx="5341778" cy="220806"/>
          </a:xfrm>
          <a:prstGeom prst="rect">
            <a:avLst/>
          </a:prstGeom>
        </p:spPr>
        <p:txBody>
          <a:bodyPr lIns="0"/>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3" name="Text Placeholder 17">
            <a:extLst>
              <a:ext uri="{FF2B5EF4-FFF2-40B4-BE49-F238E27FC236}">
                <a16:creationId xmlns:a16="http://schemas.microsoft.com/office/drawing/2014/main" id="{2D4722E2-9434-349D-E736-22C8F7E6E325}"/>
              </a:ext>
            </a:extLst>
          </p:cNvPr>
          <p:cNvSpPr>
            <a:spLocks noGrp="1"/>
          </p:cNvSpPr>
          <p:nvPr>
            <p:ph type="body" sz="quarter" idx="23"/>
          </p:nvPr>
        </p:nvSpPr>
        <p:spPr>
          <a:xfrm>
            <a:off x="6432807" y="1346812"/>
            <a:ext cx="5341778" cy="313932"/>
          </a:xfrm>
          <a:prstGeom prst="rect">
            <a:avLst/>
          </a:prstGeom>
        </p:spPr>
        <p:txBody>
          <a:bodyPr lIns="0" anchor="b">
            <a:noAutofit/>
          </a:bodyPr>
          <a:lstStyle>
            <a:lvl1pPr marL="0" indent="0">
              <a:buNone/>
              <a:defRPr sz="1600" b="1" i="0">
                <a:solidFill>
                  <a:schemeClr val="accent5"/>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4" name="Chart Placeholder 14">
            <a:extLst>
              <a:ext uri="{FF2B5EF4-FFF2-40B4-BE49-F238E27FC236}">
                <a16:creationId xmlns:a16="http://schemas.microsoft.com/office/drawing/2014/main" id="{776688E8-1EDD-97EB-E252-6F8A63EE7DF8}"/>
              </a:ext>
            </a:extLst>
          </p:cNvPr>
          <p:cNvSpPr>
            <a:spLocks noGrp="1"/>
          </p:cNvSpPr>
          <p:nvPr>
            <p:ph type="chart" sz="quarter" idx="24"/>
          </p:nvPr>
        </p:nvSpPr>
        <p:spPr>
          <a:xfrm>
            <a:off x="6432807" y="4452484"/>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25" name="Text Placeholder 17">
            <a:extLst>
              <a:ext uri="{FF2B5EF4-FFF2-40B4-BE49-F238E27FC236}">
                <a16:creationId xmlns:a16="http://schemas.microsoft.com/office/drawing/2014/main" id="{F20A9A80-6FFB-99F6-ECBE-8CFE719033BD}"/>
              </a:ext>
            </a:extLst>
          </p:cNvPr>
          <p:cNvSpPr>
            <a:spLocks noGrp="1"/>
          </p:cNvSpPr>
          <p:nvPr>
            <p:ph type="body" sz="quarter" idx="25"/>
          </p:nvPr>
        </p:nvSpPr>
        <p:spPr>
          <a:xfrm>
            <a:off x="6432807" y="4225752"/>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6" name="Text Placeholder 17">
            <a:extLst>
              <a:ext uri="{FF2B5EF4-FFF2-40B4-BE49-F238E27FC236}">
                <a16:creationId xmlns:a16="http://schemas.microsoft.com/office/drawing/2014/main" id="{059B415B-13F1-9645-0AC0-DB150986491D}"/>
              </a:ext>
            </a:extLst>
          </p:cNvPr>
          <p:cNvSpPr>
            <a:spLocks noGrp="1"/>
          </p:cNvSpPr>
          <p:nvPr>
            <p:ph type="body" sz="quarter" idx="26"/>
          </p:nvPr>
        </p:nvSpPr>
        <p:spPr>
          <a:xfrm>
            <a:off x="6432807" y="3868469"/>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cxnSp>
        <p:nvCxnSpPr>
          <p:cNvPr id="30" name="Straight Connector 29">
            <a:extLst>
              <a:ext uri="{FF2B5EF4-FFF2-40B4-BE49-F238E27FC236}">
                <a16:creationId xmlns:a16="http://schemas.microsoft.com/office/drawing/2014/main" id="{F27EFA6E-13F7-E054-DBEC-8F7D53949A3F}"/>
              </a:ext>
            </a:extLst>
          </p:cNvPr>
          <p:cNvCxnSpPr>
            <a:cxnSpLocks/>
          </p:cNvCxnSpPr>
          <p:nvPr userDrawn="1"/>
        </p:nvCxnSpPr>
        <p:spPr>
          <a:xfrm flipV="1">
            <a:off x="6432339" y="1666647"/>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31" name="Chart Placeholder 14">
            <a:extLst>
              <a:ext uri="{FF2B5EF4-FFF2-40B4-BE49-F238E27FC236}">
                <a16:creationId xmlns:a16="http://schemas.microsoft.com/office/drawing/2014/main" id="{D4090BD7-F91C-DA21-4623-1D04ADA64B2C}"/>
              </a:ext>
            </a:extLst>
          </p:cNvPr>
          <p:cNvSpPr>
            <a:spLocks noGrp="1"/>
          </p:cNvSpPr>
          <p:nvPr>
            <p:ph type="chart" sz="quarter" idx="21"/>
          </p:nvPr>
        </p:nvSpPr>
        <p:spPr>
          <a:xfrm>
            <a:off x="6432807" y="1930827"/>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cxnSp>
        <p:nvCxnSpPr>
          <p:cNvPr id="32" name="Straight Connector 31">
            <a:extLst>
              <a:ext uri="{FF2B5EF4-FFF2-40B4-BE49-F238E27FC236}">
                <a16:creationId xmlns:a16="http://schemas.microsoft.com/office/drawing/2014/main" id="{58214282-EED8-4DDC-CAAE-7D0D72FC3EEB}"/>
              </a:ext>
            </a:extLst>
          </p:cNvPr>
          <p:cNvCxnSpPr>
            <a:cxnSpLocks/>
          </p:cNvCxnSpPr>
          <p:nvPr userDrawn="1"/>
        </p:nvCxnSpPr>
        <p:spPr>
          <a:xfrm flipV="1">
            <a:off x="6432339" y="4188304"/>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Text Placeholder 6">
            <a:extLst>
              <a:ext uri="{FF2B5EF4-FFF2-40B4-BE49-F238E27FC236}">
                <a16:creationId xmlns:a16="http://schemas.microsoft.com/office/drawing/2014/main" id="{3EE1FD8C-2099-3D7B-14B5-A29833CDAB7E}"/>
              </a:ext>
            </a:extLst>
          </p:cNvPr>
          <p:cNvSpPr>
            <a:spLocks noGrp="1"/>
          </p:cNvSpPr>
          <p:nvPr>
            <p:ph type="body" sz="quarter" idx="13"/>
          </p:nvPr>
        </p:nvSpPr>
        <p:spPr>
          <a:xfrm>
            <a:off x="525465" y="1352108"/>
            <a:ext cx="5341778" cy="4920236"/>
          </a:xfrm>
          <a:prstGeom prst="rect">
            <a:avLst/>
          </a:prstGeom>
        </p:spPr>
        <p:txBody>
          <a:bodyPr lIns="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8" name="Slide Number Placeholder 4">
            <a:extLst>
              <a:ext uri="{FF2B5EF4-FFF2-40B4-BE49-F238E27FC236}">
                <a16:creationId xmlns:a16="http://schemas.microsoft.com/office/drawing/2014/main" id="{76AA7F5C-B746-591C-E60E-09AF73B8AF29}"/>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dirty="0"/>
          </a:p>
        </p:txBody>
      </p:sp>
    </p:spTree>
    <p:extLst>
      <p:ext uri="{BB962C8B-B14F-4D97-AF65-F5344CB8AC3E}">
        <p14:creationId xmlns:p14="http://schemas.microsoft.com/office/powerpoint/2010/main" val="716259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ChartsSubtitles">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2C74D7C4-B84E-294B-5981-6A73F0925A9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 name="Conector recto 6">
            <a:extLst>
              <a:ext uri="{FF2B5EF4-FFF2-40B4-BE49-F238E27FC236}">
                <a16:creationId xmlns:a16="http://schemas.microsoft.com/office/drawing/2014/main" id="{9E0B75B3-13EF-37CA-6829-71856F5E4064}"/>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n 7" descr="Imagen que contiene negro, firmar, hombre&#10;&#10;Descripción generada automáticamente">
            <a:extLst>
              <a:ext uri="{FF2B5EF4-FFF2-40B4-BE49-F238E27FC236}">
                <a16:creationId xmlns:a16="http://schemas.microsoft.com/office/drawing/2014/main" id="{05ECC982-E22C-57C2-AC52-FA02F3D441BB}"/>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3" name="Title 1">
            <a:extLst>
              <a:ext uri="{FF2B5EF4-FFF2-40B4-BE49-F238E27FC236}">
                <a16:creationId xmlns:a16="http://schemas.microsoft.com/office/drawing/2014/main" id="{0D5094BD-D4A8-BAE0-FC29-49F7827188EF}"/>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5" name="Subtítulo 2">
            <a:extLst>
              <a:ext uri="{FF2B5EF4-FFF2-40B4-BE49-F238E27FC236}">
                <a16:creationId xmlns:a16="http://schemas.microsoft.com/office/drawing/2014/main" id="{D1999416-8E00-C48F-77CB-57362CEC11FB}"/>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8" name="Text Placeholder 17">
            <a:extLst>
              <a:ext uri="{FF2B5EF4-FFF2-40B4-BE49-F238E27FC236}">
                <a16:creationId xmlns:a16="http://schemas.microsoft.com/office/drawing/2014/main" id="{937244F1-151F-0C66-0BC7-3BAA047B3E89}"/>
              </a:ext>
            </a:extLst>
          </p:cNvPr>
          <p:cNvSpPr>
            <a:spLocks noGrp="1"/>
          </p:cNvSpPr>
          <p:nvPr>
            <p:ph type="body" sz="quarter" idx="17"/>
          </p:nvPr>
        </p:nvSpPr>
        <p:spPr>
          <a:xfrm>
            <a:off x="526211" y="1346812"/>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3" name="Text Placeholder 17">
            <a:extLst>
              <a:ext uri="{FF2B5EF4-FFF2-40B4-BE49-F238E27FC236}">
                <a16:creationId xmlns:a16="http://schemas.microsoft.com/office/drawing/2014/main" id="{2D4722E2-9434-349D-E736-22C8F7E6E325}"/>
              </a:ext>
            </a:extLst>
          </p:cNvPr>
          <p:cNvSpPr>
            <a:spLocks noGrp="1"/>
          </p:cNvSpPr>
          <p:nvPr>
            <p:ph type="body" sz="quarter" idx="23"/>
          </p:nvPr>
        </p:nvSpPr>
        <p:spPr>
          <a:xfrm>
            <a:off x="6432807" y="1346812"/>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cxnSp>
        <p:nvCxnSpPr>
          <p:cNvPr id="27" name="Straight Connector 26">
            <a:extLst>
              <a:ext uri="{FF2B5EF4-FFF2-40B4-BE49-F238E27FC236}">
                <a16:creationId xmlns:a16="http://schemas.microsoft.com/office/drawing/2014/main" id="{6D6D425F-05EF-4B81-A5F7-6BA1386CA2AF}"/>
              </a:ext>
            </a:extLst>
          </p:cNvPr>
          <p:cNvCxnSpPr>
            <a:cxnSpLocks/>
          </p:cNvCxnSpPr>
          <p:nvPr userDrawn="1"/>
        </p:nvCxnSpPr>
        <p:spPr>
          <a:xfrm>
            <a:off x="525462" y="1666647"/>
            <a:ext cx="534299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F27EFA6E-13F7-E054-DBEC-8F7D53949A3F}"/>
              </a:ext>
            </a:extLst>
          </p:cNvPr>
          <p:cNvCxnSpPr>
            <a:cxnSpLocks/>
          </p:cNvCxnSpPr>
          <p:nvPr userDrawn="1"/>
        </p:nvCxnSpPr>
        <p:spPr>
          <a:xfrm flipV="1">
            <a:off x="6432339" y="1666647"/>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34" name="Text Placeholder 5">
            <a:extLst>
              <a:ext uri="{FF2B5EF4-FFF2-40B4-BE49-F238E27FC236}">
                <a16:creationId xmlns:a16="http://schemas.microsoft.com/office/drawing/2014/main" id="{71296A4B-EA45-DF10-E46A-BDE45ED9B045}"/>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35" name="Slide Number Placeholder 4">
            <a:extLst>
              <a:ext uri="{FF2B5EF4-FFF2-40B4-BE49-F238E27FC236}">
                <a16:creationId xmlns:a16="http://schemas.microsoft.com/office/drawing/2014/main" id="{2A26B931-295C-D1C5-7199-54BA8F3B32D6}"/>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a:p>
        </p:txBody>
      </p:sp>
      <p:sp>
        <p:nvSpPr>
          <p:cNvPr id="2" name="Text Placeholder 17">
            <a:extLst>
              <a:ext uri="{FF2B5EF4-FFF2-40B4-BE49-F238E27FC236}">
                <a16:creationId xmlns:a16="http://schemas.microsoft.com/office/drawing/2014/main" id="{0727108E-007B-5E82-FD69-517BE260F8FA}"/>
              </a:ext>
            </a:extLst>
          </p:cNvPr>
          <p:cNvSpPr>
            <a:spLocks noGrp="1"/>
          </p:cNvSpPr>
          <p:nvPr>
            <p:ph type="body" sz="quarter" idx="16"/>
          </p:nvPr>
        </p:nvSpPr>
        <p:spPr>
          <a:xfrm>
            <a:off x="526211" y="1704095"/>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4" name="Text Placeholder 17">
            <a:extLst>
              <a:ext uri="{FF2B5EF4-FFF2-40B4-BE49-F238E27FC236}">
                <a16:creationId xmlns:a16="http://schemas.microsoft.com/office/drawing/2014/main" id="{9FFF4A3C-6DE5-7354-4210-0BC1A476D8DD}"/>
              </a:ext>
            </a:extLst>
          </p:cNvPr>
          <p:cNvSpPr>
            <a:spLocks noGrp="1"/>
          </p:cNvSpPr>
          <p:nvPr>
            <p:ph type="body" sz="quarter" idx="22"/>
          </p:nvPr>
        </p:nvSpPr>
        <p:spPr>
          <a:xfrm>
            <a:off x="6432807" y="1704095"/>
            <a:ext cx="5341778" cy="220806"/>
          </a:xfrm>
          <a:prstGeom prst="rect">
            <a:avLst/>
          </a:prstGeom>
        </p:spPr>
        <p:txBody>
          <a:bodyPr lIns="0"/>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6" name="Chart Placeholder 14">
            <a:extLst>
              <a:ext uri="{FF2B5EF4-FFF2-40B4-BE49-F238E27FC236}">
                <a16:creationId xmlns:a16="http://schemas.microsoft.com/office/drawing/2014/main" id="{B7815C6F-F1FA-1ABF-2257-FF2A3A7D9B6F}"/>
              </a:ext>
            </a:extLst>
          </p:cNvPr>
          <p:cNvSpPr>
            <a:spLocks noGrp="1"/>
          </p:cNvSpPr>
          <p:nvPr>
            <p:ph type="chart" sz="quarter" idx="15"/>
          </p:nvPr>
        </p:nvSpPr>
        <p:spPr>
          <a:xfrm>
            <a:off x="526211" y="1930827"/>
            <a:ext cx="5341778" cy="424830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7" name="Chart Placeholder 14">
            <a:extLst>
              <a:ext uri="{FF2B5EF4-FFF2-40B4-BE49-F238E27FC236}">
                <a16:creationId xmlns:a16="http://schemas.microsoft.com/office/drawing/2014/main" id="{F2EDC406-DFB4-24AB-D59C-4D6CE036EB5E}"/>
              </a:ext>
            </a:extLst>
          </p:cNvPr>
          <p:cNvSpPr>
            <a:spLocks noGrp="1"/>
          </p:cNvSpPr>
          <p:nvPr>
            <p:ph type="chart" sz="quarter" idx="21"/>
          </p:nvPr>
        </p:nvSpPr>
        <p:spPr>
          <a:xfrm>
            <a:off x="6432807" y="1930827"/>
            <a:ext cx="5341778" cy="424830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Tree>
    <p:extLst>
      <p:ext uri="{BB962C8B-B14F-4D97-AF65-F5344CB8AC3E}">
        <p14:creationId xmlns:p14="http://schemas.microsoft.com/office/powerpoint/2010/main" val="3242462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ChartsHorizontal">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2C74D7C4-B84E-294B-5981-6A73F0925A9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 name="Conector recto 6">
            <a:extLst>
              <a:ext uri="{FF2B5EF4-FFF2-40B4-BE49-F238E27FC236}">
                <a16:creationId xmlns:a16="http://schemas.microsoft.com/office/drawing/2014/main" id="{9E0B75B3-13EF-37CA-6829-71856F5E4064}"/>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n 7" descr="Imagen que contiene negro, firmar, hombre&#10;&#10;Descripción generada automáticamente">
            <a:extLst>
              <a:ext uri="{FF2B5EF4-FFF2-40B4-BE49-F238E27FC236}">
                <a16:creationId xmlns:a16="http://schemas.microsoft.com/office/drawing/2014/main" id="{05ECC982-E22C-57C2-AC52-FA02F3D441BB}"/>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3" name="Title 1">
            <a:extLst>
              <a:ext uri="{FF2B5EF4-FFF2-40B4-BE49-F238E27FC236}">
                <a16:creationId xmlns:a16="http://schemas.microsoft.com/office/drawing/2014/main" id="{0D5094BD-D4A8-BAE0-FC29-49F7827188EF}"/>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5" name="Subtítulo 2">
            <a:extLst>
              <a:ext uri="{FF2B5EF4-FFF2-40B4-BE49-F238E27FC236}">
                <a16:creationId xmlns:a16="http://schemas.microsoft.com/office/drawing/2014/main" id="{D1999416-8E00-C48F-77CB-57362CEC11FB}"/>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9" name="Chart Placeholder 14">
            <a:extLst>
              <a:ext uri="{FF2B5EF4-FFF2-40B4-BE49-F238E27FC236}">
                <a16:creationId xmlns:a16="http://schemas.microsoft.com/office/drawing/2014/main" id="{3DB3157F-F904-DB93-F019-0F5DD59607AD}"/>
              </a:ext>
            </a:extLst>
          </p:cNvPr>
          <p:cNvSpPr>
            <a:spLocks noGrp="1"/>
          </p:cNvSpPr>
          <p:nvPr>
            <p:ph type="chart" sz="quarter" idx="18"/>
          </p:nvPr>
        </p:nvSpPr>
        <p:spPr>
          <a:xfrm>
            <a:off x="526211" y="4452484"/>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20" name="Text Placeholder 17">
            <a:extLst>
              <a:ext uri="{FF2B5EF4-FFF2-40B4-BE49-F238E27FC236}">
                <a16:creationId xmlns:a16="http://schemas.microsoft.com/office/drawing/2014/main" id="{D021A9F0-A608-D3C2-2188-221306F9A351}"/>
              </a:ext>
            </a:extLst>
          </p:cNvPr>
          <p:cNvSpPr>
            <a:spLocks noGrp="1"/>
          </p:cNvSpPr>
          <p:nvPr>
            <p:ph type="body" sz="quarter" idx="19"/>
          </p:nvPr>
        </p:nvSpPr>
        <p:spPr>
          <a:xfrm>
            <a:off x="526211" y="4225752"/>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1" name="Text Placeholder 17">
            <a:extLst>
              <a:ext uri="{FF2B5EF4-FFF2-40B4-BE49-F238E27FC236}">
                <a16:creationId xmlns:a16="http://schemas.microsoft.com/office/drawing/2014/main" id="{7ED7B234-FCD9-0FE2-A17A-199F67EA5BDD}"/>
              </a:ext>
            </a:extLst>
          </p:cNvPr>
          <p:cNvSpPr>
            <a:spLocks noGrp="1"/>
          </p:cNvSpPr>
          <p:nvPr>
            <p:ph type="body" sz="quarter" idx="20"/>
          </p:nvPr>
        </p:nvSpPr>
        <p:spPr>
          <a:xfrm>
            <a:off x="526211" y="3868469"/>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4" name="Chart Placeholder 14">
            <a:extLst>
              <a:ext uri="{FF2B5EF4-FFF2-40B4-BE49-F238E27FC236}">
                <a16:creationId xmlns:a16="http://schemas.microsoft.com/office/drawing/2014/main" id="{776688E8-1EDD-97EB-E252-6F8A63EE7DF8}"/>
              </a:ext>
            </a:extLst>
          </p:cNvPr>
          <p:cNvSpPr>
            <a:spLocks noGrp="1"/>
          </p:cNvSpPr>
          <p:nvPr>
            <p:ph type="chart" sz="quarter" idx="24"/>
          </p:nvPr>
        </p:nvSpPr>
        <p:spPr>
          <a:xfrm>
            <a:off x="6432807" y="4452484"/>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25" name="Text Placeholder 17">
            <a:extLst>
              <a:ext uri="{FF2B5EF4-FFF2-40B4-BE49-F238E27FC236}">
                <a16:creationId xmlns:a16="http://schemas.microsoft.com/office/drawing/2014/main" id="{F20A9A80-6FFB-99F6-ECBE-8CFE719033BD}"/>
              </a:ext>
            </a:extLst>
          </p:cNvPr>
          <p:cNvSpPr>
            <a:spLocks noGrp="1"/>
          </p:cNvSpPr>
          <p:nvPr>
            <p:ph type="body" sz="quarter" idx="25"/>
          </p:nvPr>
        </p:nvSpPr>
        <p:spPr>
          <a:xfrm>
            <a:off x="6432807" y="4225752"/>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6" name="Text Placeholder 17">
            <a:extLst>
              <a:ext uri="{FF2B5EF4-FFF2-40B4-BE49-F238E27FC236}">
                <a16:creationId xmlns:a16="http://schemas.microsoft.com/office/drawing/2014/main" id="{059B415B-13F1-9645-0AC0-DB150986491D}"/>
              </a:ext>
            </a:extLst>
          </p:cNvPr>
          <p:cNvSpPr>
            <a:spLocks noGrp="1"/>
          </p:cNvSpPr>
          <p:nvPr>
            <p:ph type="body" sz="quarter" idx="26"/>
          </p:nvPr>
        </p:nvSpPr>
        <p:spPr>
          <a:xfrm>
            <a:off x="6432807" y="3868469"/>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cxnSp>
        <p:nvCxnSpPr>
          <p:cNvPr id="29" name="Straight Connector 28">
            <a:extLst>
              <a:ext uri="{FF2B5EF4-FFF2-40B4-BE49-F238E27FC236}">
                <a16:creationId xmlns:a16="http://schemas.microsoft.com/office/drawing/2014/main" id="{E1CA71B5-BD3F-C6AF-78E7-41A0B46A23B5}"/>
              </a:ext>
            </a:extLst>
          </p:cNvPr>
          <p:cNvCxnSpPr>
            <a:cxnSpLocks/>
          </p:cNvCxnSpPr>
          <p:nvPr userDrawn="1"/>
        </p:nvCxnSpPr>
        <p:spPr>
          <a:xfrm>
            <a:off x="526211" y="4188304"/>
            <a:ext cx="53422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58214282-EED8-4DDC-CAAE-7D0D72FC3EEB}"/>
              </a:ext>
            </a:extLst>
          </p:cNvPr>
          <p:cNvCxnSpPr>
            <a:cxnSpLocks/>
          </p:cNvCxnSpPr>
          <p:nvPr userDrawn="1"/>
        </p:nvCxnSpPr>
        <p:spPr>
          <a:xfrm flipV="1">
            <a:off x="6432339" y="4188304"/>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Text Placeholder 6">
            <a:extLst>
              <a:ext uri="{FF2B5EF4-FFF2-40B4-BE49-F238E27FC236}">
                <a16:creationId xmlns:a16="http://schemas.microsoft.com/office/drawing/2014/main" id="{DCCF72A4-A593-92A3-1A38-6B8BBB40B6E6}"/>
              </a:ext>
            </a:extLst>
          </p:cNvPr>
          <p:cNvSpPr>
            <a:spLocks noGrp="1"/>
          </p:cNvSpPr>
          <p:nvPr>
            <p:ph type="body" sz="quarter" idx="13"/>
          </p:nvPr>
        </p:nvSpPr>
        <p:spPr>
          <a:xfrm>
            <a:off x="516676" y="1352108"/>
            <a:ext cx="11257909" cy="2360907"/>
          </a:xfrm>
          <a:prstGeom prst="rect">
            <a:avLst/>
          </a:prstGeom>
        </p:spPr>
        <p:txBody>
          <a:bodyPr lIns="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8" name="Text Placeholder 5">
            <a:extLst>
              <a:ext uri="{FF2B5EF4-FFF2-40B4-BE49-F238E27FC236}">
                <a16:creationId xmlns:a16="http://schemas.microsoft.com/office/drawing/2014/main" id="{0F63F32C-A8F4-A2CB-9913-9867A6810841}"/>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9" name="Slide Number Placeholder 4">
            <a:extLst>
              <a:ext uri="{FF2B5EF4-FFF2-40B4-BE49-F238E27FC236}">
                <a16:creationId xmlns:a16="http://schemas.microsoft.com/office/drawing/2014/main" id="{1C9D4CCC-1F73-D1E4-B422-FE8E254DCE14}"/>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a:p>
        </p:txBody>
      </p:sp>
    </p:spTree>
    <p:extLst>
      <p:ext uri="{BB962C8B-B14F-4D97-AF65-F5344CB8AC3E}">
        <p14:creationId xmlns:p14="http://schemas.microsoft.com/office/powerpoint/2010/main" val="1506090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Charts">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2C74D7C4-B84E-294B-5981-6A73F0925A9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 name="Conector recto 6">
            <a:extLst>
              <a:ext uri="{FF2B5EF4-FFF2-40B4-BE49-F238E27FC236}">
                <a16:creationId xmlns:a16="http://schemas.microsoft.com/office/drawing/2014/main" id="{9E0B75B3-13EF-37CA-6829-71856F5E4064}"/>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n 7" descr="Imagen que contiene negro, firmar, hombre&#10;&#10;Descripción generada automáticamente">
            <a:extLst>
              <a:ext uri="{FF2B5EF4-FFF2-40B4-BE49-F238E27FC236}">
                <a16:creationId xmlns:a16="http://schemas.microsoft.com/office/drawing/2014/main" id="{05ECC982-E22C-57C2-AC52-FA02F3D441BB}"/>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3" name="Title 1">
            <a:extLst>
              <a:ext uri="{FF2B5EF4-FFF2-40B4-BE49-F238E27FC236}">
                <a16:creationId xmlns:a16="http://schemas.microsoft.com/office/drawing/2014/main" id="{0D5094BD-D4A8-BAE0-FC29-49F7827188EF}"/>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5" name="Subtítulo 2">
            <a:extLst>
              <a:ext uri="{FF2B5EF4-FFF2-40B4-BE49-F238E27FC236}">
                <a16:creationId xmlns:a16="http://schemas.microsoft.com/office/drawing/2014/main" id="{D1999416-8E00-C48F-77CB-57362CEC11FB}"/>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9" name="Chart Placeholder 14">
            <a:extLst>
              <a:ext uri="{FF2B5EF4-FFF2-40B4-BE49-F238E27FC236}">
                <a16:creationId xmlns:a16="http://schemas.microsoft.com/office/drawing/2014/main" id="{3DB3157F-F904-DB93-F019-0F5DD59607AD}"/>
              </a:ext>
            </a:extLst>
          </p:cNvPr>
          <p:cNvSpPr>
            <a:spLocks noGrp="1"/>
          </p:cNvSpPr>
          <p:nvPr>
            <p:ph type="chart" sz="quarter" idx="18"/>
          </p:nvPr>
        </p:nvSpPr>
        <p:spPr>
          <a:xfrm>
            <a:off x="526211" y="4452484"/>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20" name="Text Placeholder 17">
            <a:extLst>
              <a:ext uri="{FF2B5EF4-FFF2-40B4-BE49-F238E27FC236}">
                <a16:creationId xmlns:a16="http://schemas.microsoft.com/office/drawing/2014/main" id="{D021A9F0-A608-D3C2-2188-221306F9A351}"/>
              </a:ext>
            </a:extLst>
          </p:cNvPr>
          <p:cNvSpPr>
            <a:spLocks noGrp="1"/>
          </p:cNvSpPr>
          <p:nvPr>
            <p:ph type="body" sz="quarter" idx="19"/>
          </p:nvPr>
        </p:nvSpPr>
        <p:spPr>
          <a:xfrm>
            <a:off x="526211" y="4225752"/>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1" name="Text Placeholder 17">
            <a:extLst>
              <a:ext uri="{FF2B5EF4-FFF2-40B4-BE49-F238E27FC236}">
                <a16:creationId xmlns:a16="http://schemas.microsoft.com/office/drawing/2014/main" id="{7ED7B234-FCD9-0FE2-A17A-199F67EA5BDD}"/>
              </a:ext>
            </a:extLst>
          </p:cNvPr>
          <p:cNvSpPr>
            <a:spLocks noGrp="1"/>
          </p:cNvSpPr>
          <p:nvPr>
            <p:ph type="body" sz="quarter" idx="20"/>
          </p:nvPr>
        </p:nvSpPr>
        <p:spPr>
          <a:xfrm>
            <a:off x="526211" y="3868469"/>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2" name="Text Placeholder 17">
            <a:extLst>
              <a:ext uri="{FF2B5EF4-FFF2-40B4-BE49-F238E27FC236}">
                <a16:creationId xmlns:a16="http://schemas.microsoft.com/office/drawing/2014/main" id="{A1E1E2EC-35CE-D750-D007-0FBBAAC12DAF}"/>
              </a:ext>
            </a:extLst>
          </p:cNvPr>
          <p:cNvSpPr>
            <a:spLocks noGrp="1"/>
          </p:cNvSpPr>
          <p:nvPr>
            <p:ph type="body" sz="quarter" idx="22"/>
          </p:nvPr>
        </p:nvSpPr>
        <p:spPr>
          <a:xfrm>
            <a:off x="6432807" y="1704095"/>
            <a:ext cx="5341778" cy="220806"/>
          </a:xfrm>
          <a:prstGeom prst="rect">
            <a:avLst/>
          </a:prstGeom>
        </p:spPr>
        <p:txBody>
          <a:bodyPr lIns="0"/>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3" name="Text Placeholder 17">
            <a:extLst>
              <a:ext uri="{FF2B5EF4-FFF2-40B4-BE49-F238E27FC236}">
                <a16:creationId xmlns:a16="http://schemas.microsoft.com/office/drawing/2014/main" id="{2D4722E2-9434-349D-E736-22C8F7E6E325}"/>
              </a:ext>
            </a:extLst>
          </p:cNvPr>
          <p:cNvSpPr>
            <a:spLocks noGrp="1"/>
          </p:cNvSpPr>
          <p:nvPr>
            <p:ph type="body" sz="quarter" idx="23"/>
          </p:nvPr>
        </p:nvSpPr>
        <p:spPr>
          <a:xfrm>
            <a:off x="6432807" y="1346812"/>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4" name="Chart Placeholder 14">
            <a:extLst>
              <a:ext uri="{FF2B5EF4-FFF2-40B4-BE49-F238E27FC236}">
                <a16:creationId xmlns:a16="http://schemas.microsoft.com/office/drawing/2014/main" id="{776688E8-1EDD-97EB-E252-6F8A63EE7DF8}"/>
              </a:ext>
            </a:extLst>
          </p:cNvPr>
          <p:cNvSpPr>
            <a:spLocks noGrp="1"/>
          </p:cNvSpPr>
          <p:nvPr>
            <p:ph type="chart" sz="quarter" idx="24"/>
          </p:nvPr>
        </p:nvSpPr>
        <p:spPr>
          <a:xfrm>
            <a:off x="6432807" y="4452484"/>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25" name="Text Placeholder 17">
            <a:extLst>
              <a:ext uri="{FF2B5EF4-FFF2-40B4-BE49-F238E27FC236}">
                <a16:creationId xmlns:a16="http://schemas.microsoft.com/office/drawing/2014/main" id="{F20A9A80-6FFB-99F6-ECBE-8CFE719033BD}"/>
              </a:ext>
            </a:extLst>
          </p:cNvPr>
          <p:cNvSpPr>
            <a:spLocks noGrp="1"/>
          </p:cNvSpPr>
          <p:nvPr>
            <p:ph type="body" sz="quarter" idx="25"/>
          </p:nvPr>
        </p:nvSpPr>
        <p:spPr>
          <a:xfrm>
            <a:off x="6432807" y="4225752"/>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6" name="Text Placeholder 17">
            <a:extLst>
              <a:ext uri="{FF2B5EF4-FFF2-40B4-BE49-F238E27FC236}">
                <a16:creationId xmlns:a16="http://schemas.microsoft.com/office/drawing/2014/main" id="{059B415B-13F1-9645-0AC0-DB150986491D}"/>
              </a:ext>
            </a:extLst>
          </p:cNvPr>
          <p:cNvSpPr>
            <a:spLocks noGrp="1"/>
          </p:cNvSpPr>
          <p:nvPr>
            <p:ph type="body" sz="quarter" idx="26"/>
          </p:nvPr>
        </p:nvSpPr>
        <p:spPr>
          <a:xfrm>
            <a:off x="6432807" y="3868469"/>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cxnSp>
        <p:nvCxnSpPr>
          <p:cNvPr id="29" name="Straight Connector 28">
            <a:extLst>
              <a:ext uri="{FF2B5EF4-FFF2-40B4-BE49-F238E27FC236}">
                <a16:creationId xmlns:a16="http://schemas.microsoft.com/office/drawing/2014/main" id="{E1CA71B5-BD3F-C6AF-78E7-41A0B46A23B5}"/>
              </a:ext>
            </a:extLst>
          </p:cNvPr>
          <p:cNvCxnSpPr>
            <a:cxnSpLocks/>
          </p:cNvCxnSpPr>
          <p:nvPr userDrawn="1"/>
        </p:nvCxnSpPr>
        <p:spPr>
          <a:xfrm>
            <a:off x="526211" y="4188304"/>
            <a:ext cx="53422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F27EFA6E-13F7-E054-DBEC-8F7D53949A3F}"/>
              </a:ext>
            </a:extLst>
          </p:cNvPr>
          <p:cNvCxnSpPr>
            <a:cxnSpLocks/>
          </p:cNvCxnSpPr>
          <p:nvPr userDrawn="1"/>
        </p:nvCxnSpPr>
        <p:spPr>
          <a:xfrm flipV="1">
            <a:off x="6432339" y="1666647"/>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31" name="Chart Placeholder 14">
            <a:extLst>
              <a:ext uri="{FF2B5EF4-FFF2-40B4-BE49-F238E27FC236}">
                <a16:creationId xmlns:a16="http://schemas.microsoft.com/office/drawing/2014/main" id="{D4090BD7-F91C-DA21-4623-1D04ADA64B2C}"/>
              </a:ext>
            </a:extLst>
          </p:cNvPr>
          <p:cNvSpPr>
            <a:spLocks noGrp="1"/>
          </p:cNvSpPr>
          <p:nvPr>
            <p:ph type="chart" sz="quarter" idx="21"/>
          </p:nvPr>
        </p:nvSpPr>
        <p:spPr>
          <a:xfrm>
            <a:off x="6432807" y="1930827"/>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cxnSp>
        <p:nvCxnSpPr>
          <p:cNvPr id="32" name="Straight Connector 31">
            <a:extLst>
              <a:ext uri="{FF2B5EF4-FFF2-40B4-BE49-F238E27FC236}">
                <a16:creationId xmlns:a16="http://schemas.microsoft.com/office/drawing/2014/main" id="{58214282-EED8-4DDC-CAAE-7D0D72FC3EEB}"/>
              </a:ext>
            </a:extLst>
          </p:cNvPr>
          <p:cNvCxnSpPr>
            <a:cxnSpLocks/>
          </p:cNvCxnSpPr>
          <p:nvPr userDrawn="1"/>
        </p:nvCxnSpPr>
        <p:spPr>
          <a:xfrm flipV="1">
            <a:off x="6432339" y="4188304"/>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Text Placeholder 6">
            <a:extLst>
              <a:ext uri="{FF2B5EF4-FFF2-40B4-BE49-F238E27FC236}">
                <a16:creationId xmlns:a16="http://schemas.microsoft.com/office/drawing/2014/main" id="{85DC6371-BAEC-8F27-FC64-DF1101CFA5BF}"/>
              </a:ext>
            </a:extLst>
          </p:cNvPr>
          <p:cNvSpPr>
            <a:spLocks noGrp="1"/>
          </p:cNvSpPr>
          <p:nvPr>
            <p:ph type="body" sz="quarter" idx="13"/>
          </p:nvPr>
        </p:nvSpPr>
        <p:spPr>
          <a:xfrm>
            <a:off x="525465" y="1352108"/>
            <a:ext cx="5341778" cy="2398576"/>
          </a:xfrm>
          <a:prstGeom prst="rect">
            <a:avLst/>
          </a:prstGeom>
        </p:spPr>
        <p:txBody>
          <a:bodyPr lIns="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8" name="Text Placeholder 5">
            <a:extLst>
              <a:ext uri="{FF2B5EF4-FFF2-40B4-BE49-F238E27FC236}">
                <a16:creationId xmlns:a16="http://schemas.microsoft.com/office/drawing/2014/main" id="{2B529DA2-B3D2-9772-FECF-B2C38A35C2EE}"/>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9" name="Slide Number Placeholder 4">
            <a:extLst>
              <a:ext uri="{FF2B5EF4-FFF2-40B4-BE49-F238E27FC236}">
                <a16:creationId xmlns:a16="http://schemas.microsoft.com/office/drawing/2014/main" id="{1B77CD91-06C6-C3AD-2CC5-860FB55C427A}"/>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a:p>
        </p:txBody>
      </p:sp>
    </p:spTree>
    <p:extLst>
      <p:ext uri="{BB962C8B-B14F-4D97-AF65-F5344CB8AC3E}">
        <p14:creationId xmlns:p14="http://schemas.microsoft.com/office/powerpoint/2010/main" val="1666393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Charts">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2C74D7C4-B84E-294B-5981-6A73F0925A9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 name="Conector recto 6">
            <a:extLst>
              <a:ext uri="{FF2B5EF4-FFF2-40B4-BE49-F238E27FC236}">
                <a16:creationId xmlns:a16="http://schemas.microsoft.com/office/drawing/2014/main" id="{9E0B75B3-13EF-37CA-6829-71856F5E4064}"/>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n 7" descr="Imagen que contiene negro, firmar, hombre&#10;&#10;Descripción generada automáticamente">
            <a:extLst>
              <a:ext uri="{FF2B5EF4-FFF2-40B4-BE49-F238E27FC236}">
                <a16:creationId xmlns:a16="http://schemas.microsoft.com/office/drawing/2014/main" id="{05ECC982-E22C-57C2-AC52-FA02F3D441BB}"/>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3" name="Title 1">
            <a:extLst>
              <a:ext uri="{FF2B5EF4-FFF2-40B4-BE49-F238E27FC236}">
                <a16:creationId xmlns:a16="http://schemas.microsoft.com/office/drawing/2014/main" id="{0D5094BD-D4A8-BAE0-FC29-49F7827188EF}"/>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5" name="Subtítulo 2">
            <a:extLst>
              <a:ext uri="{FF2B5EF4-FFF2-40B4-BE49-F238E27FC236}">
                <a16:creationId xmlns:a16="http://schemas.microsoft.com/office/drawing/2014/main" id="{D1999416-8E00-C48F-77CB-57362CEC11FB}"/>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7" name="Text Placeholder 17">
            <a:extLst>
              <a:ext uri="{FF2B5EF4-FFF2-40B4-BE49-F238E27FC236}">
                <a16:creationId xmlns:a16="http://schemas.microsoft.com/office/drawing/2014/main" id="{9B83BCFC-A218-D2FB-89E0-90568411C027}"/>
              </a:ext>
            </a:extLst>
          </p:cNvPr>
          <p:cNvSpPr>
            <a:spLocks noGrp="1"/>
          </p:cNvSpPr>
          <p:nvPr>
            <p:ph type="body" sz="quarter" idx="16"/>
          </p:nvPr>
        </p:nvSpPr>
        <p:spPr>
          <a:xfrm>
            <a:off x="526211" y="1704095"/>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18" name="Text Placeholder 17">
            <a:extLst>
              <a:ext uri="{FF2B5EF4-FFF2-40B4-BE49-F238E27FC236}">
                <a16:creationId xmlns:a16="http://schemas.microsoft.com/office/drawing/2014/main" id="{937244F1-151F-0C66-0BC7-3BAA047B3E89}"/>
              </a:ext>
            </a:extLst>
          </p:cNvPr>
          <p:cNvSpPr>
            <a:spLocks noGrp="1"/>
          </p:cNvSpPr>
          <p:nvPr>
            <p:ph type="body" sz="quarter" idx="17"/>
          </p:nvPr>
        </p:nvSpPr>
        <p:spPr>
          <a:xfrm>
            <a:off x="526211" y="1346812"/>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19" name="Chart Placeholder 14">
            <a:extLst>
              <a:ext uri="{FF2B5EF4-FFF2-40B4-BE49-F238E27FC236}">
                <a16:creationId xmlns:a16="http://schemas.microsoft.com/office/drawing/2014/main" id="{3DB3157F-F904-DB93-F019-0F5DD59607AD}"/>
              </a:ext>
            </a:extLst>
          </p:cNvPr>
          <p:cNvSpPr>
            <a:spLocks noGrp="1"/>
          </p:cNvSpPr>
          <p:nvPr>
            <p:ph type="chart" sz="quarter" idx="18"/>
          </p:nvPr>
        </p:nvSpPr>
        <p:spPr>
          <a:xfrm>
            <a:off x="526211" y="4452484"/>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20" name="Text Placeholder 17">
            <a:extLst>
              <a:ext uri="{FF2B5EF4-FFF2-40B4-BE49-F238E27FC236}">
                <a16:creationId xmlns:a16="http://schemas.microsoft.com/office/drawing/2014/main" id="{D021A9F0-A608-D3C2-2188-221306F9A351}"/>
              </a:ext>
            </a:extLst>
          </p:cNvPr>
          <p:cNvSpPr>
            <a:spLocks noGrp="1"/>
          </p:cNvSpPr>
          <p:nvPr>
            <p:ph type="body" sz="quarter" idx="19"/>
          </p:nvPr>
        </p:nvSpPr>
        <p:spPr>
          <a:xfrm>
            <a:off x="526211" y="4225752"/>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1" name="Text Placeholder 17">
            <a:extLst>
              <a:ext uri="{FF2B5EF4-FFF2-40B4-BE49-F238E27FC236}">
                <a16:creationId xmlns:a16="http://schemas.microsoft.com/office/drawing/2014/main" id="{7ED7B234-FCD9-0FE2-A17A-199F67EA5BDD}"/>
              </a:ext>
            </a:extLst>
          </p:cNvPr>
          <p:cNvSpPr>
            <a:spLocks noGrp="1"/>
          </p:cNvSpPr>
          <p:nvPr>
            <p:ph type="body" sz="quarter" idx="20"/>
          </p:nvPr>
        </p:nvSpPr>
        <p:spPr>
          <a:xfrm>
            <a:off x="526211" y="3868469"/>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2" name="Text Placeholder 17">
            <a:extLst>
              <a:ext uri="{FF2B5EF4-FFF2-40B4-BE49-F238E27FC236}">
                <a16:creationId xmlns:a16="http://schemas.microsoft.com/office/drawing/2014/main" id="{A1E1E2EC-35CE-D750-D007-0FBBAAC12DAF}"/>
              </a:ext>
            </a:extLst>
          </p:cNvPr>
          <p:cNvSpPr>
            <a:spLocks noGrp="1"/>
          </p:cNvSpPr>
          <p:nvPr>
            <p:ph type="body" sz="quarter" idx="22"/>
          </p:nvPr>
        </p:nvSpPr>
        <p:spPr>
          <a:xfrm>
            <a:off x="6432807" y="1704095"/>
            <a:ext cx="5341778" cy="220806"/>
          </a:xfrm>
          <a:prstGeom prst="rect">
            <a:avLst/>
          </a:prstGeom>
        </p:spPr>
        <p:txBody>
          <a:bodyPr lIns="0"/>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3" name="Text Placeholder 17">
            <a:extLst>
              <a:ext uri="{FF2B5EF4-FFF2-40B4-BE49-F238E27FC236}">
                <a16:creationId xmlns:a16="http://schemas.microsoft.com/office/drawing/2014/main" id="{2D4722E2-9434-349D-E736-22C8F7E6E325}"/>
              </a:ext>
            </a:extLst>
          </p:cNvPr>
          <p:cNvSpPr>
            <a:spLocks noGrp="1"/>
          </p:cNvSpPr>
          <p:nvPr>
            <p:ph type="body" sz="quarter" idx="23"/>
          </p:nvPr>
        </p:nvSpPr>
        <p:spPr>
          <a:xfrm>
            <a:off x="6432807" y="1346812"/>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4" name="Chart Placeholder 14">
            <a:extLst>
              <a:ext uri="{FF2B5EF4-FFF2-40B4-BE49-F238E27FC236}">
                <a16:creationId xmlns:a16="http://schemas.microsoft.com/office/drawing/2014/main" id="{776688E8-1EDD-97EB-E252-6F8A63EE7DF8}"/>
              </a:ext>
            </a:extLst>
          </p:cNvPr>
          <p:cNvSpPr>
            <a:spLocks noGrp="1"/>
          </p:cNvSpPr>
          <p:nvPr>
            <p:ph type="chart" sz="quarter" idx="24"/>
          </p:nvPr>
        </p:nvSpPr>
        <p:spPr>
          <a:xfrm>
            <a:off x="6432807" y="4452484"/>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25" name="Text Placeholder 17">
            <a:extLst>
              <a:ext uri="{FF2B5EF4-FFF2-40B4-BE49-F238E27FC236}">
                <a16:creationId xmlns:a16="http://schemas.microsoft.com/office/drawing/2014/main" id="{F20A9A80-6FFB-99F6-ECBE-8CFE719033BD}"/>
              </a:ext>
            </a:extLst>
          </p:cNvPr>
          <p:cNvSpPr>
            <a:spLocks noGrp="1"/>
          </p:cNvSpPr>
          <p:nvPr>
            <p:ph type="body" sz="quarter" idx="25"/>
          </p:nvPr>
        </p:nvSpPr>
        <p:spPr>
          <a:xfrm>
            <a:off x="6432807" y="4225752"/>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6" name="Text Placeholder 17">
            <a:extLst>
              <a:ext uri="{FF2B5EF4-FFF2-40B4-BE49-F238E27FC236}">
                <a16:creationId xmlns:a16="http://schemas.microsoft.com/office/drawing/2014/main" id="{059B415B-13F1-9645-0AC0-DB150986491D}"/>
              </a:ext>
            </a:extLst>
          </p:cNvPr>
          <p:cNvSpPr>
            <a:spLocks noGrp="1"/>
          </p:cNvSpPr>
          <p:nvPr>
            <p:ph type="body" sz="quarter" idx="26"/>
          </p:nvPr>
        </p:nvSpPr>
        <p:spPr>
          <a:xfrm>
            <a:off x="6432807" y="3868469"/>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cxnSp>
        <p:nvCxnSpPr>
          <p:cNvPr id="27" name="Straight Connector 26">
            <a:extLst>
              <a:ext uri="{FF2B5EF4-FFF2-40B4-BE49-F238E27FC236}">
                <a16:creationId xmlns:a16="http://schemas.microsoft.com/office/drawing/2014/main" id="{6D6D425F-05EF-4B81-A5F7-6BA1386CA2AF}"/>
              </a:ext>
            </a:extLst>
          </p:cNvPr>
          <p:cNvCxnSpPr>
            <a:cxnSpLocks/>
          </p:cNvCxnSpPr>
          <p:nvPr userDrawn="1"/>
        </p:nvCxnSpPr>
        <p:spPr>
          <a:xfrm>
            <a:off x="525462" y="1666647"/>
            <a:ext cx="5342995" cy="0"/>
          </a:xfrm>
          <a:prstGeom prst="line">
            <a:avLst/>
          </a:prstGeom>
        </p:spPr>
        <p:style>
          <a:lnRef idx="2">
            <a:schemeClr val="accent1"/>
          </a:lnRef>
          <a:fillRef idx="0">
            <a:schemeClr val="accent1"/>
          </a:fillRef>
          <a:effectRef idx="1">
            <a:schemeClr val="accent1"/>
          </a:effectRef>
          <a:fontRef idx="minor">
            <a:schemeClr val="tx1"/>
          </a:fontRef>
        </p:style>
      </p:cxnSp>
      <p:sp>
        <p:nvSpPr>
          <p:cNvPr id="28" name="Chart Placeholder 14">
            <a:extLst>
              <a:ext uri="{FF2B5EF4-FFF2-40B4-BE49-F238E27FC236}">
                <a16:creationId xmlns:a16="http://schemas.microsoft.com/office/drawing/2014/main" id="{7B2B2419-030C-1CDE-939B-EB21AEEEC665}"/>
              </a:ext>
            </a:extLst>
          </p:cNvPr>
          <p:cNvSpPr>
            <a:spLocks noGrp="1"/>
          </p:cNvSpPr>
          <p:nvPr>
            <p:ph type="chart" sz="quarter" idx="15"/>
          </p:nvPr>
        </p:nvSpPr>
        <p:spPr>
          <a:xfrm>
            <a:off x="526211" y="1930827"/>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cxnSp>
        <p:nvCxnSpPr>
          <p:cNvPr id="29" name="Straight Connector 28">
            <a:extLst>
              <a:ext uri="{FF2B5EF4-FFF2-40B4-BE49-F238E27FC236}">
                <a16:creationId xmlns:a16="http://schemas.microsoft.com/office/drawing/2014/main" id="{E1CA71B5-BD3F-C6AF-78E7-41A0B46A23B5}"/>
              </a:ext>
            </a:extLst>
          </p:cNvPr>
          <p:cNvCxnSpPr>
            <a:cxnSpLocks/>
          </p:cNvCxnSpPr>
          <p:nvPr userDrawn="1"/>
        </p:nvCxnSpPr>
        <p:spPr>
          <a:xfrm>
            <a:off x="526211" y="4188304"/>
            <a:ext cx="53422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F27EFA6E-13F7-E054-DBEC-8F7D53949A3F}"/>
              </a:ext>
            </a:extLst>
          </p:cNvPr>
          <p:cNvCxnSpPr>
            <a:cxnSpLocks/>
          </p:cNvCxnSpPr>
          <p:nvPr userDrawn="1"/>
        </p:nvCxnSpPr>
        <p:spPr>
          <a:xfrm flipV="1">
            <a:off x="6432339" y="1666647"/>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31" name="Chart Placeholder 14">
            <a:extLst>
              <a:ext uri="{FF2B5EF4-FFF2-40B4-BE49-F238E27FC236}">
                <a16:creationId xmlns:a16="http://schemas.microsoft.com/office/drawing/2014/main" id="{D4090BD7-F91C-DA21-4623-1D04ADA64B2C}"/>
              </a:ext>
            </a:extLst>
          </p:cNvPr>
          <p:cNvSpPr>
            <a:spLocks noGrp="1"/>
          </p:cNvSpPr>
          <p:nvPr>
            <p:ph type="chart" sz="quarter" idx="21"/>
          </p:nvPr>
        </p:nvSpPr>
        <p:spPr>
          <a:xfrm>
            <a:off x="6432807" y="1930827"/>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cxnSp>
        <p:nvCxnSpPr>
          <p:cNvPr id="32" name="Straight Connector 31">
            <a:extLst>
              <a:ext uri="{FF2B5EF4-FFF2-40B4-BE49-F238E27FC236}">
                <a16:creationId xmlns:a16="http://schemas.microsoft.com/office/drawing/2014/main" id="{58214282-EED8-4DDC-CAAE-7D0D72FC3EEB}"/>
              </a:ext>
            </a:extLst>
          </p:cNvPr>
          <p:cNvCxnSpPr>
            <a:cxnSpLocks/>
          </p:cNvCxnSpPr>
          <p:nvPr userDrawn="1"/>
        </p:nvCxnSpPr>
        <p:spPr>
          <a:xfrm flipV="1">
            <a:off x="6432339" y="4188304"/>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34" name="Text Placeholder 5">
            <a:extLst>
              <a:ext uri="{FF2B5EF4-FFF2-40B4-BE49-F238E27FC236}">
                <a16:creationId xmlns:a16="http://schemas.microsoft.com/office/drawing/2014/main" id="{71296A4B-EA45-DF10-E46A-BDE45ED9B045}"/>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35" name="Slide Number Placeholder 4">
            <a:extLst>
              <a:ext uri="{FF2B5EF4-FFF2-40B4-BE49-F238E27FC236}">
                <a16:creationId xmlns:a16="http://schemas.microsoft.com/office/drawing/2014/main" id="{2A26B931-295C-D1C5-7199-54BA8F3B32D6}"/>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a:p>
        </p:txBody>
      </p:sp>
    </p:spTree>
    <p:extLst>
      <p:ext uri="{BB962C8B-B14F-4D97-AF65-F5344CB8AC3E}">
        <p14:creationId xmlns:p14="http://schemas.microsoft.com/office/powerpoint/2010/main" val="27076003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nancialStatements">
    <p:spTree>
      <p:nvGrpSpPr>
        <p:cNvPr id="1" name=""/>
        <p:cNvGrpSpPr/>
        <p:nvPr/>
      </p:nvGrpSpPr>
      <p:grpSpPr>
        <a:xfrm>
          <a:off x="0" y="0"/>
          <a:ext cx="0" cy="0"/>
          <a:chOff x="0" y="0"/>
          <a:chExt cx="0" cy="0"/>
        </a:xfrm>
      </p:grpSpPr>
      <p:sp>
        <p:nvSpPr>
          <p:cNvPr id="23" name="Do not remove" hidden="1">
            <a:extLst>
              <a:ext uri="{FF2B5EF4-FFF2-40B4-BE49-F238E27FC236}">
                <a16:creationId xmlns:a16="http://schemas.microsoft.com/office/drawing/2014/main" id="{847205D0-20E4-6944-4A39-1725EFBC2E46}"/>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7" name="Conector recto 6">
            <a:extLst>
              <a:ext uri="{FF2B5EF4-FFF2-40B4-BE49-F238E27FC236}">
                <a16:creationId xmlns:a16="http://schemas.microsoft.com/office/drawing/2014/main" id="{4E6C3F20-2666-8543-8C31-2C5B3049A759}"/>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8" name="Imagen 7" descr="Imagen que contiene negro, firmar, hombre&#10;&#10;Descripción generada automáticamente">
            <a:extLst>
              <a:ext uri="{FF2B5EF4-FFF2-40B4-BE49-F238E27FC236}">
                <a16:creationId xmlns:a16="http://schemas.microsoft.com/office/drawing/2014/main" id="{7C331CAA-24FF-4CEB-B423-C1D80DD69E26}"/>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2" name="Title 1">
            <a:extLst>
              <a:ext uri="{FF2B5EF4-FFF2-40B4-BE49-F238E27FC236}">
                <a16:creationId xmlns:a16="http://schemas.microsoft.com/office/drawing/2014/main" id="{C84385AE-5A58-AA0A-6FBC-DCBB0170EC3A}"/>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20" name="Text Placeholder 5">
            <a:extLst>
              <a:ext uri="{FF2B5EF4-FFF2-40B4-BE49-F238E27FC236}">
                <a16:creationId xmlns:a16="http://schemas.microsoft.com/office/drawing/2014/main" id="{E80C2372-6B86-E2B2-6142-02AD8CF4873B}"/>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22" name="Slide Number Placeholder 4">
            <a:extLst>
              <a:ext uri="{FF2B5EF4-FFF2-40B4-BE49-F238E27FC236}">
                <a16:creationId xmlns:a16="http://schemas.microsoft.com/office/drawing/2014/main" id="{9AC34BD3-ABCE-9192-9AC9-9558DB51D042}"/>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dirty="0"/>
          </a:p>
        </p:txBody>
      </p:sp>
      <p:sp>
        <p:nvSpPr>
          <p:cNvPr id="3" name="Content Placeholder 2">
            <a:extLst>
              <a:ext uri="{FF2B5EF4-FFF2-40B4-BE49-F238E27FC236}">
                <a16:creationId xmlns:a16="http://schemas.microsoft.com/office/drawing/2014/main" id="{C7F59DEE-94EE-1E23-02B8-CFB4EC519306}"/>
              </a:ext>
            </a:extLst>
          </p:cNvPr>
          <p:cNvSpPr>
            <a:spLocks noGrp="1"/>
          </p:cNvSpPr>
          <p:nvPr>
            <p:ph sz="quarter" idx="15"/>
          </p:nvPr>
        </p:nvSpPr>
        <p:spPr>
          <a:xfrm>
            <a:off x="515938" y="1196456"/>
            <a:ext cx="11258550" cy="500114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419"/>
          </a:p>
        </p:txBody>
      </p:sp>
    </p:spTree>
    <p:extLst>
      <p:ext uri="{BB962C8B-B14F-4D97-AF65-F5344CB8AC3E}">
        <p14:creationId xmlns:p14="http://schemas.microsoft.com/office/powerpoint/2010/main" val="5181889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47A73CD8-FA74-9401-4372-285E5C128ADF}"/>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2" name="Picture 1" descr="A black and white logo&#10;&#10;Description automatically generated">
            <a:extLst>
              <a:ext uri="{FF2B5EF4-FFF2-40B4-BE49-F238E27FC236}">
                <a16:creationId xmlns:a16="http://schemas.microsoft.com/office/drawing/2014/main" id="{67047544-3D2F-A081-093E-BCC58699F3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4568" y="2873331"/>
            <a:ext cx="4762864" cy="1111338"/>
          </a:xfrm>
          <a:prstGeom prst="rect">
            <a:avLst/>
          </a:prstGeom>
        </p:spPr>
      </p:pic>
    </p:spTree>
    <p:extLst>
      <p:ext uri="{BB962C8B-B14F-4D97-AF65-F5344CB8AC3E}">
        <p14:creationId xmlns:p14="http://schemas.microsoft.com/office/powerpoint/2010/main" val="19793010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tags" Target="../tags/tag1.xml"/><Relationship Id="rId16" Type="http://schemas.openxmlformats.org/officeDocument/2006/relationships/oleObject" Target="../embeddings/oleObject1.bin"/><Relationship Id="rId17"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8A4C0EA-6E18-A6BA-00BA-8EB62005B98A}"/>
              </a:ext>
            </a:extLst>
          </p:cNvPr>
          <p:cNvGraphicFramePr>
            <a:graphicFrameLocks/>
          </p:cNvGraphicFramePr>
          <p:nvPr userDrawn="1">
            <p:custDataLst>
              <p:tags r:id="rId15"/>
            </p:custDataLst>
            <p:extLst>
              <p:ext uri="{D42A27DB-BD31-4B8C-83A1-F6EECF244321}">
                <p14:modId xmlns:p14="http://schemas.microsoft.com/office/powerpoint/2010/main" val="26315287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25" imgH="425" progId="TCLayout.ActiveDocument.1">
                  <p:embed/>
                </p:oleObj>
              </mc:Choice>
              <mc:Fallback>
                <p:oleObj name="thinkcell Slide" r:id="rId16" imgW="425" imgH="425" progId="TCLayout.ActiveDocument.1">
                  <p:embed/>
                  <p:pic>
                    <p:nvPicPr>
                      <p:cNvPr id="2" name="think-cell data - do not delete" hidden="1">
                        <a:extLst>
                          <a:ext uri="{FF2B5EF4-FFF2-40B4-BE49-F238E27FC236}">
                            <a16:creationId xmlns:a16="http://schemas.microsoft.com/office/drawing/2014/main" id="{C8A4C0EA-6E18-A6BA-00BA-8EB62005B98A}"/>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grpSp>
        <p:nvGrpSpPr>
          <p:cNvPr id="12" name="Group 11">
            <a:extLst>
              <a:ext uri="{FF2B5EF4-FFF2-40B4-BE49-F238E27FC236}">
                <a16:creationId xmlns:a16="http://schemas.microsoft.com/office/drawing/2014/main" id="{3D4E0718-6761-6AF5-BE88-2A7CE7E106AE}"/>
              </a:ext>
            </a:extLst>
          </p:cNvPr>
          <p:cNvGrpSpPr/>
          <p:nvPr userDrawn="1"/>
        </p:nvGrpSpPr>
        <p:grpSpPr>
          <a:xfrm>
            <a:off x="-674255" y="0"/>
            <a:ext cx="575279" cy="6858000"/>
            <a:chOff x="-2112481" y="0"/>
            <a:chExt cx="2013505" cy="6858000"/>
          </a:xfrm>
        </p:grpSpPr>
        <p:sp>
          <p:nvSpPr>
            <p:cNvPr id="4" name="Freeform: Shape 3">
              <a:extLst>
                <a:ext uri="{FF2B5EF4-FFF2-40B4-BE49-F238E27FC236}">
                  <a16:creationId xmlns:a16="http://schemas.microsoft.com/office/drawing/2014/main" id="{2884646B-BDC4-D53F-A5F1-5F41D14B3A58}"/>
                </a:ext>
              </a:extLst>
            </p:cNvPr>
            <p:cNvSpPr/>
            <p:nvPr/>
          </p:nvSpPr>
          <p:spPr>
            <a:xfrm>
              <a:off x="-2112481" y="0"/>
              <a:ext cx="2013505" cy="1208103"/>
            </a:xfrm>
            <a:custGeom>
              <a:avLst/>
              <a:gdLst>
                <a:gd name="connsiteX0" fmla="*/ 0 w 2013505"/>
                <a:gd name="connsiteY0" fmla="*/ 0 h 1208103"/>
                <a:gd name="connsiteX1" fmla="*/ 2013505 w 2013505"/>
                <a:gd name="connsiteY1" fmla="*/ 0 h 1208103"/>
                <a:gd name="connsiteX2" fmla="*/ 2013505 w 2013505"/>
                <a:gd name="connsiteY2" fmla="*/ 1208103 h 1208103"/>
                <a:gd name="connsiteX3" fmla="*/ 0 w 2013505"/>
                <a:gd name="connsiteY3" fmla="*/ 1208103 h 1208103"/>
                <a:gd name="connsiteX4" fmla="*/ 0 w 2013505"/>
                <a:gd name="connsiteY4" fmla="*/ 0 h 1208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3505" h="1208103">
                  <a:moveTo>
                    <a:pt x="0" y="0"/>
                  </a:moveTo>
                  <a:lnTo>
                    <a:pt x="2013505" y="0"/>
                  </a:lnTo>
                  <a:lnTo>
                    <a:pt x="2013505" y="1208103"/>
                  </a:lnTo>
                  <a:lnTo>
                    <a:pt x="0" y="1208103"/>
                  </a:lnTo>
                  <a:lnTo>
                    <a:pt x="0" y="0"/>
                  </a:lnTo>
                  <a:close/>
                </a:path>
              </a:pathLst>
            </a:custGeom>
            <a:solidFill>
              <a:srgbClr val="221D55"/>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bg1"/>
                  </a:solidFill>
                  <a:latin typeface="Arial" panose="020B0604020202020204" pitchFamily="34" charset="0"/>
                  <a:cs typeface="Arial" panose="020B0604020202020204" pitchFamily="34" charset="0"/>
                </a:rPr>
                <a:t>34</a:t>
              </a:r>
            </a:p>
            <a:p>
              <a:pPr marL="0" lvl="0" indent="0" algn="ctr" defTabSz="622300">
                <a:lnSpc>
                  <a:spcPct val="90000"/>
                </a:lnSpc>
                <a:spcBef>
                  <a:spcPct val="0"/>
                </a:spcBef>
                <a:spcAft>
                  <a:spcPct val="35000"/>
                </a:spcAft>
                <a:buNone/>
              </a:pPr>
              <a:r>
                <a:rPr lang="en-US" sz="1400" kern="1200" dirty="0">
                  <a:solidFill>
                    <a:schemeClr val="bg1"/>
                  </a:solidFill>
                  <a:latin typeface="Arial" panose="020B0604020202020204" pitchFamily="34" charset="0"/>
                  <a:cs typeface="Arial" panose="020B0604020202020204" pitchFamily="34" charset="0"/>
                </a:rPr>
                <a:t>29</a:t>
              </a:r>
            </a:p>
            <a:p>
              <a:pPr marL="0" lvl="0" indent="0" algn="ctr" defTabSz="622300">
                <a:lnSpc>
                  <a:spcPct val="90000"/>
                </a:lnSpc>
                <a:spcBef>
                  <a:spcPct val="0"/>
                </a:spcBef>
                <a:spcAft>
                  <a:spcPct val="35000"/>
                </a:spcAft>
                <a:buNone/>
              </a:pPr>
              <a:r>
                <a:rPr lang="en-US" sz="1400" kern="1200" dirty="0">
                  <a:solidFill>
                    <a:schemeClr val="bg1"/>
                  </a:solidFill>
                  <a:latin typeface="Arial" panose="020B0604020202020204" pitchFamily="34" charset="0"/>
                  <a:cs typeface="Arial" panose="020B0604020202020204" pitchFamily="34" charset="0"/>
                </a:rPr>
                <a:t>85</a:t>
              </a:r>
            </a:p>
          </p:txBody>
        </p:sp>
        <p:sp>
          <p:nvSpPr>
            <p:cNvPr id="7" name="Freeform: Shape 6">
              <a:extLst>
                <a:ext uri="{FF2B5EF4-FFF2-40B4-BE49-F238E27FC236}">
                  <a16:creationId xmlns:a16="http://schemas.microsoft.com/office/drawing/2014/main" id="{E523EC98-7CC6-7118-6A47-AA03D1A34DA0}"/>
                </a:ext>
              </a:extLst>
            </p:cNvPr>
            <p:cNvSpPr/>
            <p:nvPr/>
          </p:nvSpPr>
          <p:spPr>
            <a:xfrm>
              <a:off x="-2112481" y="1417217"/>
              <a:ext cx="2013505" cy="1208103"/>
            </a:xfrm>
            <a:custGeom>
              <a:avLst/>
              <a:gdLst>
                <a:gd name="connsiteX0" fmla="*/ 0 w 2013505"/>
                <a:gd name="connsiteY0" fmla="*/ 0 h 1208103"/>
                <a:gd name="connsiteX1" fmla="*/ 2013505 w 2013505"/>
                <a:gd name="connsiteY1" fmla="*/ 0 h 1208103"/>
                <a:gd name="connsiteX2" fmla="*/ 2013505 w 2013505"/>
                <a:gd name="connsiteY2" fmla="*/ 1208103 h 1208103"/>
                <a:gd name="connsiteX3" fmla="*/ 0 w 2013505"/>
                <a:gd name="connsiteY3" fmla="*/ 1208103 h 1208103"/>
                <a:gd name="connsiteX4" fmla="*/ 0 w 2013505"/>
                <a:gd name="connsiteY4" fmla="*/ 0 h 1208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3505" h="1208103">
                  <a:moveTo>
                    <a:pt x="0" y="0"/>
                  </a:moveTo>
                  <a:lnTo>
                    <a:pt x="2013505" y="0"/>
                  </a:lnTo>
                  <a:lnTo>
                    <a:pt x="2013505" y="1208103"/>
                  </a:lnTo>
                  <a:lnTo>
                    <a:pt x="0" y="1208103"/>
                  </a:lnTo>
                  <a:lnTo>
                    <a:pt x="0" y="0"/>
                  </a:lnTo>
                  <a:close/>
                </a:path>
              </a:pathLst>
            </a:custGeom>
            <a:solidFill>
              <a:srgbClr val="F5C400"/>
            </a:solidFill>
            <a:ln w="190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245</a:t>
              </a:r>
            </a:p>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196</a:t>
              </a:r>
            </a:p>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0</a:t>
              </a:r>
            </a:p>
          </p:txBody>
        </p:sp>
        <p:sp>
          <p:nvSpPr>
            <p:cNvPr id="8" name="Freeform: Shape 7">
              <a:extLst>
                <a:ext uri="{FF2B5EF4-FFF2-40B4-BE49-F238E27FC236}">
                  <a16:creationId xmlns:a16="http://schemas.microsoft.com/office/drawing/2014/main" id="{BDCB819C-5C8C-5566-5A73-608FCF0C170A}"/>
                </a:ext>
              </a:extLst>
            </p:cNvPr>
            <p:cNvSpPr/>
            <p:nvPr/>
          </p:nvSpPr>
          <p:spPr>
            <a:xfrm>
              <a:off x="-2112481" y="4232680"/>
              <a:ext cx="2013505" cy="1208103"/>
            </a:xfrm>
            <a:custGeom>
              <a:avLst/>
              <a:gdLst>
                <a:gd name="connsiteX0" fmla="*/ 0 w 2013505"/>
                <a:gd name="connsiteY0" fmla="*/ 0 h 1208103"/>
                <a:gd name="connsiteX1" fmla="*/ 2013505 w 2013505"/>
                <a:gd name="connsiteY1" fmla="*/ 0 h 1208103"/>
                <a:gd name="connsiteX2" fmla="*/ 2013505 w 2013505"/>
                <a:gd name="connsiteY2" fmla="*/ 1208103 h 1208103"/>
                <a:gd name="connsiteX3" fmla="*/ 0 w 2013505"/>
                <a:gd name="connsiteY3" fmla="*/ 1208103 h 1208103"/>
                <a:gd name="connsiteX4" fmla="*/ 0 w 2013505"/>
                <a:gd name="connsiteY4" fmla="*/ 0 h 1208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3505" h="1208103">
                  <a:moveTo>
                    <a:pt x="0" y="0"/>
                  </a:moveTo>
                  <a:lnTo>
                    <a:pt x="2013505" y="0"/>
                  </a:lnTo>
                  <a:lnTo>
                    <a:pt x="2013505" y="1208103"/>
                  </a:lnTo>
                  <a:lnTo>
                    <a:pt x="0" y="1208103"/>
                  </a:lnTo>
                  <a:lnTo>
                    <a:pt x="0" y="0"/>
                  </a:lnTo>
                  <a:close/>
                </a:path>
              </a:pathLst>
            </a:custGeom>
            <a:solidFill>
              <a:schemeClr val="accent3"/>
            </a:solidFill>
            <a:ln w="190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66</a:t>
              </a:r>
            </a:p>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130</a:t>
              </a:r>
            </a:p>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93</a:t>
              </a:r>
            </a:p>
          </p:txBody>
        </p:sp>
        <p:sp>
          <p:nvSpPr>
            <p:cNvPr id="9" name="Freeform: Shape 8">
              <a:extLst>
                <a:ext uri="{FF2B5EF4-FFF2-40B4-BE49-F238E27FC236}">
                  <a16:creationId xmlns:a16="http://schemas.microsoft.com/office/drawing/2014/main" id="{08314FA9-570F-BA4C-54E4-723CE73CC698}"/>
                </a:ext>
              </a:extLst>
            </p:cNvPr>
            <p:cNvSpPr/>
            <p:nvPr/>
          </p:nvSpPr>
          <p:spPr>
            <a:xfrm>
              <a:off x="-2112481" y="2827287"/>
              <a:ext cx="2013505" cy="1208103"/>
            </a:xfrm>
            <a:custGeom>
              <a:avLst/>
              <a:gdLst>
                <a:gd name="connsiteX0" fmla="*/ 0 w 2013505"/>
                <a:gd name="connsiteY0" fmla="*/ 0 h 1208103"/>
                <a:gd name="connsiteX1" fmla="*/ 2013505 w 2013505"/>
                <a:gd name="connsiteY1" fmla="*/ 0 h 1208103"/>
                <a:gd name="connsiteX2" fmla="*/ 2013505 w 2013505"/>
                <a:gd name="connsiteY2" fmla="*/ 1208103 h 1208103"/>
                <a:gd name="connsiteX3" fmla="*/ 0 w 2013505"/>
                <a:gd name="connsiteY3" fmla="*/ 1208103 h 1208103"/>
                <a:gd name="connsiteX4" fmla="*/ 0 w 2013505"/>
                <a:gd name="connsiteY4" fmla="*/ 0 h 1208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3505" h="1208103">
                  <a:moveTo>
                    <a:pt x="0" y="0"/>
                  </a:moveTo>
                  <a:lnTo>
                    <a:pt x="2013505" y="0"/>
                  </a:lnTo>
                  <a:lnTo>
                    <a:pt x="2013505" y="1208103"/>
                  </a:lnTo>
                  <a:lnTo>
                    <a:pt x="0" y="1208103"/>
                  </a:lnTo>
                  <a:lnTo>
                    <a:pt x="0" y="0"/>
                  </a:lnTo>
                  <a:close/>
                </a:path>
              </a:pathLst>
            </a:custGeom>
            <a:solidFill>
              <a:schemeClr val="accent4"/>
            </a:solidFill>
            <a:ln w="190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127</a:t>
              </a:r>
            </a:p>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143</a:t>
              </a:r>
            </a:p>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169</a:t>
              </a:r>
              <a:endParaRPr lang="en-US" sz="1400" kern="1200" dirty="0">
                <a:solidFill>
                  <a:prstClr val="black"/>
                </a:solidFill>
                <a:latin typeface="Arial" panose="020B0604020202020204" pitchFamily="34" charset="0"/>
                <a:ea typeface="+mn-ea"/>
                <a:cs typeface="Arial" panose="020B0604020202020204" pitchFamily="34" charset="0"/>
              </a:endParaRPr>
            </a:p>
          </p:txBody>
        </p:sp>
        <p:sp>
          <p:nvSpPr>
            <p:cNvPr id="10" name="Freeform: Shape 9">
              <a:extLst>
                <a:ext uri="{FF2B5EF4-FFF2-40B4-BE49-F238E27FC236}">
                  <a16:creationId xmlns:a16="http://schemas.microsoft.com/office/drawing/2014/main" id="{A4C56230-C9E2-CE5F-4CB4-8F183AC6FA5A}"/>
                </a:ext>
              </a:extLst>
            </p:cNvPr>
            <p:cNvSpPr/>
            <p:nvPr/>
          </p:nvSpPr>
          <p:spPr>
            <a:xfrm>
              <a:off x="-2112481" y="5649897"/>
              <a:ext cx="2013505" cy="1208103"/>
            </a:xfrm>
            <a:custGeom>
              <a:avLst/>
              <a:gdLst>
                <a:gd name="connsiteX0" fmla="*/ 0 w 2013505"/>
                <a:gd name="connsiteY0" fmla="*/ 0 h 1208103"/>
                <a:gd name="connsiteX1" fmla="*/ 2013505 w 2013505"/>
                <a:gd name="connsiteY1" fmla="*/ 0 h 1208103"/>
                <a:gd name="connsiteX2" fmla="*/ 2013505 w 2013505"/>
                <a:gd name="connsiteY2" fmla="*/ 1208103 h 1208103"/>
                <a:gd name="connsiteX3" fmla="*/ 0 w 2013505"/>
                <a:gd name="connsiteY3" fmla="*/ 1208103 h 1208103"/>
                <a:gd name="connsiteX4" fmla="*/ 0 w 2013505"/>
                <a:gd name="connsiteY4" fmla="*/ 0 h 1208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3505" h="1208103">
                  <a:moveTo>
                    <a:pt x="0" y="0"/>
                  </a:moveTo>
                  <a:lnTo>
                    <a:pt x="2013505" y="0"/>
                  </a:lnTo>
                  <a:lnTo>
                    <a:pt x="2013505" y="1208103"/>
                  </a:lnTo>
                  <a:lnTo>
                    <a:pt x="0" y="1208103"/>
                  </a:lnTo>
                  <a:lnTo>
                    <a:pt x="0" y="0"/>
                  </a:lnTo>
                  <a:close/>
                </a:path>
              </a:pathLst>
            </a:custGeom>
            <a:solidFill>
              <a:schemeClr val="tx1">
                <a:lumMod val="75000"/>
                <a:lumOff val="25000"/>
              </a:schemeClr>
            </a:solidFill>
            <a:ln w="190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1400" kern="1200" dirty="0">
                  <a:solidFill>
                    <a:schemeClr val="bg1"/>
                  </a:solidFill>
                  <a:latin typeface="Arial" panose="020B0604020202020204" pitchFamily="34" charset="0"/>
                  <a:ea typeface="+mn-ea"/>
                  <a:cs typeface="Arial" panose="020B0604020202020204" pitchFamily="34" charset="0"/>
                </a:rPr>
                <a:t>64</a:t>
              </a:r>
            </a:p>
            <a:p>
              <a:pPr marL="0" lvl="0" indent="0" algn="ctr" defTabSz="889000">
                <a:lnSpc>
                  <a:spcPct val="90000"/>
                </a:lnSpc>
                <a:spcBef>
                  <a:spcPct val="0"/>
                </a:spcBef>
                <a:spcAft>
                  <a:spcPct val="35000"/>
                </a:spcAft>
                <a:buNone/>
              </a:pPr>
              <a:r>
                <a:rPr lang="en-US" sz="1400" kern="1200" dirty="0">
                  <a:solidFill>
                    <a:schemeClr val="bg1"/>
                  </a:solidFill>
                  <a:latin typeface="Arial" panose="020B0604020202020204" pitchFamily="34" charset="0"/>
                  <a:ea typeface="+mn-ea"/>
                  <a:cs typeface="Arial" panose="020B0604020202020204" pitchFamily="34" charset="0"/>
                </a:rPr>
                <a:t>64</a:t>
              </a:r>
            </a:p>
            <a:p>
              <a:pPr marL="0" lvl="0" indent="0" algn="ctr" defTabSz="889000">
                <a:lnSpc>
                  <a:spcPct val="90000"/>
                </a:lnSpc>
                <a:spcBef>
                  <a:spcPct val="0"/>
                </a:spcBef>
                <a:spcAft>
                  <a:spcPct val="35000"/>
                </a:spcAft>
                <a:buNone/>
              </a:pPr>
              <a:r>
                <a:rPr lang="en-US" sz="1400" kern="1200" dirty="0">
                  <a:solidFill>
                    <a:schemeClr val="bg1"/>
                  </a:solidFill>
                  <a:latin typeface="Arial" panose="020B0604020202020204" pitchFamily="34" charset="0"/>
                  <a:ea typeface="+mn-ea"/>
                  <a:cs typeface="Arial" panose="020B0604020202020204" pitchFamily="34" charset="0"/>
                </a:rPr>
                <a:t>64</a:t>
              </a:r>
            </a:p>
          </p:txBody>
        </p:sp>
      </p:grpSp>
      <p:sp>
        <p:nvSpPr>
          <p:cNvPr id="13" name="Título 1">
            <a:extLst>
              <a:ext uri="{FF2B5EF4-FFF2-40B4-BE49-F238E27FC236}">
                <a16:creationId xmlns:a16="http://schemas.microsoft.com/office/drawing/2014/main" id="{64E13499-A096-7CD4-B9C6-E1E7081FB279}"/>
              </a:ext>
            </a:extLst>
          </p:cNvPr>
          <p:cNvSpPr txBox="1">
            <a:spLocks/>
          </p:cNvSpPr>
          <p:nvPr userDrawn="1"/>
        </p:nvSpPr>
        <p:spPr>
          <a:xfrm>
            <a:off x="516676" y="6243145"/>
            <a:ext cx="4338177" cy="478329"/>
          </a:xfrm>
          <a:prstGeom prst="rect">
            <a:avLst/>
          </a:prstGeom>
        </p:spPr>
        <p:txBody>
          <a:bodyPr vert="horz" lIns="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000" kern="1200" noProof="0" dirty="0">
                <a:solidFill>
                  <a:schemeClr val="accent3">
                    <a:lumMod val="60000"/>
                    <a:lumOff val="40000"/>
                  </a:schemeClr>
                </a:solidFill>
                <a:latin typeface="+mj-lt"/>
                <a:ea typeface="Yu Gothic Light" panose="020B0300000000000000" pitchFamily="34" charset="-128"/>
                <a:cs typeface="Cordia New" panose="020B0304020202020204" pitchFamily="34" charset="-34"/>
              </a:rPr>
              <a:t>Aztlan Equity Management, LLC </a:t>
            </a:r>
          </a:p>
          <a:p>
            <a:r>
              <a:rPr lang="en-US" sz="1000" kern="1200" noProof="0" dirty="0">
                <a:solidFill>
                  <a:schemeClr val="accent3">
                    <a:lumMod val="60000"/>
                    <a:lumOff val="40000"/>
                  </a:schemeClr>
                </a:solidFill>
                <a:latin typeface="+mj-lt"/>
                <a:ea typeface="Yu Gothic Light" panose="020B0300000000000000" pitchFamily="34" charset="-128"/>
                <a:cs typeface="Cordia New" panose="020B0304020202020204" pitchFamily="34" charset="-34"/>
              </a:rPr>
              <a:t>Global Small and Mid Cap Stock-Picking Specialists</a:t>
            </a:r>
          </a:p>
          <a:p>
            <a:r>
              <a:rPr lang="en-US" sz="1000" kern="1200" noProof="0" dirty="0">
                <a:solidFill>
                  <a:schemeClr val="accent3">
                    <a:lumMod val="60000"/>
                    <a:lumOff val="40000"/>
                  </a:schemeClr>
                </a:solidFill>
                <a:latin typeface="+mn-lt"/>
                <a:ea typeface="Yu Gothic Light" panose="020B0300000000000000" pitchFamily="34" charset="-128"/>
                <a:cs typeface="Cordia New" panose="020B0304020202020204" pitchFamily="34" charset="-34"/>
              </a:rPr>
              <a:t>Copyright © All rights reserved</a:t>
            </a:r>
          </a:p>
        </p:txBody>
      </p:sp>
    </p:spTree>
    <p:extLst>
      <p:ext uri="{BB962C8B-B14F-4D97-AF65-F5344CB8AC3E}">
        <p14:creationId xmlns:p14="http://schemas.microsoft.com/office/powerpoint/2010/main" val="1942978446"/>
      </p:ext>
    </p:extLst>
  </p:cSld>
  <p:clrMap bg1="lt1" tx1="dk1" bg2="lt2" tx2="dk2" accent1="accent1" accent2="accent2" accent3="accent3" accent4="accent4" accent5="accent5" accent6="accent6" hlink="hlink" folHlink="folHlink"/>
  <p:sldLayoutIdLst>
    <p:sldLayoutId id="2147483649" r:id="rId1"/>
    <p:sldLayoutId id="2147483676" r:id="rId2"/>
    <p:sldLayoutId id="2147483650" r:id="rId3"/>
    <p:sldLayoutId id="2147483655" r:id="rId4"/>
    <p:sldLayoutId id="2147483678" r:id="rId5"/>
    <p:sldLayoutId id="2147483664" r:id="rId6"/>
    <p:sldLayoutId id="2147483679" r:id="rId7"/>
    <p:sldLayoutId id="2147483677" r:id="rId8"/>
    <p:sldLayoutId id="2147483665" r:id="rId9"/>
    <p:sldLayoutId id="2147483663" r:id="rId10"/>
    <p:sldLayoutId id="2147483662" r:id="rId11"/>
    <p:sldLayoutId id="2147483670" r:id="rId12"/>
    <p:sldLayoutId id="214748367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2.xml"/><Relationship Id="rId3"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8.xml"/><Relationship Id="rId3" Type="http://schemas.openxmlformats.org/officeDocument/2006/relationships/chart" Target="../charts/char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Layout Gallery: Slide Archetypes</a:t>
            </a:r>
          </a:p>
        </p:txBody>
      </p:sp>
      <p:sp>
        <p:nvSpPr>
          <p:cNvPr id="3" name="Text Placeholder 2"/>
          <p:cNvSpPr>
            <a:spLocks noGrp="1"/>
          </p:cNvSpPr>
          <p:nvPr>
            <p:ph type="body" idx="12" sz="quarter"/>
          </p:nvPr>
        </p:nvSpPr>
        <p:spPr/>
        <p:txBody>
          <a:bodyPr/>
          <a:lstStyle/>
          <a:p>
            <a:r>
              <a:t>House style · native shapes &amp; charts</a:t>
            </a:r>
          </a:p>
          <a:p>
            <a: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Agenda</a:t>
            </a:r>
          </a:p>
        </p:txBody>
      </p:sp>
      <p:sp>
        <p:nvSpPr>
          <p:cNvPr id="4" name="TextBox 3"/>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2</a:t>
            </a:r>
          </a:p>
        </p:txBody>
      </p:sp>
      <p:sp>
        <p:nvSpPr>
          <p:cNvPr id="5" name="Rounded Rectangle 4"/>
          <p:cNvSpPr/>
          <p:nvPr/>
        </p:nvSpPr>
        <p:spPr>
          <a:xfrm>
            <a:off x="668426" y="1417320"/>
            <a:ext cx="568756" cy="347472"/>
          </a:xfrm>
          <a:prstGeom prst="roundRect">
            <a:avLst>
              <a:gd name="adj" fmla="val 12000"/>
            </a:avLst>
          </a:prstGeom>
          <a:solidFill>
            <a:srgbClr val="242852"/>
          </a:solidFill>
          <a:ln>
            <a:noFill/>
          </a:ln>
        </p:spPr>
        <p:txBody>
          <a:bodyPr rtlCol="0" anchor="ctr" wrap="square" lIns="54864" rIns="54864" tIns="36576" bIns="36576"/>
          <a:lstStyle/>
          <a:p>
            <a:pPr algn="ctr"/>
            <a:r>
              <a:rPr sz="1400" b="1" i="0">
                <a:solidFill>
                  <a:srgbClr val="FFFFFF"/>
                </a:solidFill>
                <a:latin typeface="Arial"/>
              </a:rPr>
              <a:t>I</a:t>
            </a:r>
          </a:p>
        </p:txBody>
      </p:sp>
      <p:sp>
        <p:nvSpPr>
          <p:cNvPr id="6" name="Rectangle 5"/>
          <p:cNvSpPr/>
          <p:nvPr/>
        </p:nvSpPr>
        <p:spPr>
          <a:xfrm>
            <a:off x="1535277" y="1417320"/>
            <a:ext cx="10049256" cy="347472"/>
          </a:xfrm>
          <a:prstGeom prst="rect">
            <a:avLst/>
          </a:prstGeom>
          <a:solidFill>
            <a:srgbClr val="F2F2F2"/>
          </a:solidFill>
          <a:ln>
            <a:noFill/>
          </a:ln>
        </p:spPr>
        <p:txBody>
          <a:bodyPr rtlCol="0" anchor="ctr" wrap="square" lIns="109728" rIns="109728" tIns="36576" bIns="36576"/>
          <a:lstStyle/>
          <a:p>
            <a:pPr algn="l"/>
            <a:r>
              <a:rPr sz="1400" b="0" i="1">
                <a:solidFill>
                  <a:srgbClr val="000000"/>
                </a:solidFill>
                <a:latin typeface="Arial"/>
              </a:rPr>
              <a:t>Executive summary</a:t>
            </a:r>
          </a:p>
        </p:txBody>
      </p:sp>
      <p:sp>
        <p:nvSpPr>
          <p:cNvPr id="7" name="Rounded Rectangle 6"/>
          <p:cNvSpPr/>
          <p:nvPr/>
        </p:nvSpPr>
        <p:spPr>
          <a:xfrm>
            <a:off x="668426" y="1941271"/>
            <a:ext cx="568756" cy="347472"/>
          </a:xfrm>
          <a:prstGeom prst="roundRect">
            <a:avLst>
              <a:gd name="adj" fmla="val 12000"/>
            </a:avLst>
          </a:prstGeom>
          <a:solidFill>
            <a:srgbClr val="242852"/>
          </a:solidFill>
          <a:ln>
            <a:noFill/>
          </a:ln>
        </p:spPr>
        <p:txBody>
          <a:bodyPr rtlCol="0" anchor="ctr" wrap="square" lIns="54864" rIns="54864" tIns="36576" bIns="36576"/>
          <a:lstStyle/>
          <a:p>
            <a:pPr algn="ctr"/>
            <a:r>
              <a:rPr sz="1400" b="1" i="0">
                <a:solidFill>
                  <a:srgbClr val="FFFFFF"/>
                </a:solidFill>
                <a:latin typeface="Arial"/>
              </a:rPr>
              <a:t>II</a:t>
            </a:r>
          </a:p>
        </p:txBody>
      </p:sp>
      <p:sp>
        <p:nvSpPr>
          <p:cNvPr id="8" name="Rectangle 7"/>
          <p:cNvSpPr/>
          <p:nvPr/>
        </p:nvSpPr>
        <p:spPr>
          <a:xfrm>
            <a:off x="1535277" y="1941271"/>
            <a:ext cx="10049256" cy="347472"/>
          </a:xfrm>
          <a:prstGeom prst="rect">
            <a:avLst/>
          </a:prstGeom>
          <a:solidFill>
            <a:srgbClr val="F2F2F2"/>
          </a:solidFill>
          <a:ln>
            <a:noFill/>
          </a:ln>
        </p:spPr>
        <p:txBody>
          <a:bodyPr rtlCol="0" anchor="ctr" wrap="square" lIns="109728" rIns="109728" tIns="36576" bIns="36576"/>
          <a:lstStyle/>
          <a:p>
            <a:pPr algn="l"/>
            <a:r>
              <a:rPr sz="1400" b="0" i="1">
                <a:solidFill>
                  <a:srgbClr val="000000"/>
                </a:solidFill>
                <a:latin typeface="Arial"/>
              </a:rPr>
              <a:t>Company overview</a:t>
            </a:r>
          </a:p>
        </p:txBody>
      </p:sp>
      <p:sp>
        <p:nvSpPr>
          <p:cNvPr id="9" name="Rounded Rectangle 8"/>
          <p:cNvSpPr/>
          <p:nvPr/>
        </p:nvSpPr>
        <p:spPr>
          <a:xfrm>
            <a:off x="668426" y="2465222"/>
            <a:ext cx="568756" cy="347472"/>
          </a:xfrm>
          <a:prstGeom prst="roundRect">
            <a:avLst>
              <a:gd name="adj" fmla="val 12000"/>
            </a:avLst>
          </a:prstGeom>
          <a:solidFill>
            <a:srgbClr val="242852"/>
          </a:solidFill>
          <a:ln>
            <a:noFill/>
          </a:ln>
        </p:spPr>
        <p:txBody>
          <a:bodyPr rtlCol="0" anchor="ctr" wrap="square" lIns="54864" rIns="54864" tIns="36576" bIns="36576"/>
          <a:lstStyle/>
          <a:p>
            <a:pPr algn="ctr"/>
            <a:r>
              <a:rPr sz="1400" b="1" i="0">
                <a:solidFill>
                  <a:srgbClr val="FFFFFF"/>
                </a:solidFill>
                <a:latin typeface="Arial"/>
              </a:rPr>
              <a:t>III</a:t>
            </a:r>
          </a:p>
        </p:txBody>
      </p:sp>
      <p:sp>
        <p:nvSpPr>
          <p:cNvPr id="10" name="Rectangle 9"/>
          <p:cNvSpPr/>
          <p:nvPr/>
        </p:nvSpPr>
        <p:spPr>
          <a:xfrm>
            <a:off x="1535277" y="2465222"/>
            <a:ext cx="10049256" cy="347472"/>
          </a:xfrm>
          <a:prstGeom prst="rect">
            <a:avLst/>
          </a:prstGeom>
          <a:solidFill>
            <a:srgbClr val="F2F2F2"/>
          </a:solidFill>
          <a:ln>
            <a:noFill/>
          </a:ln>
        </p:spPr>
        <p:txBody>
          <a:bodyPr rtlCol="0" anchor="ctr" wrap="square" lIns="109728" rIns="109728" tIns="36576" bIns="36576"/>
          <a:lstStyle/>
          <a:p>
            <a:pPr algn="l"/>
            <a:r>
              <a:rPr sz="1400" b="0" i="1">
                <a:solidFill>
                  <a:srgbClr val="000000"/>
                </a:solidFill>
                <a:latin typeface="Arial"/>
              </a:rPr>
              <a:t>Financial performance</a:t>
            </a:r>
          </a:p>
        </p:txBody>
      </p:sp>
      <p:sp>
        <p:nvSpPr>
          <p:cNvPr id="11" name="Rounded Rectangle 10"/>
          <p:cNvSpPr/>
          <p:nvPr/>
        </p:nvSpPr>
        <p:spPr>
          <a:xfrm>
            <a:off x="668426" y="2989173"/>
            <a:ext cx="568756" cy="347472"/>
          </a:xfrm>
          <a:prstGeom prst="roundRect">
            <a:avLst>
              <a:gd name="adj" fmla="val 12000"/>
            </a:avLst>
          </a:prstGeom>
          <a:solidFill>
            <a:srgbClr val="242852"/>
          </a:solidFill>
          <a:ln>
            <a:noFill/>
          </a:ln>
        </p:spPr>
        <p:txBody>
          <a:bodyPr rtlCol="0" anchor="ctr" wrap="square" lIns="54864" rIns="54864" tIns="36576" bIns="36576"/>
          <a:lstStyle/>
          <a:p>
            <a:pPr algn="ctr"/>
            <a:r>
              <a:rPr sz="1400" b="1" i="0">
                <a:solidFill>
                  <a:srgbClr val="FFFFFF"/>
                </a:solidFill>
                <a:latin typeface="Arial"/>
              </a:rPr>
              <a:t>IV</a:t>
            </a:r>
          </a:p>
        </p:txBody>
      </p:sp>
      <p:sp>
        <p:nvSpPr>
          <p:cNvPr id="12" name="Rectangle 11"/>
          <p:cNvSpPr/>
          <p:nvPr/>
        </p:nvSpPr>
        <p:spPr>
          <a:xfrm>
            <a:off x="1535277" y="2989173"/>
            <a:ext cx="10049256" cy="347472"/>
          </a:xfrm>
          <a:prstGeom prst="rect">
            <a:avLst/>
          </a:prstGeom>
          <a:solidFill>
            <a:srgbClr val="F2F2F2"/>
          </a:solidFill>
          <a:ln>
            <a:noFill/>
          </a:ln>
        </p:spPr>
        <p:txBody>
          <a:bodyPr rtlCol="0" anchor="ctr" wrap="square" lIns="109728" rIns="109728" tIns="36576" bIns="36576"/>
          <a:lstStyle/>
          <a:p>
            <a:pPr algn="l"/>
            <a:r>
              <a:rPr sz="1400" b="0" i="1">
                <a:solidFill>
                  <a:srgbClr val="000000"/>
                </a:solidFill>
                <a:latin typeface="Arial"/>
              </a:rPr>
              <a:t>Peers &amp; positioning</a:t>
            </a:r>
          </a:p>
        </p:txBody>
      </p:sp>
      <p:sp>
        <p:nvSpPr>
          <p:cNvPr id="13" name="Rounded Rectangle 12"/>
          <p:cNvSpPr/>
          <p:nvPr/>
        </p:nvSpPr>
        <p:spPr>
          <a:xfrm>
            <a:off x="668426" y="3513124"/>
            <a:ext cx="568756" cy="347472"/>
          </a:xfrm>
          <a:prstGeom prst="roundRect">
            <a:avLst>
              <a:gd name="adj" fmla="val 12000"/>
            </a:avLst>
          </a:prstGeom>
          <a:solidFill>
            <a:srgbClr val="242852"/>
          </a:solidFill>
          <a:ln>
            <a:noFill/>
          </a:ln>
        </p:spPr>
        <p:txBody>
          <a:bodyPr rtlCol="0" anchor="ctr" wrap="square" lIns="54864" rIns="54864" tIns="36576" bIns="36576"/>
          <a:lstStyle/>
          <a:p>
            <a:pPr algn="ctr"/>
            <a:r>
              <a:rPr sz="1400" b="1" i="0">
                <a:solidFill>
                  <a:srgbClr val="FFFFFF"/>
                </a:solidFill>
                <a:latin typeface="Arial"/>
              </a:rPr>
              <a:t>V</a:t>
            </a:r>
          </a:p>
        </p:txBody>
      </p:sp>
      <p:sp>
        <p:nvSpPr>
          <p:cNvPr id="14" name="Rectangle 13"/>
          <p:cNvSpPr/>
          <p:nvPr/>
        </p:nvSpPr>
        <p:spPr>
          <a:xfrm>
            <a:off x="1535277" y="3513124"/>
            <a:ext cx="10049256" cy="347472"/>
          </a:xfrm>
          <a:prstGeom prst="rect">
            <a:avLst/>
          </a:prstGeom>
          <a:solidFill>
            <a:srgbClr val="F2F2F2"/>
          </a:solidFill>
          <a:ln>
            <a:noFill/>
          </a:ln>
        </p:spPr>
        <p:txBody>
          <a:bodyPr rtlCol="0" anchor="ctr" wrap="square" lIns="109728" rIns="109728" tIns="36576" bIns="36576"/>
          <a:lstStyle/>
          <a:p>
            <a:pPr algn="l"/>
            <a:r>
              <a:rPr sz="1400" b="0" i="1">
                <a:solidFill>
                  <a:srgbClr val="000000"/>
                </a:solidFill>
                <a:latin typeface="Arial"/>
              </a:rPr>
              <a:t>Valuation</a:t>
            </a:r>
          </a:p>
        </p:txBody>
      </p:sp>
      <p:sp>
        <p:nvSpPr>
          <p:cNvPr id="15" name="Rounded Rectangle 14"/>
          <p:cNvSpPr/>
          <p:nvPr/>
        </p:nvSpPr>
        <p:spPr>
          <a:xfrm>
            <a:off x="668426" y="4037076"/>
            <a:ext cx="568756" cy="347472"/>
          </a:xfrm>
          <a:prstGeom prst="roundRect">
            <a:avLst>
              <a:gd name="adj" fmla="val 12000"/>
            </a:avLst>
          </a:prstGeom>
          <a:solidFill>
            <a:srgbClr val="242852"/>
          </a:solidFill>
          <a:ln>
            <a:noFill/>
          </a:ln>
        </p:spPr>
        <p:txBody>
          <a:bodyPr rtlCol="0" anchor="ctr" wrap="square" lIns="54864" rIns="54864" tIns="36576" bIns="36576"/>
          <a:lstStyle/>
          <a:p>
            <a:pPr algn="ctr"/>
            <a:r>
              <a:rPr sz="1400" b="1" i="0">
                <a:solidFill>
                  <a:srgbClr val="FFFFFF"/>
                </a:solidFill>
                <a:latin typeface="Arial"/>
              </a:rPr>
              <a:t>VI</a:t>
            </a:r>
          </a:p>
        </p:txBody>
      </p:sp>
      <p:sp>
        <p:nvSpPr>
          <p:cNvPr id="16" name="Rectangle 15"/>
          <p:cNvSpPr/>
          <p:nvPr/>
        </p:nvSpPr>
        <p:spPr>
          <a:xfrm>
            <a:off x="1535277" y="4037076"/>
            <a:ext cx="10049256" cy="347472"/>
          </a:xfrm>
          <a:prstGeom prst="rect">
            <a:avLst/>
          </a:prstGeom>
          <a:solidFill>
            <a:srgbClr val="F2F2F2"/>
          </a:solidFill>
          <a:ln>
            <a:noFill/>
          </a:ln>
        </p:spPr>
        <p:txBody>
          <a:bodyPr rtlCol="0" anchor="ctr" wrap="square" lIns="109728" rIns="109728" tIns="36576" bIns="36576"/>
          <a:lstStyle/>
          <a:p>
            <a:pPr algn="l"/>
            <a:r>
              <a:rPr sz="1400" b="0" i="1">
                <a:solidFill>
                  <a:srgbClr val="000000"/>
                </a:solidFill>
                <a:latin typeface="Arial"/>
              </a:rPr>
              <a:t>Capital allocation</a:t>
            </a:r>
          </a:p>
        </p:txBody>
      </p:sp>
      <p:sp>
        <p:nvSpPr>
          <p:cNvPr id="17" name="Rounded Rectangle 16"/>
          <p:cNvSpPr/>
          <p:nvPr/>
        </p:nvSpPr>
        <p:spPr>
          <a:xfrm>
            <a:off x="668426" y="4561027"/>
            <a:ext cx="568756" cy="347472"/>
          </a:xfrm>
          <a:prstGeom prst="roundRect">
            <a:avLst>
              <a:gd name="adj" fmla="val 12000"/>
            </a:avLst>
          </a:prstGeom>
          <a:solidFill>
            <a:srgbClr val="242852"/>
          </a:solidFill>
          <a:ln>
            <a:noFill/>
          </a:ln>
        </p:spPr>
        <p:txBody>
          <a:bodyPr rtlCol="0" anchor="ctr" wrap="square" lIns="54864" rIns="54864" tIns="36576" bIns="36576"/>
          <a:lstStyle/>
          <a:p>
            <a:pPr algn="ctr"/>
            <a:r>
              <a:rPr sz="1400" b="1" i="0">
                <a:solidFill>
                  <a:srgbClr val="FFFFFF"/>
                </a:solidFill>
                <a:latin typeface="Arial"/>
              </a:rPr>
              <a:t>VII</a:t>
            </a:r>
          </a:p>
        </p:txBody>
      </p:sp>
      <p:sp>
        <p:nvSpPr>
          <p:cNvPr id="18" name="Rectangle 17"/>
          <p:cNvSpPr/>
          <p:nvPr/>
        </p:nvSpPr>
        <p:spPr>
          <a:xfrm>
            <a:off x="1535277" y="4561027"/>
            <a:ext cx="10049256" cy="347472"/>
          </a:xfrm>
          <a:prstGeom prst="rect">
            <a:avLst/>
          </a:prstGeom>
          <a:solidFill>
            <a:srgbClr val="F2F2F2"/>
          </a:solidFill>
          <a:ln>
            <a:noFill/>
          </a:ln>
        </p:spPr>
        <p:txBody>
          <a:bodyPr rtlCol="0" anchor="ctr" wrap="square" lIns="109728" rIns="109728" tIns="36576" bIns="36576"/>
          <a:lstStyle/>
          <a:p>
            <a:pPr algn="l"/>
            <a:r>
              <a:rPr sz="1400" b="0" i="1">
                <a:solidFill>
                  <a:srgbClr val="000000"/>
                </a:solidFill>
                <a:latin typeface="Arial"/>
              </a:rPr>
              <a:t>Recommendation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Investment Call: Compounding Into the Upcycle</a:t>
            </a:r>
          </a:p>
        </p:txBody>
      </p:sp>
      <p:sp>
        <p:nvSpPr>
          <p:cNvPr id="4" name="Subtitle 3"/>
          <p:cNvSpPr>
            <a:spLocks noGrp="1"/>
          </p:cNvSpPr>
          <p:nvPr>
            <p:ph type="subTitle" idx="1"/>
          </p:nvPr>
        </p:nvSpPr>
        <p:spPr/>
        <p:txBody>
          <a:bodyPr/>
          <a:lstStyle/>
          <a:p>
            <a:r>
              <a:t>Backlog of $12.6bn (+60% YoY) covers ~1.1x next-year revenue; valuation still 15% below peers</a:t>
            </a:r>
          </a:p>
        </p:txBody>
      </p:sp>
      <p:sp>
        <p:nvSpPr>
          <p:cNvPr id="5" name="Text Placeholder 4"/>
          <p:cNvSpPr>
            <a:spLocks noGrp="1"/>
          </p:cNvSpPr>
          <p:nvPr>
            <p:ph type="body" idx="14" sz="quarter"/>
          </p:nvPr>
        </p:nvSpPr>
        <p:spPr/>
        <p:txBody>
          <a:bodyPr/>
          <a:lstStyle/>
          <a:p>
            <a:r>
              <a:t>Illustrative data - layout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3</a:t>
            </a:r>
          </a:p>
        </p:txBody>
      </p:sp>
      <p:sp>
        <p:nvSpPr>
          <p:cNvPr id="7" name="TextBox 6"/>
          <p:cNvSpPr txBox="1"/>
          <p:nvPr/>
        </p:nvSpPr>
        <p:spPr>
          <a:xfrm>
            <a:off x="525780" y="1322222"/>
            <a:ext cx="11248948" cy="4754880"/>
          </a:xfrm>
          <a:prstGeom prst="rect">
            <a:avLst/>
          </a:prstGeom>
          <a:noFill/>
        </p:spPr>
        <p:txBody>
          <a:bodyPr wrap="square" lIns="54864" rIns="54864" tIns="36576" bIns="36576" anchor="t"/>
          <a:lstStyle/>
          <a:p>
            <a:pPr algn="just" marL="155448" indent="-146304">
              <a:spcBef>
                <a:spcPts val="400"/>
              </a:spcBef>
              <a:buFont typeface="Arial"/>
              <a:buChar char="•"/>
            </a:pPr>
            <a:r>
              <a:rPr sz="1400" b="0" i="0">
                <a:solidFill>
                  <a:srgbClr val="000000"/>
                </a:solidFill>
                <a:latin typeface="Arial"/>
              </a:rPr>
              <a:t>Company X is the </a:t>
            </a:r>
            <a:r>
              <a:rPr sz="1400" b="1" i="0">
                <a:solidFill>
                  <a:srgbClr val="000000"/>
                </a:solidFill>
                <a:latin typeface="Arial"/>
              </a:rPr>
              <a:t>global leader in process control</a:t>
            </a:r>
            <a:r>
              <a:rPr sz="1400" b="0" i="0">
                <a:solidFill>
                  <a:srgbClr val="000000"/>
                </a:solidFill>
                <a:latin typeface="Arial"/>
              </a:rPr>
              <a:t>, capturing rising complexity with </a:t>
            </a:r>
            <a:r>
              <a:rPr sz="1400" b="1" i="0">
                <a:solidFill>
                  <a:srgbClr val="242852"/>
                </a:solidFill>
                <a:latin typeface="Arial"/>
              </a:rPr>
              <a:t>~56% market share</a:t>
            </a:r>
            <a:r>
              <a:rPr sz="1400" b="0" i="0">
                <a:solidFill>
                  <a:srgbClr val="000000"/>
                </a:solidFill>
                <a:latin typeface="Arial"/>
              </a:rPr>
              <a:t> and 6.5x the share of its nearest competitor.</a:t>
            </a:r>
          </a:p>
          <a:p>
            <a:pPr algn="just">
              <a:spcBef>
                <a:spcPts val="800"/>
              </a:spcBef>
            </a:pPr>
            <a:r>
              <a:rPr sz="1400" b="1" i="0">
                <a:solidFill>
                  <a:srgbClr val="000000"/>
                </a:solidFill>
                <a:latin typeface="Arial"/>
              </a:rPr>
              <a:t>Catalysts</a:t>
            </a:r>
          </a:p>
          <a:p>
            <a:pPr algn="just" marL="155448" indent="-146304">
              <a:spcBef>
                <a:spcPts val="400"/>
              </a:spcBef>
              <a:buFont typeface="Arial"/>
              <a:buChar char="•"/>
            </a:pPr>
            <a:r>
              <a:rPr sz="1400" b="1" i="0">
                <a:solidFill>
                  <a:srgbClr val="000000"/>
                </a:solidFill>
                <a:latin typeface="Arial"/>
              </a:rPr>
              <a:t>Order momentum:</a:t>
            </a:r>
            <a:r>
              <a:rPr sz="1400" b="0" i="0">
                <a:solidFill>
                  <a:srgbClr val="000000"/>
                </a:solidFill>
                <a:latin typeface="Arial"/>
              </a:rPr>
              <a:t> bookings of </a:t>
            </a:r>
            <a:r>
              <a:rPr sz="1400" b="1" i="0">
                <a:solidFill>
                  <a:srgbClr val="242852"/>
                </a:solidFill>
                <a:latin typeface="Arial"/>
              </a:rPr>
              <a:t>$3.2bn in Q2</a:t>
            </a:r>
            <a:r>
              <a:rPr sz="1400" b="0" i="0">
                <a:solidFill>
                  <a:srgbClr val="000000"/>
                </a:solidFill>
                <a:latin typeface="Arial"/>
              </a:rPr>
              <a:t> (+25% YoY) and a backlog that already covers 82% of guided revenue.</a:t>
            </a:r>
          </a:p>
          <a:p>
            <a:pPr algn="just" marL="155448" indent="-146304">
              <a:spcBef>
                <a:spcPts val="400"/>
              </a:spcBef>
              <a:buFont typeface="Arial"/>
              <a:buChar char="•"/>
            </a:pPr>
            <a:r>
              <a:rPr sz="1400" b="1" i="0">
                <a:solidFill>
                  <a:srgbClr val="000000"/>
                </a:solidFill>
                <a:latin typeface="Arial"/>
              </a:rPr>
              <a:t>Mix shift:</a:t>
            </a:r>
            <a:r>
              <a:rPr sz="1400" b="0" i="0">
                <a:solidFill>
                  <a:srgbClr val="000000"/>
                </a:solidFill>
                <a:latin typeface="Arial"/>
              </a:rPr>
              <a:t> services grow to 38% of revenue by FY27E, lifting gross margin by ~150 bps.</a:t>
            </a:r>
          </a:p>
          <a:p>
            <a:pPr algn="just" marL="155448" indent="-146304">
              <a:spcBef>
                <a:spcPts val="400"/>
              </a:spcBef>
              <a:buFont typeface="Arial"/>
              <a:buChar char="•"/>
            </a:pPr>
            <a:r>
              <a:rPr sz="1400" b="1" i="0">
                <a:solidFill>
                  <a:srgbClr val="000000"/>
                </a:solidFill>
                <a:latin typeface="Arial"/>
              </a:rPr>
              <a:t>Capital returns:</a:t>
            </a:r>
            <a:r>
              <a:rPr sz="1400" b="0" i="0">
                <a:solidFill>
                  <a:srgbClr val="000000"/>
                </a:solidFill>
                <a:latin typeface="Arial"/>
              </a:rPr>
              <a:t> $3.4bn returned in FY26 with $9.7bn of authorisation still available.</a:t>
            </a:r>
          </a:p>
          <a:p>
            <a:pPr algn="just">
              <a:spcBef>
                <a:spcPts val="800"/>
              </a:spcBef>
            </a:pPr>
            <a:r>
              <a:rPr sz="1400" b="1" i="0">
                <a:solidFill>
                  <a:srgbClr val="000000"/>
                </a:solidFill>
                <a:latin typeface="Arial"/>
              </a:rPr>
              <a:t>Key Risks to Monitor</a:t>
            </a:r>
          </a:p>
          <a:p>
            <a:pPr algn="just" marL="155448" indent="-146304">
              <a:spcBef>
                <a:spcPts val="400"/>
              </a:spcBef>
              <a:buFont typeface="Arial"/>
              <a:buChar char="•"/>
            </a:pPr>
            <a:r>
              <a:rPr sz="1400" b="1" i="0">
                <a:solidFill>
                  <a:srgbClr val="C00000"/>
                </a:solidFill>
                <a:latin typeface="Arial"/>
              </a:rPr>
              <a:t>Customer concentration:</a:t>
            </a:r>
            <a:r>
              <a:rPr sz="1400" b="0" i="0">
                <a:solidFill>
                  <a:srgbClr val="000000"/>
                </a:solidFill>
                <a:latin typeface="Arial"/>
              </a:rPr>
              <a:t> top-3 customers represent 41% of revenue; a capex pause hits orders first.</a:t>
            </a:r>
          </a:p>
          <a:p>
            <a:pPr algn="just" marL="155448" indent="-146304">
              <a:spcBef>
                <a:spcPts val="400"/>
              </a:spcBef>
              <a:buFont typeface="Arial"/>
              <a:buChar char="•"/>
            </a:pPr>
            <a:r>
              <a:rPr sz="1400" b="1" i="0">
                <a:solidFill>
                  <a:srgbClr val="C00000"/>
                </a:solidFill>
                <a:latin typeface="Arial"/>
              </a:rPr>
              <a:t>Valuation:</a:t>
            </a:r>
            <a:r>
              <a:rPr sz="1400" b="0" i="0">
                <a:solidFill>
                  <a:srgbClr val="000000"/>
                </a:solidFill>
                <a:latin typeface="Arial"/>
              </a:rPr>
              <a:t> at 32x forward P/E any miss compresses the multiple before earnings catch 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Company Overview</a:t>
            </a:r>
          </a:p>
        </p:txBody>
      </p:sp>
      <p:sp>
        <p:nvSpPr>
          <p:cNvPr id="4" name="Subtitle 3"/>
          <p:cNvSpPr>
            <a:spLocks noGrp="1"/>
          </p:cNvSpPr>
          <p:nvPr>
            <p:ph type="subTitle" idx="1"/>
          </p:nvPr>
        </p:nvSpPr>
        <p:spPr/>
        <p:txBody>
          <a:bodyPr/>
          <a:lstStyle/>
          <a:p>
            <a:r>
              <a:t>Global leader in process control for semiconductor manufacturing</a:t>
            </a:r>
          </a:p>
        </p:txBody>
      </p:sp>
      <p:sp>
        <p:nvSpPr>
          <p:cNvPr id="5" name="Text Placeholder 4"/>
          <p:cNvSpPr>
            <a:spLocks noGrp="1"/>
          </p:cNvSpPr>
          <p:nvPr>
            <p:ph type="body" idx="14" sz="quarter"/>
          </p:nvPr>
        </p:nvSpPr>
        <p:spPr/>
        <p:txBody>
          <a:bodyPr/>
          <a:lstStyle/>
          <a:p>
            <a:r>
              <a:t>Illustrative data - layout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4</a:t>
            </a:r>
          </a:p>
        </p:txBody>
      </p:sp>
      <p:sp>
        <p:nvSpPr>
          <p:cNvPr id="7" name="TextBox 6"/>
          <p:cNvSpPr txBox="1"/>
          <p:nvPr/>
        </p:nvSpPr>
        <p:spPr>
          <a:xfrm>
            <a:off x="525780" y="1322222"/>
            <a:ext cx="7863840" cy="1371600"/>
          </a:xfrm>
          <a:prstGeom prst="rect">
            <a:avLst/>
          </a:prstGeom>
          <a:noFill/>
        </p:spPr>
        <p:txBody>
          <a:bodyPr wrap="square" lIns="54864" rIns="54864" tIns="36576" bIns="36576" anchor="t"/>
          <a:lstStyle/>
          <a:p>
            <a:pPr algn="just" marL="155448" indent="-146304">
              <a:spcBef>
                <a:spcPts val="400"/>
              </a:spcBef>
              <a:buFont typeface="Arial"/>
              <a:buChar char="•"/>
            </a:pPr>
            <a:r>
              <a:rPr sz="1200" b="1" i="0">
                <a:solidFill>
                  <a:srgbClr val="000000"/>
                </a:solidFill>
                <a:latin typeface="Arial"/>
              </a:rPr>
              <a:t>Dominant provider of inspection and metrology systems</a:t>
            </a:r>
            <a:r>
              <a:rPr sz="1200" b="0" i="0">
                <a:solidFill>
                  <a:srgbClr val="000000"/>
                </a:solidFill>
                <a:latin typeface="Arial"/>
              </a:rPr>
              <a:t> that detect defects at every step of chip manufacturing, serving foundry, logic and memory makers.</a:t>
            </a:r>
          </a:p>
          <a:p>
            <a:pPr algn="just" marL="155448" indent="-146304">
              <a:spcBef>
                <a:spcPts val="400"/>
              </a:spcBef>
              <a:buFont typeface="Arial"/>
              <a:buChar char="•"/>
            </a:pPr>
            <a:r>
              <a:rPr sz="1200" b="0" i="0">
                <a:solidFill>
                  <a:srgbClr val="000000"/>
                </a:solidFill>
                <a:latin typeface="Arial"/>
              </a:rPr>
              <a:t>Competes through </a:t>
            </a:r>
            <a:r>
              <a:rPr sz="1200" b="1" i="0">
                <a:solidFill>
                  <a:srgbClr val="000000"/>
                </a:solidFill>
                <a:latin typeface="Arial"/>
              </a:rPr>
              <a:t>R&amp;D scale and IP</a:t>
            </a:r>
            <a:r>
              <a:rPr sz="1200" b="0" i="0">
                <a:solidFill>
                  <a:srgbClr val="000000"/>
                </a:solidFill>
                <a:latin typeface="Arial"/>
              </a:rPr>
              <a:t>: 9,100 patents and $1.5bn of annual R&amp;D (11% of revenue).</a:t>
            </a:r>
          </a:p>
        </p:txBody>
      </p:sp>
      <p:sp>
        <p:nvSpPr>
          <p:cNvPr id="8" name="Rectangle 7"/>
          <p:cNvSpPr/>
          <p:nvPr/>
        </p:nvSpPr>
        <p:spPr>
          <a:xfrm>
            <a:off x="8778240" y="1367942"/>
            <a:ext cx="2743200" cy="914400"/>
          </a:xfrm>
          <a:prstGeom prst="rect">
            <a:avLst/>
          </a:prstGeom>
          <a:noFill/>
          <a:ln w="9525">
            <a:solidFill>
              <a:srgbClr val="A6A6A6"/>
            </a:solidFill>
          </a:ln>
        </p:spPr>
        <p:txBody>
          <a:bodyPr rtlCol="0" anchor="ctr" wrap="square" lIns="54864" rIns="54864" tIns="36576" bIns="36576"/>
          <a:lstStyle/>
          <a:p>
            <a:pPr algn="ctr"/>
            <a:r>
              <a:rPr sz="1000" b="0" i="0">
                <a:solidFill>
                  <a:srgbClr val="7F7F7F"/>
                </a:solidFill>
                <a:latin typeface="Arial"/>
              </a:rPr>
              <a:t>[ company logo ]</a:t>
            </a:r>
          </a:p>
        </p:txBody>
      </p:sp>
      <p:sp>
        <p:nvSpPr>
          <p:cNvPr id="9" name="Rectangle 8"/>
          <p:cNvSpPr/>
          <p:nvPr/>
        </p:nvSpPr>
        <p:spPr>
          <a:xfrm>
            <a:off x="525780" y="2880360"/>
            <a:ext cx="3627729" cy="329184"/>
          </a:xfrm>
          <a:prstGeom prst="rect">
            <a:avLst/>
          </a:prstGeom>
          <a:solidFill>
            <a:srgbClr val="242852"/>
          </a:solidFill>
          <a:ln>
            <a:noFill/>
          </a:ln>
        </p:spPr>
        <p:txBody>
          <a:bodyPr rtlCol="0" anchor="ctr" wrap="square" lIns="54864" rIns="54864" tIns="36576" bIns="36576"/>
          <a:lstStyle/>
          <a:p>
            <a:pPr algn="ctr"/>
            <a:r>
              <a:rPr sz="1200" b="1" i="0">
                <a:solidFill>
                  <a:srgbClr val="FFFFFF"/>
                </a:solidFill>
                <a:latin typeface="Arial"/>
              </a:rPr>
              <a:t>Process Control</a:t>
            </a:r>
          </a:p>
        </p:txBody>
      </p:sp>
      <p:sp>
        <p:nvSpPr>
          <p:cNvPr id="10" name="TextBox 9"/>
          <p:cNvSpPr txBox="1"/>
          <p:nvPr/>
        </p:nvSpPr>
        <p:spPr>
          <a:xfrm>
            <a:off x="525780" y="3227832"/>
            <a:ext cx="3627729" cy="228600"/>
          </a:xfrm>
          <a:prstGeom prst="rect">
            <a:avLst/>
          </a:prstGeom>
          <a:noFill/>
        </p:spPr>
        <p:txBody>
          <a:bodyPr wrap="square" lIns="0" rIns="0" tIns="0" bIns="0" anchor="t"/>
          <a:lstStyle/>
          <a:p>
            <a:pPr algn="ctr"/>
            <a:r>
              <a:rPr sz="1000" b="0" i="1">
                <a:solidFill>
                  <a:srgbClr val="000000"/>
                </a:solidFill>
                <a:latin typeface="Arial"/>
              </a:rPr>
              <a:t>90% of revenue</a:t>
            </a:r>
          </a:p>
        </p:txBody>
      </p:sp>
      <p:sp>
        <p:nvSpPr>
          <p:cNvPr id="11" name="Rectangle 10"/>
          <p:cNvSpPr/>
          <p:nvPr/>
        </p:nvSpPr>
        <p:spPr>
          <a:xfrm>
            <a:off x="525780" y="3493008"/>
            <a:ext cx="3627729" cy="1417320"/>
          </a:xfrm>
          <a:prstGeom prst="rect">
            <a:avLst/>
          </a:prstGeom>
          <a:noFill/>
          <a:ln w="9525">
            <a:solidFill>
              <a:srgbClr val="A6A6A6"/>
            </a:solidFill>
          </a:ln>
        </p:spPr>
        <p:txBody>
          <a:bodyPr rtlCol="0" anchor="t" wrap="square" lIns="73152" rIns="73152" tIns="36576" bIns="36576"/>
          <a:lstStyle/>
          <a:p>
            <a:pPr algn="l" marL="155448" indent="-146304">
              <a:spcBef>
                <a:spcPts val="400"/>
              </a:spcBef>
              <a:buFont typeface="Arial"/>
              <a:buChar char="•"/>
            </a:pPr>
            <a:r>
              <a:rPr sz="1000" b="0" i="0">
                <a:solidFill>
                  <a:srgbClr val="000000"/>
                </a:solidFill>
                <a:latin typeface="Arial"/>
              </a:rPr>
              <a:t>Inspection &amp; metrology for wafers and reticles</a:t>
            </a:r>
          </a:p>
          <a:p>
            <a:pPr algn="l" marL="155448" indent="-146304">
              <a:spcBef>
                <a:spcPts val="400"/>
              </a:spcBef>
              <a:buFont typeface="Arial"/>
              <a:buChar char="•"/>
            </a:pPr>
            <a:r>
              <a:rPr sz="1000" b="0" i="0">
                <a:solidFill>
                  <a:srgbClr val="000000"/>
                </a:solidFill>
                <a:latin typeface="Arial"/>
              </a:rPr>
              <a:t>Revenue </a:t>
            </a:r>
            <a:r>
              <a:rPr sz="1000" b="1" i="0">
                <a:solidFill>
                  <a:srgbClr val="000000"/>
                </a:solidFill>
                <a:latin typeface="Arial"/>
              </a:rPr>
              <a:t>+12% YoY</a:t>
            </a:r>
            <a:r>
              <a:rPr sz="1000" b="0" i="0">
                <a:solidFill>
                  <a:srgbClr val="000000"/>
                </a:solidFill>
                <a:latin typeface="Arial"/>
              </a:rPr>
              <a:t> on AI/HBM demand</a:t>
            </a:r>
          </a:p>
          <a:p>
            <a:pPr algn="l" marL="155448" indent="-146304">
              <a:spcBef>
                <a:spcPts val="400"/>
              </a:spcBef>
              <a:buFont typeface="Arial"/>
              <a:buChar char="•"/>
            </a:pPr>
            <a:r>
              <a:rPr sz="1000" b="0" i="0">
                <a:solidFill>
                  <a:srgbClr val="000000"/>
                </a:solidFill>
                <a:latin typeface="Arial"/>
              </a:rPr>
              <a:t>Mix: foundry/logic 79%, memory 21%</a:t>
            </a:r>
          </a:p>
        </p:txBody>
      </p:sp>
      <p:sp>
        <p:nvSpPr>
          <p:cNvPr id="12" name="Rectangle 11"/>
          <p:cNvSpPr/>
          <p:nvPr/>
        </p:nvSpPr>
        <p:spPr>
          <a:xfrm>
            <a:off x="4336389" y="2880360"/>
            <a:ext cx="3627729" cy="329184"/>
          </a:xfrm>
          <a:prstGeom prst="rect">
            <a:avLst/>
          </a:prstGeom>
          <a:solidFill>
            <a:srgbClr val="7F8FA9"/>
          </a:solidFill>
          <a:ln>
            <a:noFill/>
          </a:ln>
        </p:spPr>
        <p:txBody>
          <a:bodyPr rtlCol="0" anchor="ctr" wrap="square" lIns="54864" rIns="54864" tIns="36576" bIns="36576"/>
          <a:lstStyle/>
          <a:p>
            <a:pPr algn="ctr"/>
            <a:r>
              <a:rPr sz="1200" b="1" i="0">
                <a:solidFill>
                  <a:srgbClr val="FFFFFF"/>
                </a:solidFill>
                <a:latin typeface="Arial"/>
              </a:rPr>
              <a:t>PCB &amp; Components</a:t>
            </a:r>
          </a:p>
        </p:txBody>
      </p:sp>
      <p:sp>
        <p:nvSpPr>
          <p:cNvPr id="13" name="TextBox 12"/>
          <p:cNvSpPr txBox="1"/>
          <p:nvPr/>
        </p:nvSpPr>
        <p:spPr>
          <a:xfrm>
            <a:off x="4336389" y="3227832"/>
            <a:ext cx="3627729" cy="228600"/>
          </a:xfrm>
          <a:prstGeom prst="rect">
            <a:avLst/>
          </a:prstGeom>
          <a:noFill/>
        </p:spPr>
        <p:txBody>
          <a:bodyPr wrap="square" lIns="0" rIns="0" tIns="0" bIns="0" anchor="t"/>
          <a:lstStyle/>
          <a:p>
            <a:pPr algn="ctr"/>
            <a:r>
              <a:rPr sz="1000" b="0" i="1">
                <a:solidFill>
                  <a:srgbClr val="000000"/>
                </a:solidFill>
                <a:latin typeface="Arial"/>
              </a:rPr>
              <a:t>6% of revenue</a:t>
            </a:r>
          </a:p>
        </p:txBody>
      </p:sp>
      <p:sp>
        <p:nvSpPr>
          <p:cNvPr id="14" name="Rectangle 13"/>
          <p:cNvSpPr/>
          <p:nvPr/>
        </p:nvSpPr>
        <p:spPr>
          <a:xfrm>
            <a:off x="4336389" y="3493008"/>
            <a:ext cx="3627729" cy="1417320"/>
          </a:xfrm>
          <a:prstGeom prst="rect">
            <a:avLst/>
          </a:prstGeom>
          <a:noFill/>
          <a:ln w="9525">
            <a:solidFill>
              <a:srgbClr val="A6A6A6"/>
            </a:solidFill>
          </a:ln>
        </p:spPr>
        <p:txBody>
          <a:bodyPr rtlCol="0" anchor="t" wrap="square" lIns="73152" rIns="73152" tIns="36576" bIns="36576"/>
          <a:lstStyle/>
          <a:p>
            <a:pPr algn="l" marL="155448" indent="-146304">
              <a:spcBef>
                <a:spcPts val="400"/>
              </a:spcBef>
              <a:buFont typeface="Arial"/>
              <a:buChar char="•"/>
            </a:pPr>
            <a:r>
              <a:rPr sz="1000" b="0" i="0">
                <a:solidFill>
                  <a:srgbClr val="000000"/>
                </a:solidFill>
                <a:latin typeface="Arial"/>
              </a:rPr>
              <a:t>Inspection &amp; metrology for wafers and reticles</a:t>
            </a:r>
          </a:p>
          <a:p>
            <a:pPr algn="l" marL="155448" indent="-146304">
              <a:spcBef>
                <a:spcPts val="400"/>
              </a:spcBef>
              <a:buFont typeface="Arial"/>
              <a:buChar char="•"/>
            </a:pPr>
            <a:r>
              <a:rPr sz="1000" b="0" i="0">
                <a:solidFill>
                  <a:srgbClr val="000000"/>
                </a:solidFill>
                <a:latin typeface="Arial"/>
              </a:rPr>
              <a:t>Revenue </a:t>
            </a:r>
            <a:r>
              <a:rPr sz="1000" b="1" i="0">
                <a:solidFill>
                  <a:srgbClr val="000000"/>
                </a:solidFill>
                <a:latin typeface="Arial"/>
              </a:rPr>
              <a:t>+12% YoY</a:t>
            </a:r>
            <a:r>
              <a:rPr sz="1000" b="0" i="0">
                <a:solidFill>
                  <a:srgbClr val="000000"/>
                </a:solidFill>
                <a:latin typeface="Arial"/>
              </a:rPr>
              <a:t> on AI/HBM demand</a:t>
            </a:r>
          </a:p>
          <a:p>
            <a:pPr algn="l" marL="155448" indent="-146304">
              <a:spcBef>
                <a:spcPts val="400"/>
              </a:spcBef>
              <a:buFont typeface="Arial"/>
              <a:buChar char="•"/>
            </a:pPr>
            <a:r>
              <a:rPr sz="1000" b="0" i="0">
                <a:solidFill>
                  <a:srgbClr val="000000"/>
                </a:solidFill>
                <a:latin typeface="Arial"/>
              </a:rPr>
              <a:t>Mix: foundry/logic 79%, memory 21%</a:t>
            </a:r>
          </a:p>
        </p:txBody>
      </p:sp>
      <p:sp>
        <p:nvSpPr>
          <p:cNvPr id="15" name="Rectangle 14"/>
          <p:cNvSpPr/>
          <p:nvPr/>
        </p:nvSpPr>
        <p:spPr>
          <a:xfrm>
            <a:off x="8146999" y="2880360"/>
            <a:ext cx="3627729" cy="329184"/>
          </a:xfrm>
          <a:prstGeom prst="rect">
            <a:avLst/>
          </a:prstGeom>
          <a:solidFill>
            <a:srgbClr val="7F7F7F"/>
          </a:solidFill>
          <a:ln>
            <a:noFill/>
          </a:ln>
        </p:spPr>
        <p:txBody>
          <a:bodyPr rtlCol="0" anchor="ctr" wrap="square" lIns="54864" rIns="54864" tIns="36576" bIns="36576"/>
          <a:lstStyle/>
          <a:p>
            <a:pPr algn="ctr"/>
            <a:r>
              <a:rPr sz="1200" b="1" i="0">
                <a:solidFill>
                  <a:srgbClr val="FFFFFF"/>
                </a:solidFill>
                <a:latin typeface="Arial"/>
              </a:rPr>
              <a:t>Specialty Process</a:t>
            </a:r>
          </a:p>
        </p:txBody>
      </p:sp>
      <p:sp>
        <p:nvSpPr>
          <p:cNvPr id="16" name="TextBox 15"/>
          <p:cNvSpPr txBox="1"/>
          <p:nvPr/>
        </p:nvSpPr>
        <p:spPr>
          <a:xfrm>
            <a:off x="8146999" y="3227832"/>
            <a:ext cx="3627729" cy="228600"/>
          </a:xfrm>
          <a:prstGeom prst="rect">
            <a:avLst/>
          </a:prstGeom>
          <a:noFill/>
        </p:spPr>
        <p:txBody>
          <a:bodyPr wrap="square" lIns="0" rIns="0" tIns="0" bIns="0" anchor="t"/>
          <a:lstStyle/>
          <a:p>
            <a:pPr algn="ctr"/>
            <a:r>
              <a:rPr sz="1000" b="0" i="1">
                <a:solidFill>
                  <a:srgbClr val="000000"/>
                </a:solidFill>
                <a:latin typeface="Arial"/>
              </a:rPr>
              <a:t>4% of revenue</a:t>
            </a:r>
          </a:p>
        </p:txBody>
      </p:sp>
      <p:sp>
        <p:nvSpPr>
          <p:cNvPr id="17" name="Rectangle 16"/>
          <p:cNvSpPr/>
          <p:nvPr/>
        </p:nvSpPr>
        <p:spPr>
          <a:xfrm>
            <a:off x="8146999" y="3493008"/>
            <a:ext cx="3627729" cy="1417320"/>
          </a:xfrm>
          <a:prstGeom prst="rect">
            <a:avLst/>
          </a:prstGeom>
          <a:noFill/>
          <a:ln w="9525">
            <a:solidFill>
              <a:srgbClr val="A6A6A6"/>
            </a:solidFill>
          </a:ln>
        </p:spPr>
        <p:txBody>
          <a:bodyPr rtlCol="0" anchor="t" wrap="square" lIns="73152" rIns="73152" tIns="36576" bIns="36576"/>
          <a:lstStyle/>
          <a:p>
            <a:pPr algn="l" marL="155448" indent="-146304">
              <a:spcBef>
                <a:spcPts val="400"/>
              </a:spcBef>
              <a:buFont typeface="Arial"/>
              <a:buChar char="•"/>
            </a:pPr>
            <a:r>
              <a:rPr sz="1000" b="0" i="0">
                <a:solidFill>
                  <a:srgbClr val="000000"/>
                </a:solidFill>
                <a:latin typeface="Arial"/>
              </a:rPr>
              <a:t>Inspection &amp; metrology for wafers and reticles</a:t>
            </a:r>
          </a:p>
          <a:p>
            <a:pPr algn="l" marL="155448" indent="-146304">
              <a:spcBef>
                <a:spcPts val="400"/>
              </a:spcBef>
              <a:buFont typeface="Arial"/>
              <a:buChar char="•"/>
            </a:pPr>
            <a:r>
              <a:rPr sz="1000" b="0" i="0">
                <a:solidFill>
                  <a:srgbClr val="000000"/>
                </a:solidFill>
                <a:latin typeface="Arial"/>
              </a:rPr>
              <a:t>Revenue </a:t>
            </a:r>
            <a:r>
              <a:rPr sz="1000" b="1" i="0">
                <a:solidFill>
                  <a:srgbClr val="000000"/>
                </a:solidFill>
                <a:latin typeface="Arial"/>
              </a:rPr>
              <a:t>+12% YoY</a:t>
            </a:r>
            <a:r>
              <a:rPr sz="1000" b="0" i="0">
                <a:solidFill>
                  <a:srgbClr val="000000"/>
                </a:solidFill>
                <a:latin typeface="Arial"/>
              </a:rPr>
              <a:t> on AI/HBM demand</a:t>
            </a:r>
          </a:p>
          <a:p>
            <a:pPr algn="l" marL="155448" indent="-146304">
              <a:spcBef>
                <a:spcPts val="400"/>
              </a:spcBef>
              <a:buFont typeface="Arial"/>
              <a:buChar char="•"/>
            </a:pPr>
            <a:r>
              <a:rPr sz="1000" b="0" i="0">
                <a:solidFill>
                  <a:srgbClr val="000000"/>
                </a:solidFill>
                <a:latin typeface="Arial"/>
              </a:rPr>
              <a:t>Mix: foundry/logic 79%, memory 21%</a:t>
            </a:r>
          </a:p>
        </p:txBody>
      </p:sp>
      <p:sp>
        <p:nvSpPr>
          <p:cNvPr id="18" name="Rounded Rectangle 17"/>
          <p:cNvSpPr/>
          <p:nvPr/>
        </p:nvSpPr>
        <p:spPr>
          <a:xfrm>
            <a:off x="525780" y="5120640"/>
            <a:ext cx="11248948" cy="502920"/>
          </a:xfrm>
          <a:prstGeom prst="roundRect">
            <a:avLst>
              <a:gd name="adj" fmla="val 15000"/>
            </a:avLst>
          </a:prstGeom>
          <a:solidFill>
            <a:srgbClr val="242852"/>
          </a:solidFill>
          <a:ln>
            <a:noFill/>
          </a:ln>
        </p:spPr>
        <p:txBody>
          <a:bodyPr rtlCol="0" anchor="ctr" wrap="square" lIns="54864" rIns="54864" tIns="36576" bIns="36576"/>
          <a:lstStyle/>
          <a:p>
            <a:pPr algn="ctr"/>
            <a:r>
              <a:rPr sz="1200" b="1" i="0">
                <a:solidFill>
                  <a:srgbClr val="FFFFFF"/>
                </a:solidFill>
                <a:latin typeface="Arial"/>
              </a:rPr>
              <a:t>Takeaway: one segment drives 90% of revenue - the thesis is a process-control thesis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Revenue Compounds at 12% as Services Scale</a:t>
            </a:r>
          </a:p>
        </p:txBody>
      </p:sp>
      <p:sp>
        <p:nvSpPr>
          <p:cNvPr id="4" name="Subtitle 3"/>
          <p:cNvSpPr>
            <a:spLocks noGrp="1"/>
          </p:cNvSpPr>
          <p:nvPr>
            <p:ph type="subTitle" idx="1"/>
          </p:nvPr>
        </p:nvSpPr>
        <p:spPr/>
        <p:txBody>
          <a:bodyPr/>
          <a:lstStyle/>
          <a:p>
            <a:r>
              <a:t>FY21-FY27E CAGR 11.8%; services rise from 24% to 38% of revenue</a:t>
            </a:r>
          </a:p>
        </p:txBody>
      </p:sp>
      <p:sp>
        <p:nvSpPr>
          <p:cNvPr id="5" name="Text Placeholder 4"/>
          <p:cNvSpPr>
            <a:spLocks noGrp="1"/>
          </p:cNvSpPr>
          <p:nvPr>
            <p:ph type="body" idx="14" sz="quarter"/>
          </p:nvPr>
        </p:nvSpPr>
        <p:spPr/>
        <p:txBody>
          <a:bodyPr/>
          <a:lstStyle/>
          <a:p>
            <a:r>
              <a:t>Illustrative data - layout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5</a:t>
            </a:r>
          </a:p>
        </p:txBody>
      </p:sp>
      <p:sp>
        <p:nvSpPr>
          <p:cNvPr id="7" name="TextBox 6"/>
          <p:cNvSpPr txBox="1"/>
          <p:nvPr/>
        </p:nvSpPr>
        <p:spPr>
          <a:xfrm>
            <a:off x="525780" y="1345996"/>
            <a:ext cx="6949440" cy="317296"/>
          </a:xfrm>
          <a:prstGeom prst="rect">
            <a:avLst/>
          </a:prstGeom>
          <a:noFill/>
        </p:spPr>
        <p:txBody>
          <a:bodyPr wrap="square" lIns="0" rIns="0" tIns="0" bIns="0" anchor="b"/>
          <a:lstStyle/>
          <a:p>
            <a:pPr algn="l"/>
            <a:r>
              <a:rPr sz="1600" b="1" i="0">
                <a:solidFill>
                  <a:srgbClr val="404040"/>
                </a:solidFill>
                <a:latin typeface="Arial"/>
              </a:rPr>
              <a:t>Revenue by Segment</a:t>
            </a:r>
          </a:p>
        </p:txBody>
      </p:sp>
      <p:cxnSp>
        <p:nvCxnSpPr>
          <p:cNvPr id="8" name="Connector 7"/>
          <p:cNvCxnSpPr/>
          <p:nvPr/>
        </p:nvCxnSpPr>
        <p:spPr>
          <a:xfrm>
            <a:off x="525780" y="1701698"/>
            <a:ext cx="6949439" cy="0"/>
          </a:xfrm>
          <a:prstGeom prst="line">
            <a:avLst/>
          </a:prstGeom>
          <a:ln w="12700">
            <a:solidFill>
              <a:srgbClr val="000000"/>
            </a:solidFill>
          </a:ln>
        </p:spPr>
      </p:cxnSp>
      <p:sp>
        <p:nvSpPr>
          <p:cNvPr id="9" name="TextBox 8"/>
          <p:cNvSpPr txBox="1"/>
          <p:nvPr/>
        </p:nvSpPr>
        <p:spPr>
          <a:xfrm>
            <a:off x="525780" y="1740103"/>
            <a:ext cx="6949440" cy="228600"/>
          </a:xfrm>
          <a:prstGeom prst="rect">
            <a:avLst/>
          </a:prstGeom>
          <a:noFill/>
        </p:spPr>
        <p:txBody>
          <a:bodyPr wrap="square" lIns="0" rIns="0" tIns="0" bIns="0" anchor="t"/>
          <a:lstStyle/>
          <a:p>
            <a:pPr algn="l"/>
            <a:r>
              <a:rPr sz="1200" b="0" i="1">
                <a:solidFill>
                  <a:srgbClr val="000000"/>
                </a:solidFill>
                <a:latin typeface="Arial"/>
              </a:rPr>
              <a:t>Amounts in USD millions; FY26E-FY27E consensus</a:t>
            </a:r>
          </a:p>
        </p:txBody>
      </p:sp>
      <p:sp>
        <p:nvSpPr>
          <p:cNvPr id="10" name="Rectangle 9"/>
          <p:cNvSpPr/>
          <p:nvPr/>
        </p:nvSpPr>
        <p:spPr>
          <a:xfrm>
            <a:off x="5430099" y="2024481"/>
            <a:ext cx="1906132" cy="3564477"/>
          </a:xfrm>
          <a:prstGeom prst="rect">
            <a:avLst/>
          </a:prstGeom>
          <a:solidFill>
            <a:srgbClr val="F2F2F2"/>
          </a:solidFill>
          <a:ln>
            <a:noFill/>
          </a:ln>
        </p:spPr>
        <p:txBody>
          <a:bodyPr rtlCol="0" anchor="ctr"/>
          <a:lstStyle/>
          <a:p>
            <a:pPr algn="ctr"/>
          </a:p>
        </p:txBody>
      </p:sp>
      <p:sp>
        <p:nvSpPr>
          <p:cNvPr id="11" name="TextBox 10"/>
          <p:cNvSpPr txBox="1"/>
          <p:nvPr/>
        </p:nvSpPr>
        <p:spPr>
          <a:xfrm>
            <a:off x="5430099" y="2024481"/>
            <a:ext cx="1906132" cy="201168"/>
          </a:xfrm>
          <a:prstGeom prst="rect">
            <a:avLst/>
          </a:prstGeom>
          <a:noFill/>
        </p:spPr>
        <p:txBody>
          <a:bodyPr wrap="square" lIns="0" rIns="0" tIns="0" bIns="0" anchor="t"/>
          <a:lstStyle/>
          <a:p>
            <a:pPr algn="ctr"/>
            <a:r>
              <a:rPr sz="900" b="0" i="1">
                <a:solidFill>
                  <a:srgbClr val="7F7F7F"/>
                </a:solidFill>
                <a:latin typeface="Arial"/>
              </a:rPr>
              <a:t>Consensus forecast</a:t>
            </a:r>
          </a:p>
        </p:txBody>
      </p:sp>
      <p:graphicFrame>
        <p:nvGraphicFramePr>
          <p:cNvPr id="12" name="Chart 11"/>
          <p:cNvGraphicFramePr>
            <a:graphicFrameLocks noGrp="1"/>
          </p:cNvGraphicFramePr>
          <p:nvPr/>
        </p:nvGraphicFramePr>
        <p:xfrm>
          <a:off x="525780" y="2006193"/>
          <a:ext cx="6949440" cy="4166006"/>
        </p:xfrm>
        <a:graphic>
          <a:graphicData uri="http://schemas.openxmlformats.org/drawingml/2006/chart">
            <c:chart xmlns:c="http://schemas.openxmlformats.org/drawingml/2006/chart" r:id="rId2"/>
          </a:graphicData>
        </a:graphic>
      </p:graphicFrame>
      <p:cxnSp>
        <p:nvCxnSpPr>
          <p:cNvPr id="13" name="Connector 12"/>
          <p:cNvCxnSpPr/>
          <p:nvPr/>
        </p:nvCxnSpPr>
        <p:spPr>
          <a:xfrm flipV="1">
            <a:off x="1141301" y="2915788"/>
            <a:ext cx="5718397" cy="1159163"/>
          </a:xfrm>
          <a:prstGeom prst="line">
            <a:avLst/>
          </a:prstGeom>
          <a:ln w="12700">
            <a:solidFill>
              <a:srgbClr val="7F7F7F"/>
            </a:solidFill>
            <a:tailEnd type="triangle" w="med" len="med"/>
          </a:ln>
        </p:spPr>
      </p:cxnSp>
      <p:sp>
        <p:nvSpPr>
          <p:cNvPr id="14" name="Oval 13"/>
          <p:cNvSpPr/>
          <p:nvPr/>
        </p:nvSpPr>
        <p:spPr>
          <a:xfrm>
            <a:off x="3451860" y="3138753"/>
            <a:ext cx="1097280" cy="274320"/>
          </a:xfrm>
          <a:prstGeom prst="ellipse">
            <a:avLst/>
          </a:prstGeom>
          <a:solidFill>
            <a:srgbClr val="FFFFFF"/>
          </a:solidFill>
          <a:ln w="9525">
            <a:solidFill>
              <a:srgbClr val="7F7F7F"/>
            </a:solidFill>
          </a:ln>
        </p:spPr>
        <p:txBody>
          <a:bodyPr rtlCol="0" anchor="ctr" wrap="square" lIns="0" rIns="0" tIns="0" bIns="0"/>
          <a:lstStyle/>
          <a:p>
            <a:pPr algn="ctr"/>
            <a:r>
              <a:rPr sz="900" b="1" i="0">
                <a:solidFill>
                  <a:srgbClr val="000000"/>
                </a:solidFill>
                <a:latin typeface="Arial"/>
              </a:rPr>
              <a:t>CAGR: 11.8%</a:t>
            </a:r>
          </a:p>
        </p:txBody>
      </p:sp>
      <p:sp>
        <p:nvSpPr>
          <p:cNvPr id="15" name="TextBox 14"/>
          <p:cNvSpPr txBox="1"/>
          <p:nvPr/>
        </p:nvSpPr>
        <p:spPr>
          <a:xfrm>
            <a:off x="7726679" y="1345996"/>
            <a:ext cx="4048048" cy="317296"/>
          </a:xfrm>
          <a:prstGeom prst="rect">
            <a:avLst/>
          </a:prstGeom>
          <a:noFill/>
        </p:spPr>
        <p:txBody>
          <a:bodyPr wrap="square" lIns="0" rIns="0" tIns="0" bIns="0" anchor="b"/>
          <a:lstStyle/>
          <a:p>
            <a:pPr algn="l"/>
            <a:r>
              <a:rPr sz="1600" b="1" i="0">
                <a:solidFill>
                  <a:srgbClr val="404040"/>
                </a:solidFill>
                <a:latin typeface="Arial"/>
              </a:rPr>
              <a:t>Key Takeaways</a:t>
            </a:r>
          </a:p>
        </p:txBody>
      </p:sp>
      <p:cxnSp>
        <p:nvCxnSpPr>
          <p:cNvPr id="16" name="Connector 15"/>
          <p:cNvCxnSpPr/>
          <p:nvPr/>
        </p:nvCxnSpPr>
        <p:spPr>
          <a:xfrm>
            <a:off x="7726679" y="1701698"/>
            <a:ext cx="4048049" cy="0"/>
          </a:xfrm>
          <a:prstGeom prst="line">
            <a:avLst/>
          </a:prstGeom>
          <a:ln w="12700">
            <a:solidFill>
              <a:srgbClr val="000000"/>
            </a:solidFill>
          </a:ln>
        </p:spPr>
      </p:cxnSp>
      <p:sp>
        <p:nvSpPr>
          <p:cNvPr id="17" name="TextBox 16"/>
          <p:cNvSpPr txBox="1"/>
          <p:nvPr/>
        </p:nvSpPr>
        <p:spPr>
          <a:xfrm>
            <a:off x="7726679" y="1803196"/>
            <a:ext cx="4048048" cy="4206240"/>
          </a:xfrm>
          <a:prstGeom prst="rect">
            <a:avLst/>
          </a:prstGeom>
          <a:noFill/>
        </p:spPr>
        <p:txBody>
          <a:bodyPr wrap="square" lIns="54864" rIns="54864" tIns="36576" bIns="36576" anchor="t"/>
          <a:lstStyle/>
          <a:p>
            <a:pPr algn="l" marL="155448" indent="-146304">
              <a:spcBef>
                <a:spcPts val="400"/>
              </a:spcBef>
              <a:buFont typeface="Arial"/>
              <a:buChar char="•"/>
            </a:pPr>
            <a:r>
              <a:rPr sz="1200" b="1" i="0">
                <a:solidFill>
                  <a:srgbClr val="000000"/>
                </a:solidFill>
                <a:latin typeface="Arial"/>
              </a:rPr>
              <a:t>Services +21% CAGR:</a:t>
            </a:r>
            <a:r>
              <a:rPr sz="1200" b="0" i="0">
                <a:solidFill>
                  <a:srgbClr val="000000"/>
                </a:solidFill>
                <a:latin typeface="Arial"/>
              </a:rPr>
              <a:t> installed base of 17,000 tools converts into recurring revenue.</a:t>
            </a:r>
          </a:p>
          <a:p>
            <a:pPr algn="l" marL="155448" indent="-146304">
              <a:spcBef>
                <a:spcPts val="400"/>
              </a:spcBef>
              <a:buFont typeface="Arial"/>
              <a:buChar char="•"/>
            </a:pPr>
            <a:r>
              <a:rPr sz="1200" b="1" i="0">
                <a:solidFill>
                  <a:srgbClr val="000000"/>
                </a:solidFill>
                <a:latin typeface="Arial"/>
              </a:rPr>
              <a:t>Products cyclical:</a:t>
            </a:r>
            <a:r>
              <a:rPr sz="1200" b="0" i="0">
                <a:solidFill>
                  <a:srgbClr val="000000"/>
                </a:solidFill>
                <a:latin typeface="Arial"/>
              </a:rPr>
              <a:t> FY24 flat as memory capex paused.</a:t>
            </a:r>
          </a:p>
          <a:p>
            <a:pPr algn="l" marL="155448" indent="-146304">
              <a:spcBef>
                <a:spcPts val="400"/>
              </a:spcBef>
              <a:buFont typeface="Arial"/>
              <a:buChar char="•"/>
            </a:pPr>
            <a:r>
              <a:rPr sz="1200" b="1" i="0">
                <a:solidFill>
                  <a:srgbClr val="000000"/>
                </a:solidFill>
                <a:latin typeface="Arial"/>
              </a:rPr>
              <a:t>Estimate risk:</a:t>
            </a:r>
            <a:r>
              <a:rPr sz="1200" b="0" i="0">
                <a:solidFill>
                  <a:srgbClr val="000000"/>
                </a:solidFill>
                <a:latin typeface="Arial"/>
              </a:rPr>
              <a:t> FY27E assumes WFE of $150bn; </a:t>
            </a:r>
            <a:r>
              <a:rPr sz="1200" b="1" i="0">
                <a:solidFill>
                  <a:srgbClr val="C00000"/>
                </a:solidFill>
                <a:latin typeface="Arial"/>
              </a:rPr>
              <a:t>a 10% miss cuts revenue ~6%</a:t>
            </a:r>
            <a:r>
              <a:rPr sz="1200" b="0" i="0">
                <a:solidFill>
                  <a:srgbClr val="000000"/>
                </a:solidFill>
                <a:latin typeface="Arial"/>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Overweight Tech, Underweight Materials</a:t>
            </a:r>
          </a:p>
        </p:txBody>
      </p:sp>
      <p:sp>
        <p:nvSpPr>
          <p:cNvPr id="4" name="Subtitle 3"/>
          <p:cNvSpPr>
            <a:spLocks noGrp="1"/>
          </p:cNvSpPr>
          <p:nvPr>
            <p:ph type="subTitle" idx="1"/>
          </p:nvPr>
        </p:nvSpPr>
        <p:spPr/>
        <p:txBody>
          <a:bodyPr/>
          <a:lstStyle/>
          <a:p>
            <a:r>
              <a:t>Average 2024-26: +6.3pp in Info. Technology, -9.0pp in Materials vs the peer average</a:t>
            </a:r>
          </a:p>
        </p:txBody>
      </p:sp>
      <p:sp>
        <p:nvSpPr>
          <p:cNvPr id="5" name="Text Placeholder 4"/>
          <p:cNvSpPr>
            <a:spLocks noGrp="1"/>
          </p:cNvSpPr>
          <p:nvPr>
            <p:ph type="body" idx="14" sz="quarter"/>
          </p:nvPr>
        </p:nvSpPr>
        <p:spPr/>
        <p:txBody>
          <a:bodyPr/>
          <a:lstStyle/>
          <a:p>
            <a:r>
              <a:t>Illustrative data - layout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6</a:t>
            </a:r>
          </a:p>
        </p:txBody>
      </p:sp>
      <p:sp>
        <p:nvSpPr>
          <p:cNvPr id="7" name="TextBox 6"/>
          <p:cNvSpPr txBox="1"/>
          <p:nvPr/>
        </p:nvSpPr>
        <p:spPr>
          <a:xfrm>
            <a:off x="525780" y="1345996"/>
            <a:ext cx="5459882" cy="317296"/>
          </a:xfrm>
          <a:prstGeom prst="rect">
            <a:avLst/>
          </a:prstGeom>
          <a:noFill/>
        </p:spPr>
        <p:txBody>
          <a:bodyPr wrap="square" lIns="0" rIns="0" tIns="0" bIns="0" anchor="b"/>
          <a:lstStyle/>
          <a:p>
            <a:pPr algn="l"/>
            <a:r>
              <a:rPr sz="1600" b="1" i="0">
                <a:solidFill>
                  <a:srgbClr val="404040"/>
                </a:solidFill>
                <a:latin typeface="Arial"/>
              </a:rPr>
              <a:t>Average Weight by Sector</a:t>
            </a:r>
          </a:p>
        </p:txBody>
      </p:sp>
      <p:cxnSp>
        <p:nvCxnSpPr>
          <p:cNvPr id="8" name="Connector 7"/>
          <p:cNvCxnSpPr/>
          <p:nvPr/>
        </p:nvCxnSpPr>
        <p:spPr>
          <a:xfrm>
            <a:off x="525780" y="1701698"/>
            <a:ext cx="5459882" cy="0"/>
          </a:xfrm>
          <a:prstGeom prst="line">
            <a:avLst/>
          </a:prstGeom>
          <a:ln w="12700">
            <a:solidFill>
              <a:srgbClr val="000000"/>
            </a:solidFill>
          </a:ln>
        </p:spPr>
      </p:cxnSp>
      <p:sp>
        <p:nvSpPr>
          <p:cNvPr id="9" name="TextBox 8"/>
          <p:cNvSpPr txBox="1"/>
          <p:nvPr/>
        </p:nvSpPr>
        <p:spPr>
          <a:xfrm>
            <a:off x="525780" y="1740103"/>
            <a:ext cx="5459882" cy="228600"/>
          </a:xfrm>
          <a:prstGeom prst="rect">
            <a:avLst/>
          </a:prstGeom>
          <a:noFill/>
        </p:spPr>
        <p:txBody>
          <a:bodyPr wrap="square" lIns="0" rIns="0" tIns="0" bIns="0" anchor="t"/>
          <a:lstStyle/>
          <a:p>
            <a:pPr algn="l"/>
            <a:r>
              <a:rPr sz="1200" b="0" i="1">
                <a:solidFill>
                  <a:srgbClr val="000000"/>
                </a:solidFill>
                <a:latin typeface="Arial"/>
              </a:rPr>
              <a:t>Fund vs peer average, Jan-24 to Sep-26</a:t>
            </a:r>
          </a:p>
        </p:txBody>
      </p:sp>
      <p:graphicFrame>
        <p:nvGraphicFramePr>
          <p:cNvPr id="10" name="Chart 9"/>
          <p:cNvGraphicFramePr>
            <a:graphicFrameLocks noGrp="1"/>
          </p:cNvGraphicFramePr>
          <p:nvPr/>
        </p:nvGraphicFramePr>
        <p:xfrm>
          <a:off x="525780" y="2006193"/>
          <a:ext cx="5459882" cy="4166006"/>
        </p:xfrm>
        <a:graphic>
          <a:graphicData uri="http://schemas.openxmlformats.org/drawingml/2006/chart">
            <c:chart xmlns:c="http://schemas.openxmlformats.org/drawingml/2006/chart" r:id="rId2"/>
          </a:graphicData>
        </a:graphic>
      </p:graphicFrame>
      <p:sp>
        <p:nvSpPr>
          <p:cNvPr id="11" name="TextBox 10"/>
          <p:cNvSpPr txBox="1"/>
          <p:nvPr/>
        </p:nvSpPr>
        <p:spPr>
          <a:xfrm>
            <a:off x="6314846" y="1345996"/>
            <a:ext cx="5459882" cy="317296"/>
          </a:xfrm>
          <a:prstGeom prst="rect">
            <a:avLst/>
          </a:prstGeom>
          <a:noFill/>
        </p:spPr>
        <p:txBody>
          <a:bodyPr wrap="square" lIns="0" rIns="0" tIns="0" bIns="0" anchor="b"/>
          <a:lstStyle/>
          <a:p>
            <a:pPr algn="l"/>
            <a:r>
              <a:rPr sz="1600" b="1" i="0">
                <a:solidFill>
                  <a:srgbClr val="404040"/>
                </a:solidFill>
                <a:latin typeface="Arial"/>
              </a:rPr>
              <a:t>Over / Underweight vs Peers</a:t>
            </a:r>
          </a:p>
        </p:txBody>
      </p:sp>
      <p:cxnSp>
        <p:nvCxnSpPr>
          <p:cNvPr id="12" name="Connector 11"/>
          <p:cNvCxnSpPr/>
          <p:nvPr/>
        </p:nvCxnSpPr>
        <p:spPr>
          <a:xfrm>
            <a:off x="6314846" y="1701698"/>
            <a:ext cx="5459882" cy="0"/>
          </a:xfrm>
          <a:prstGeom prst="line">
            <a:avLst/>
          </a:prstGeom>
          <a:ln w="12700">
            <a:solidFill>
              <a:srgbClr val="000000"/>
            </a:solidFill>
          </a:ln>
        </p:spPr>
      </p:cxnSp>
      <p:sp>
        <p:nvSpPr>
          <p:cNvPr id="13" name="TextBox 12"/>
          <p:cNvSpPr txBox="1"/>
          <p:nvPr/>
        </p:nvSpPr>
        <p:spPr>
          <a:xfrm>
            <a:off x="6314846" y="1740103"/>
            <a:ext cx="5459882" cy="228600"/>
          </a:xfrm>
          <a:prstGeom prst="rect">
            <a:avLst/>
          </a:prstGeom>
          <a:noFill/>
        </p:spPr>
        <p:txBody>
          <a:bodyPr wrap="square" lIns="0" rIns="0" tIns="0" bIns="0" anchor="t"/>
          <a:lstStyle/>
          <a:p>
            <a:pPr algn="l"/>
            <a:r>
              <a:rPr sz="1200" b="0" i="1">
                <a:solidFill>
                  <a:srgbClr val="000000"/>
                </a:solidFill>
                <a:latin typeface="Arial"/>
              </a:rPr>
              <a:t>Fund weight minus peer average (pp)</a:t>
            </a:r>
          </a:p>
        </p:txBody>
      </p:sp>
      <p:graphicFrame>
        <p:nvGraphicFramePr>
          <p:cNvPr id="14" name="Chart 13"/>
          <p:cNvGraphicFramePr>
            <a:graphicFrameLocks noGrp="1"/>
          </p:cNvGraphicFramePr>
          <p:nvPr/>
        </p:nvGraphicFramePr>
        <p:xfrm>
          <a:off x="6314846" y="2006193"/>
          <a:ext cx="5459882" cy="4166006"/>
        </p:xfrm>
        <a:graphic>
          <a:graphicData uri="http://schemas.openxmlformats.org/drawingml/2006/chart">
            <c:chart xmlns:c="http://schemas.openxmlformats.org/drawingml/2006/chart" r:id="rId3"/>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Fund Lagged the Peers by 7.4pp a Year</a:t>
            </a:r>
          </a:p>
        </p:txBody>
      </p:sp>
      <p:sp>
        <p:nvSpPr>
          <p:cNvPr id="4" name="Subtitle 3"/>
          <p:cNvSpPr>
            <a:spLocks noGrp="1"/>
          </p:cNvSpPr>
          <p:nvPr>
            <p:ph type="subTitle" idx="1"/>
          </p:nvPr>
        </p:nvSpPr>
        <p:spPr/>
        <p:txBody>
          <a:bodyPr/>
          <a:lstStyle/>
          <a:p>
            <a:r>
              <a:t>Annualized Jan-24 to Sep-26: Fund 14.2% vs 21.7% for the peer average</a:t>
            </a:r>
          </a:p>
        </p:txBody>
      </p:sp>
      <p:sp>
        <p:nvSpPr>
          <p:cNvPr id="5" name="Text Placeholder 4"/>
          <p:cNvSpPr>
            <a:spLocks noGrp="1"/>
          </p:cNvSpPr>
          <p:nvPr>
            <p:ph type="body" idx="14" sz="quarter"/>
          </p:nvPr>
        </p:nvSpPr>
        <p:spPr/>
        <p:txBody>
          <a:bodyPr/>
          <a:lstStyle/>
          <a:p>
            <a:r>
              <a:t>Illustrative data - layout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7</a:t>
            </a:r>
          </a:p>
        </p:txBody>
      </p:sp>
      <p:sp>
        <p:nvSpPr>
          <p:cNvPr id="7" name="TextBox 6"/>
          <p:cNvSpPr txBox="1"/>
          <p:nvPr/>
        </p:nvSpPr>
        <p:spPr>
          <a:xfrm>
            <a:off x="525780" y="1345996"/>
            <a:ext cx="11248948" cy="317296"/>
          </a:xfrm>
          <a:prstGeom prst="rect">
            <a:avLst/>
          </a:prstGeom>
          <a:noFill/>
        </p:spPr>
        <p:txBody>
          <a:bodyPr wrap="square" lIns="0" rIns="0" tIns="0" bIns="0" anchor="b"/>
          <a:lstStyle/>
          <a:p>
            <a:pPr algn="l"/>
            <a:r>
              <a:rPr sz="1600" b="1" i="0">
                <a:solidFill>
                  <a:srgbClr val="404040"/>
                </a:solidFill>
                <a:latin typeface="Arial"/>
              </a:rPr>
              <a:t>Growth of 100</a:t>
            </a:r>
          </a:p>
        </p:txBody>
      </p:sp>
      <p:cxnSp>
        <p:nvCxnSpPr>
          <p:cNvPr id="8" name="Connector 7"/>
          <p:cNvCxnSpPr/>
          <p:nvPr/>
        </p:nvCxnSpPr>
        <p:spPr>
          <a:xfrm>
            <a:off x="525780" y="1701698"/>
            <a:ext cx="11248948" cy="0"/>
          </a:xfrm>
          <a:prstGeom prst="line">
            <a:avLst/>
          </a:prstGeom>
          <a:ln w="12700">
            <a:solidFill>
              <a:srgbClr val="000000"/>
            </a:solidFill>
          </a:ln>
        </p:spPr>
      </p:cxnSp>
      <p:sp>
        <p:nvSpPr>
          <p:cNvPr id="9" name="TextBox 8"/>
          <p:cNvSpPr txBox="1"/>
          <p:nvPr/>
        </p:nvSpPr>
        <p:spPr>
          <a:xfrm>
            <a:off x="525780" y="1740103"/>
            <a:ext cx="11248948" cy="228600"/>
          </a:xfrm>
          <a:prstGeom prst="rect">
            <a:avLst/>
          </a:prstGeom>
          <a:noFill/>
        </p:spPr>
        <p:txBody>
          <a:bodyPr wrap="square" lIns="0" rIns="0" tIns="0" bIns="0" anchor="t"/>
          <a:lstStyle/>
          <a:p>
            <a:pPr algn="l"/>
            <a:r>
              <a:rPr sz="1200" b="0" i="1">
                <a:solidFill>
                  <a:srgbClr val="000000"/>
                </a:solidFill>
                <a:latin typeface="Arial"/>
              </a:rPr>
              <a:t>Total return in USD, month-end; Dec-23 = 100</a:t>
            </a:r>
          </a:p>
        </p:txBody>
      </p:sp>
      <p:graphicFrame>
        <p:nvGraphicFramePr>
          <p:cNvPr id="10" name="Chart 9"/>
          <p:cNvGraphicFramePr>
            <a:graphicFrameLocks noGrp="1"/>
          </p:cNvGraphicFramePr>
          <p:nvPr/>
        </p:nvGraphicFramePr>
        <p:xfrm>
          <a:off x="525780" y="2006193"/>
          <a:ext cx="11248948" cy="2331720"/>
        </p:xfrm>
        <a:graphic>
          <a:graphicData uri="http://schemas.openxmlformats.org/drawingml/2006/chart">
            <c:chart xmlns:c="http://schemas.openxmlformats.org/drawingml/2006/chart" r:id="rId2"/>
          </a:graphicData>
        </a:graphic>
      </p:graphicFrame>
      <p:sp>
        <p:nvSpPr>
          <p:cNvPr id="11" name="TextBox 10"/>
          <p:cNvSpPr txBox="1"/>
          <p:nvPr/>
        </p:nvSpPr>
        <p:spPr>
          <a:xfrm>
            <a:off x="525780" y="4224528"/>
            <a:ext cx="11248948" cy="317296"/>
          </a:xfrm>
          <a:prstGeom prst="rect">
            <a:avLst/>
          </a:prstGeom>
          <a:noFill/>
        </p:spPr>
        <p:txBody>
          <a:bodyPr wrap="square" lIns="0" rIns="0" tIns="0" bIns="0" anchor="b"/>
          <a:lstStyle/>
          <a:p>
            <a:pPr algn="l"/>
            <a:r>
              <a:rPr sz="1600" b="1" i="0">
                <a:solidFill>
                  <a:srgbClr val="404040"/>
                </a:solidFill>
                <a:latin typeface="Arial"/>
              </a:rPr>
              <a:t>Fund Snapshot</a:t>
            </a:r>
          </a:p>
        </p:txBody>
      </p:sp>
      <p:cxnSp>
        <p:nvCxnSpPr>
          <p:cNvPr id="12" name="Connector 11"/>
          <p:cNvCxnSpPr/>
          <p:nvPr/>
        </p:nvCxnSpPr>
        <p:spPr>
          <a:xfrm>
            <a:off x="525780" y="4580229"/>
            <a:ext cx="11248948" cy="0"/>
          </a:xfrm>
          <a:prstGeom prst="line">
            <a:avLst/>
          </a:prstGeom>
          <a:ln w="12700">
            <a:solidFill>
              <a:srgbClr val="000000"/>
            </a:solidFill>
          </a:ln>
        </p:spPr>
      </p:cxnSp>
      <p:graphicFrame>
        <p:nvGraphicFramePr>
          <p:cNvPr id="13" name="Table 12"/>
          <p:cNvGraphicFramePr>
            <a:graphicFrameLocks noGrp="1"/>
          </p:cNvGraphicFramePr>
          <p:nvPr/>
        </p:nvGraphicFramePr>
        <p:xfrm>
          <a:off x="525780" y="4636008"/>
          <a:ext cx="11248944" cy="1234440"/>
        </p:xfrm>
        <a:graphic>
          <a:graphicData uri="http://schemas.openxmlformats.org/drawingml/2006/table">
            <a:tbl>
              <a:tblPr firstRow="0" bandRow="0">
                <a:tableStyleId>{2D5ABB26-0587-4C30-8999-92F81FD0307C}</a:tableStyleId>
              </a:tblPr>
              <a:tblGrid>
                <a:gridCol w="2743200"/>
                <a:gridCol w="1417624"/>
                <a:gridCol w="1417624"/>
                <a:gridCol w="1417624"/>
                <a:gridCol w="1417624"/>
                <a:gridCol w="1417624"/>
                <a:gridCol w="1417624"/>
              </a:tblGrid>
              <a:tr h="246888">
                <a:tc>
                  <a:txBody>
                    <a:bodyPr wrap="square" lIns="36576" rIns="36576" tIns="36576" bIns="36576" anchor="t"/>
                    <a:lstStyle/>
                    <a:p>
                      <a:pPr algn="l"/>
                      <a:r>
                        <a:rPr sz="1000" b="1" i="0">
                          <a:solidFill>
                            <a:srgbClr val="FFFFFF"/>
                          </a:solidFill>
                          <a:latin typeface="Arial"/>
                        </a:rPr>
                        <a:t>Fund</a:t>
                      </a:r>
                    </a:p>
                  </a:txBody>
                  <a:tcPr marL="45720" marR="45720" marT="9144" marB="9144" anchor="ctr">
                    <a:lnL w="0">
                      <a:noFill/>
                    </a:lnL>
                    <a:lnR w="0">
                      <a:noFill/>
                    </a:lnR>
                    <a:lnT w="9525">
                      <a:solidFill>
                        <a:srgbClr val="000000"/>
                      </a:solidFill>
                    </a:lnT>
                    <a:lnB w="9525">
                      <a:solidFill>
                        <a:srgbClr val="000000"/>
                      </a:solidFill>
                    </a:lnB>
                    <a:solidFill>
                      <a:srgbClr val="242852"/>
                    </a:solidFill>
                  </a:tcPr>
                </a:tc>
                <a:tc>
                  <a:txBody>
                    <a:bodyPr wrap="square" lIns="36576" rIns="36576" tIns="36576" bIns="36576" anchor="t"/>
                    <a:lstStyle/>
                    <a:p>
                      <a:pPr algn="ctr"/>
                      <a:r>
                        <a:rPr sz="1000" b="1" i="0">
                          <a:solidFill>
                            <a:srgbClr val="FFFFFF"/>
                          </a:solidFill>
                          <a:latin typeface="Arial"/>
                        </a:rPr>
                        <a:t># Holdings</a:t>
                      </a:r>
                    </a:p>
                  </a:txBody>
                  <a:tcPr marL="45720" marR="45720" marT="9144" marB="9144" anchor="ctr">
                    <a:lnL w="0">
                      <a:noFill/>
                    </a:lnL>
                    <a:lnR w="0">
                      <a:noFill/>
                    </a:lnR>
                    <a:lnT w="9525">
                      <a:solidFill>
                        <a:srgbClr val="000000"/>
                      </a:solidFill>
                    </a:lnT>
                    <a:lnB w="9525">
                      <a:solidFill>
                        <a:srgbClr val="000000"/>
                      </a:solidFill>
                    </a:lnB>
                    <a:solidFill>
                      <a:srgbClr val="242852"/>
                    </a:solidFill>
                  </a:tcPr>
                </a:tc>
                <a:tc>
                  <a:txBody>
                    <a:bodyPr wrap="square" lIns="36576" rIns="36576" tIns="36576" bIns="36576" anchor="t"/>
                    <a:lstStyle/>
                    <a:p>
                      <a:pPr algn="ctr"/>
                      <a:r>
                        <a:rPr sz="1000" b="1" i="0">
                          <a:solidFill>
                            <a:srgbClr val="FFFFFF"/>
                          </a:solidFill>
                          <a:latin typeface="Arial"/>
                        </a:rPr>
                        <a:t>3Y Perf.</a:t>
                      </a:r>
                    </a:p>
                  </a:txBody>
                  <a:tcPr marL="45720" marR="45720" marT="9144" marB="9144" anchor="ctr">
                    <a:lnL w="0">
                      <a:noFill/>
                    </a:lnL>
                    <a:lnR w="0">
                      <a:noFill/>
                    </a:lnR>
                    <a:lnT w="9525">
                      <a:solidFill>
                        <a:srgbClr val="000000"/>
                      </a:solidFill>
                    </a:lnT>
                    <a:lnB w="9525">
                      <a:solidFill>
                        <a:srgbClr val="000000"/>
                      </a:solidFill>
                    </a:lnB>
                    <a:solidFill>
                      <a:srgbClr val="242852"/>
                    </a:solidFill>
                  </a:tcPr>
                </a:tc>
                <a:tc>
                  <a:txBody>
                    <a:bodyPr wrap="square" lIns="36576" rIns="36576" tIns="36576" bIns="36576" anchor="t"/>
                    <a:lstStyle/>
                    <a:p>
                      <a:pPr algn="ctr"/>
                      <a:r>
                        <a:rPr sz="1000" b="1" i="0">
                          <a:solidFill>
                            <a:srgbClr val="FFFFFF"/>
                          </a:solidFill>
                          <a:latin typeface="Arial"/>
                        </a:rPr>
                        <a:t>YTD</a:t>
                      </a:r>
                    </a:p>
                  </a:txBody>
                  <a:tcPr marL="45720" marR="45720" marT="9144" marB="9144" anchor="ctr">
                    <a:lnL w="0">
                      <a:noFill/>
                    </a:lnL>
                    <a:lnR w="0">
                      <a:noFill/>
                    </a:lnR>
                    <a:lnT w="9525">
                      <a:solidFill>
                        <a:srgbClr val="000000"/>
                      </a:solidFill>
                    </a:lnT>
                    <a:lnB w="9525">
                      <a:solidFill>
                        <a:srgbClr val="000000"/>
                      </a:solidFill>
                    </a:lnB>
                    <a:solidFill>
                      <a:srgbClr val="242852"/>
                    </a:solidFill>
                  </a:tcPr>
                </a:tc>
                <a:tc>
                  <a:txBody>
                    <a:bodyPr wrap="square" lIns="36576" rIns="36576" tIns="36576" bIns="36576" anchor="t"/>
                    <a:lstStyle/>
                    <a:p>
                      <a:pPr algn="ctr"/>
                      <a:r>
                        <a:rPr sz="1000" b="1" i="0">
                          <a:solidFill>
                            <a:srgbClr val="FFFFFF"/>
                          </a:solidFill>
                          <a:latin typeface="Arial"/>
                        </a:rPr>
                        <a:t>3M</a:t>
                      </a:r>
                    </a:p>
                  </a:txBody>
                  <a:tcPr marL="45720" marR="45720" marT="9144" marB="9144" anchor="ctr">
                    <a:lnL w="0">
                      <a:noFill/>
                    </a:lnL>
                    <a:lnR w="0">
                      <a:noFill/>
                    </a:lnR>
                    <a:lnT w="9525">
                      <a:solidFill>
                        <a:srgbClr val="000000"/>
                      </a:solidFill>
                    </a:lnT>
                    <a:lnB w="9525">
                      <a:solidFill>
                        <a:srgbClr val="000000"/>
                      </a:solidFill>
                    </a:lnB>
                    <a:solidFill>
                      <a:srgbClr val="242852"/>
                    </a:solidFill>
                  </a:tcPr>
                </a:tc>
                <a:tc>
                  <a:txBody>
                    <a:bodyPr wrap="square" lIns="36576" rIns="36576" tIns="36576" bIns="36576" anchor="t"/>
                    <a:lstStyle/>
                    <a:p>
                      <a:pPr algn="ctr"/>
                      <a:r>
                        <a:rPr sz="1000" b="1" i="0">
                          <a:solidFill>
                            <a:srgbClr val="FFFFFF"/>
                          </a:solidFill>
                          <a:latin typeface="Arial"/>
                        </a:rPr>
                        <a:t>1M</a:t>
                      </a:r>
                    </a:p>
                  </a:txBody>
                  <a:tcPr marL="45720" marR="45720" marT="9144" marB="9144" anchor="ctr">
                    <a:lnL w="0">
                      <a:noFill/>
                    </a:lnL>
                    <a:lnR w="0">
                      <a:noFill/>
                    </a:lnR>
                    <a:lnT w="9525">
                      <a:solidFill>
                        <a:srgbClr val="000000"/>
                      </a:solidFill>
                    </a:lnT>
                    <a:lnB w="9525">
                      <a:solidFill>
                        <a:srgbClr val="000000"/>
                      </a:solidFill>
                    </a:lnB>
                    <a:solidFill>
                      <a:srgbClr val="242852"/>
                    </a:solidFill>
                  </a:tcPr>
                </a:tc>
                <a:tc>
                  <a:txBody>
                    <a:bodyPr wrap="square" lIns="36576" rIns="36576" tIns="36576" bIns="36576" anchor="t"/>
                    <a:lstStyle/>
                    <a:p>
                      <a:pPr algn="ctr"/>
                      <a:r>
                        <a:rPr sz="1000" b="1" i="0">
                          <a:solidFill>
                            <a:srgbClr val="FFFFFF"/>
                          </a:solidFill>
                          <a:latin typeface="Arial"/>
                        </a:rPr>
                        <a:t>12M Fwd P/E</a:t>
                      </a:r>
                    </a:p>
                  </a:txBody>
                  <a:tcPr marL="45720" marR="45720" marT="9144" marB="9144" anchor="ctr">
                    <a:lnL w="0">
                      <a:noFill/>
                    </a:lnL>
                    <a:lnR w="0">
                      <a:noFill/>
                    </a:lnR>
                    <a:lnT w="9525">
                      <a:solidFill>
                        <a:srgbClr val="000000"/>
                      </a:solidFill>
                    </a:lnT>
                    <a:lnB w="9525">
                      <a:solidFill>
                        <a:srgbClr val="000000"/>
                      </a:solidFill>
                    </a:lnB>
                    <a:solidFill>
                      <a:srgbClr val="242852"/>
                    </a:solidFill>
                  </a:tcPr>
                </a:tc>
              </a:tr>
              <a:tr h="246888">
                <a:tc>
                  <a:txBody>
                    <a:bodyPr wrap="square" lIns="36576" rIns="36576" tIns="36576" bIns="36576" anchor="t"/>
                    <a:lstStyle/>
                    <a:p>
                      <a:pPr algn="l"/>
                      <a:r>
                        <a:rPr sz="1000" b="0" i="0">
                          <a:solidFill>
                            <a:srgbClr val="000000"/>
                          </a:solidFill>
                          <a:latin typeface="Arial"/>
                        </a:rPr>
                        <a:t>Fund</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50</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16.4%</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7.5%</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-7.9%</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-5.5%</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11.4x</a:t>
                      </a:r>
                    </a:p>
                  </a:txBody>
                  <a:tcPr marL="45720" marR="45720" marT="9144" marB="9144" anchor="ctr">
                    <a:lnL w="0">
                      <a:noFill/>
                    </a:lnL>
                    <a:lnR w="0">
                      <a:noFill/>
                    </a:lnR>
                    <a:lnT w="0">
                      <a:noFill/>
                    </a:lnT>
                    <a:lnB w="0">
                      <a:noFill/>
                    </a:lnB>
                    <a:noFill/>
                  </a:tcPr>
                </a:tc>
              </a:tr>
              <a:tr h="246888">
                <a:tc>
                  <a:txBody>
                    <a:bodyPr wrap="square" lIns="36576" rIns="36576" tIns="36576" bIns="36576" anchor="t"/>
                    <a:lstStyle/>
                    <a:p>
                      <a:pPr algn="l"/>
                      <a:r>
                        <a:rPr sz="1000" b="0" i="0">
                          <a:solidFill>
                            <a:srgbClr val="000000"/>
                          </a:solidFill>
                          <a:latin typeface="Arial"/>
                        </a:rPr>
                        <a:t>Peer A</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1,618</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28.3%</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18.6%</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6.6%</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-2.3%</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10.6x</a:t>
                      </a:r>
                    </a:p>
                  </a:txBody>
                  <a:tcPr marL="45720" marR="45720" marT="9144" marB="9144" anchor="ctr">
                    <a:lnL w="0">
                      <a:noFill/>
                    </a:lnL>
                    <a:lnR w="0">
                      <a:noFill/>
                    </a:lnR>
                    <a:lnT w="0">
                      <a:noFill/>
                    </a:lnT>
                    <a:lnB w="0">
                      <a:noFill/>
                    </a:lnB>
                    <a:noFill/>
                  </a:tcPr>
                </a:tc>
              </a:tr>
              <a:tr h="246888">
                <a:tc>
                  <a:txBody>
                    <a:bodyPr wrap="square" lIns="36576" rIns="36576" tIns="36576" bIns="36576" anchor="t"/>
                    <a:lstStyle/>
                    <a:p>
                      <a:pPr algn="l"/>
                      <a:r>
                        <a:rPr sz="1000" b="0" i="0">
                          <a:solidFill>
                            <a:srgbClr val="000000"/>
                          </a:solidFill>
                          <a:latin typeface="Arial"/>
                        </a:rPr>
                        <a:t>Peer B</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1,158</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18.8%</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9.7%</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3.2%</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-2.7%</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1000" b="0" i="0">
                          <a:solidFill>
                            <a:srgbClr val="000000"/>
                          </a:solidFill>
                          <a:latin typeface="Arial"/>
                        </a:rPr>
                        <a:t>12.2x</a:t>
                      </a:r>
                    </a:p>
                  </a:txBody>
                  <a:tcPr marL="45720" marR="45720" marT="9144" marB="9144" anchor="ctr">
                    <a:lnL w="0">
                      <a:noFill/>
                    </a:lnL>
                    <a:lnR w="0">
                      <a:noFill/>
                    </a:lnR>
                    <a:lnT w="0">
                      <a:noFill/>
                    </a:lnT>
                    <a:lnB w="0">
                      <a:noFill/>
                    </a:lnB>
                    <a:noFill/>
                  </a:tcPr>
                </a:tc>
              </a:tr>
              <a:tr h="246888">
                <a:tc>
                  <a:txBody>
                    <a:bodyPr wrap="square" lIns="36576" rIns="36576" tIns="36576" bIns="36576" anchor="t"/>
                    <a:lstStyle/>
                    <a:p>
                      <a:pPr algn="l"/>
                      <a:r>
                        <a:rPr sz="1000" b="1" i="0">
                          <a:solidFill>
                            <a:srgbClr val="000000"/>
                          </a:solidFill>
                          <a:latin typeface="Arial"/>
                        </a:rPr>
                        <a:t>Fund vs peer avg</a:t>
                      </a:r>
                    </a:p>
                  </a:txBody>
                  <a:tcPr marL="45720" marR="45720" marT="9144" marB="9144" anchor="ctr">
                    <a:lnL w="0">
                      <a:noFill/>
                    </a:lnL>
                    <a:lnR w="0">
                      <a:noFill/>
                    </a:lnR>
                    <a:lnT w="0">
                      <a:noFill/>
                    </a:lnT>
                    <a:lnB w="9525">
                      <a:solidFill>
                        <a:srgbClr val="000000"/>
                      </a:solidFill>
                    </a:lnB>
                    <a:solidFill>
                      <a:srgbClr val="F2F2F2"/>
                    </a:solidFill>
                  </a:tcPr>
                </a:tc>
                <a:tc>
                  <a:txBody>
                    <a:bodyPr wrap="square" lIns="36576" rIns="36576" tIns="36576" bIns="36576" anchor="t"/>
                    <a:lstStyle/>
                    <a:p>
                      <a:pPr algn="r"/>
                    </a:p>
                  </a:txBody>
                  <a:tcPr marL="45720" marR="45720" marT="9144" marB="9144" anchor="ctr">
                    <a:lnL w="0">
                      <a:noFill/>
                    </a:lnL>
                    <a:lnR w="0">
                      <a:noFill/>
                    </a:lnR>
                    <a:lnT w="0">
                      <a:noFill/>
                    </a:lnT>
                    <a:lnB w="9525">
                      <a:solidFill>
                        <a:srgbClr val="000000"/>
                      </a:solidFill>
                    </a:lnB>
                    <a:solidFill>
                      <a:srgbClr val="F2F2F2"/>
                    </a:solidFill>
                  </a:tcPr>
                </a:tc>
                <a:tc>
                  <a:txBody>
                    <a:bodyPr wrap="square" lIns="36576" rIns="36576" tIns="36576" bIns="36576" anchor="t"/>
                    <a:lstStyle/>
                    <a:p>
                      <a:pPr algn="r"/>
                      <a:r>
                        <a:rPr sz="1000" b="1" i="0">
                          <a:solidFill>
                            <a:srgbClr val="000000"/>
                          </a:solidFill>
                          <a:latin typeface="Arial"/>
                        </a:rPr>
                        <a:t>-6.9pp</a:t>
                      </a:r>
                    </a:p>
                  </a:txBody>
                  <a:tcPr marL="45720" marR="45720" marT="9144" marB="9144" anchor="ctr">
                    <a:lnL w="0">
                      <a:noFill/>
                    </a:lnL>
                    <a:lnR w="0">
                      <a:noFill/>
                    </a:lnR>
                    <a:lnT w="0">
                      <a:noFill/>
                    </a:lnT>
                    <a:lnB w="9525">
                      <a:solidFill>
                        <a:srgbClr val="000000"/>
                      </a:solidFill>
                    </a:lnB>
                    <a:solidFill>
                      <a:srgbClr val="F2F2F2"/>
                    </a:solidFill>
                  </a:tcPr>
                </a:tc>
                <a:tc>
                  <a:txBody>
                    <a:bodyPr wrap="square" lIns="36576" rIns="36576" tIns="36576" bIns="36576" anchor="t"/>
                    <a:lstStyle/>
                    <a:p>
                      <a:pPr algn="r"/>
                      <a:r>
                        <a:rPr sz="1000" b="1" i="0">
                          <a:solidFill>
                            <a:srgbClr val="000000"/>
                          </a:solidFill>
                          <a:latin typeface="Arial"/>
                        </a:rPr>
                        <a:t>-6.7pp</a:t>
                      </a:r>
                    </a:p>
                  </a:txBody>
                  <a:tcPr marL="45720" marR="45720" marT="9144" marB="9144" anchor="ctr">
                    <a:lnL w="0">
                      <a:noFill/>
                    </a:lnL>
                    <a:lnR w="0">
                      <a:noFill/>
                    </a:lnR>
                    <a:lnT w="0">
                      <a:noFill/>
                    </a:lnT>
                    <a:lnB w="9525">
                      <a:solidFill>
                        <a:srgbClr val="000000"/>
                      </a:solidFill>
                    </a:lnB>
                    <a:solidFill>
                      <a:srgbClr val="F2F2F2"/>
                    </a:solidFill>
                  </a:tcPr>
                </a:tc>
                <a:tc>
                  <a:txBody>
                    <a:bodyPr wrap="square" lIns="36576" rIns="36576" tIns="36576" bIns="36576" anchor="t"/>
                    <a:lstStyle/>
                    <a:p>
                      <a:pPr algn="r"/>
                      <a:r>
                        <a:rPr sz="1000" b="1" i="0">
                          <a:solidFill>
                            <a:srgbClr val="000000"/>
                          </a:solidFill>
                          <a:latin typeface="Arial"/>
                        </a:rPr>
                        <a:t>-13.5pp</a:t>
                      </a:r>
                    </a:p>
                  </a:txBody>
                  <a:tcPr marL="45720" marR="45720" marT="9144" marB="9144" anchor="ctr">
                    <a:lnL w="0">
                      <a:noFill/>
                    </a:lnL>
                    <a:lnR w="0">
                      <a:noFill/>
                    </a:lnR>
                    <a:lnT w="0">
                      <a:noFill/>
                    </a:lnT>
                    <a:lnB w="9525">
                      <a:solidFill>
                        <a:srgbClr val="000000"/>
                      </a:solidFill>
                    </a:lnB>
                    <a:solidFill>
                      <a:srgbClr val="F2F2F2"/>
                    </a:solidFill>
                  </a:tcPr>
                </a:tc>
                <a:tc>
                  <a:txBody>
                    <a:bodyPr wrap="square" lIns="36576" rIns="36576" tIns="36576" bIns="36576" anchor="t"/>
                    <a:lstStyle/>
                    <a:p>
                      <a:pPr algn="r"/>
                      <a:r>
                        <a:rPr sz="1000" b="1" i="0">
                          <a:solidFill>
                            <a:srgbClr val="000000"/>
                          </a:solidFill>
                          <a:latin typeface="Arial"/>
                        </a:rPr>
                        <a:t>-2.9pp</a:t>
                      </a:r>
                    </a:p>
                  </a:txBody>
                  <a:tcPr marL="45720" marR="45720" marT="9144" marB="9144" anchor="ctr">
                    <a:lnL w="0">
                      <a:noFill/>
                    </a:lnL>
                    <a:lnR w="0">
                      <a:noFill/>
                    </a:lnR>
                    <a:lnT w="0">
                      <a:noFill/>
                    </a:lnT>
                    <a:lnB w="9525">
                      <a:solidFill>
                        <a:srgbClr val="000000"/>
                      </a:solidFill>
                    </a:lnB>
                    <a:solidFill>
                      <a:srgbClr val="F2F2F2"/>
                    </a:solidFill>
                  </a:tcPr>
                </a:tc>
                <a:tc>
                  <a:txBody>
                    <a:bodyPr wrap="square" lIns="36576" rIns="36576" tIns="36576" bIns="36576" anchor="t"/>
                    <a:lstStyle/>
                    <a:p>
                      <a:pPr algn="r"/>
                      <a:r>
                        <a:rPr sz="1000" b="1" i="0">
                          <a:solidFill>
                            <a:srgbClr val="000000"/>
                          </a:solidFill>
                          <a:latin typeface="Arial"/>
                        </a:rPr>
                        <a:t>-0.2x</a:t>
                      </a:r>
                    </a:p>
                  </a:txBody>
                  <a:tcPr marL="45720" marR="45720" marT="9144" marB="9144" anchor="ctr">
                    <a:lnL w="0">
                      <a:noFill/>
                    </a:lnL>
                    <a:lnR w="0">
                      <a:noFill/>
                    </a:lnR>
                    <a:lnT w="0">
                      <a:noFill/>
                    </a:lnT>
                    <a:lnB w="9525">
                      <a:solidFill>
                        <a:srgbClr val="000000"/>
                      </a:solidFill>
                    </a:lnB>
                    <a:solidFill>
                      <a:srgbClr val="F2F2F2"/>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70% of Excess Cash Is Returned</a:t>
            </a:r>
          </a:p>
        </p:txBody>
      </p:sp>
      <p:sp>
        <p:nvSpPr>
          <p:cNvPr id="4" name="Subtitle 3"/>
          <p:cNvSpPr>
            <a:spLocks noGrp="1"/>
          </p:cNvSpPr>
          <p:nvPr>
            <p:ph type="subTitle" idx="1"/>
          </p:nvPr>
        </p:nvSpPr>
        <p:spPr/>
        <p:txBody>
          <a:bodyPr/>
          <a:lstStyle/>
          <a:p>
            <a:r>
              <a:t>Ps. 46.6bn approved returns; Ps. 32.1bn of remaining capacity at 2.0x ND/EBITDA</a:t>
            </a:r>
          </a:p>
        </p:txBody>
      </p:sp>
      <p:sp>
        <p:nvSpPr>
          <p:cNvPr id="5" name="Text Placeholder 4"/>
          <p:cNvSpPr>
            <a:spLocks noGrp="1"/>
          </p:cNvSpPr>
          <p:nvPr>
            <p:ph type="body" idx="14" sz="quarter"/>
          </p:nvPr>
        </p:nvSpPr>
        <p:spPr/>
        <p:txBody>
          <a:bodyPr/>
          <a:lstStyle/>
          <a:p>
            <a:r>
              <a:t>Illustrative data - layout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8</a:t>
            </a:r>
          </a:p>
        </p:txBody>
      </p:sp>
      <p:sp>
        <p:nvSpPr>
          <p:cNvPr id="7" name="TextBox 6"/>
          <p:cNvSpPr txBox="1"/>
          <p:nvPr/>
        </p:nvSpPr>
        <p:spPr>
          <a:xfrm>
            <a:off x="525780" y="1345996"/>
            <a:ext cx="6766560" cy="317296"/>
          </a:xfrm>
          <a:prstGeom prst="rect">
            <a:avLst/>
          </a:prstGeom>
          <a:noFill/>
        </p:spPr>
        <p:txBody>
          <a:bodyPr wrap="square" lIns="0" rIns="0" tIns="0" bIns="0" anchor="b"/>
          <a:lstStyle/>
          <a:p>
            <a:pPr algn="l"/>
            <a:r>
              <a:rPr sz="1600" b="1" i="0">
                <a:solidFill>
                  <a:srgbClr val="404040"/>
                </a:solidFill>
                <a:latin typeface="Arial"/>
              </a:rPr>
              <a:t>Use of Excess Cash</a:t>
            </a:r>
          </a:p>
        </p:txBody>
      </p:sp>
      <p:cxnSp>
        <p:nvCxnSpPr>
          <p:cNvPr id="8" name="Connector 7"/>
          <p:cNvCxnSpPr/>
          <p:nvPr/>
        </p:nvCxnSpPr>
        <p:spPr>
          <a:xfrm>
            <a:off x="525780" y="1701698"/>
            <a:ext cx="6766560" cy="0"/>
          </a:xfrm>
          <a:prstGeom prst="line">
            <a:avLst/>
          </a:prstGeom>
          <a:ln w="12700">
            <a:solidFill>
              <a:srgbClr val="000000"/>
            </a:solidFill>
          </a:ln>
        </p:spPr>
      </p:cxnSp>
      <p:sp>
        <p:nvSpPr>
          <p:cNvPr id="9" name="TextBox 8"/>
          <p:cNvSpPr txBox="1"/>
          <p:nvPr/>
        </p:nvSpPr>
        <p:spPr>
          <a:xfrm>
            <a:off x="525780" y="1740103"/>
            <a:ext cx="6766560" cy="228600"/>
          </a:xfrm>
          <a:prstGeom prst="rect">
            <a:avLst/>
          </a:prstGeom>
          <a:noFill/>
        </p:spPr>
        <p:txBody>
          <a:bodyPr wrap="square" lIns="0" rIns="0" tIns="0" bIns="0" anchor="t"/>
          <a:lstStyle/>
          <a:p>
            <a:pPr algn="l"/>
            <a:r>
              <a:rPr sz="1200" b="0" i="1">
                <a:solidFill>
                  <a:srgbClr val="000000"/>
                </a:solidFill>
                <a:latin typeface="Arial"/>
              </a:rPr>
              <a:t>Ps. billions, 2026E</a:t>
            </a:r>
          </a:p>
        </p:txBody>
      </p:sp>
      <p:graphicFrame>
        <p:nvGraphicFramePr>
          <p:cNvPr id="10" name="Chart 9"/>
          <p:cNvGraphicFramePr>
            <a:graphicFrameLocks noGrp="1"/>
          </p:cNvGraphicFramePr>
          <p:nvPr/>
        </p:nvGraphicFramePr>
        <p:xfrm>
          <a:off x="525780" y="2006193"/>
          <a:ext cx="6766560" cy="4120286"/>
        </p:xfrm>
        <a:graphic>
          <a:graphicData uri="http://schemas.openxmlformats.org/drawingml/2006/chart">
            <c:chart xmlns:c="http://schemas.openxmlformats.org/drawingml/2006/chart" r:id="rId2"/>
          </a:graphicData>
        </a:graphic>
      </p:graphicFrame>
      <p:sp>
        <p:nvSpPr>
          <p:cNvPr id="11" name="TextBox 10"/>
          <p:cNvSpPr txBox="1"/>
          <p:nvPr/>
        </p:nvSpPr>
        <p:spPr>
          <a:xfrm>
            <a:off x="7589520" y="1345996"/>
            <a:ext cx="4185208" cy="317296"/>
          </a:xfrm>
          <a:prstGeom prst="rect">
            <a:avLst/>
          </a:prstGeom>
          <a:noFill/>
        </p:spPr>
        <p:txBody>
          <a:bodyPr wrap="square" lIns="0" rIns="0" tIns="0" bIns="0" anchor="b"/>
          <a:lstStyle/>
          <a:p>
            <a:pPr algn="l"/>
            <a:r>
              <a:rPr sz="1600" b="1" i="0">
                <a:solidFill>
                  <a:srgbClr val="404040"/>
                </a:solidFill>
                <a:latin typeface="Arial"/>
              </a:rPr>
              <a:t>What the bridge says</a:t>
            </a:r>
          </a:p>
        </p:txBody>
      </p:sp>
      <p:cxnSp>
        <p:nvCxnSpPr>
          <p:cNvPr id="12" name="Connector 11"/>
          <p:cNvCxnSpPr/>
          <p:nvPr/>
        </p:nvCxnSpPr>
        <p:spPr>
          <a:xfrm>
            <a:off x="7589520" y="1701698"/>
            <a:ext cx="4185208" cy="0"/>
          </a:xfrm>
          <a:prstGeom prst="line">
            <a:avLst/>
          </a:prstGeom>
          <a:ln w="12700">
            <a:solidFill>
              <a:srgbClr val="000000"/>
            </a:solidFill>
          </a:ln>
        </p:spPr>
      </p:cxnSp>
      <p:sp>
        <p:nvSpPr>
          <p:cNvPr id="13" name="TextBox 12"/>
          <p:cNvSpPr txBox="1"/>
          <p:nvPr/>
        </p:nvSpPr>
        <p:spPr>
          <a:xfrm>
            <a:off x="7589520" y="1803196"/>
            <a:ext cx="4185208" cy="4114800"/>
          </a:xfrm>
          <a:prstGeom prst="rect">
            <a:avLst/>
          </a:prstGeom>
          <a:noFill/>
        </p:spPr>
        <p:txBody>
          <a:bodyPr wrap="square" lIns="54864" rIns="54864" tIns="36576" bIns="36576" anchor="t"/>
          <a:lstStyle/>
          <a:p>
            <a:pPr algn="l" marL="155448" indent="-146304">
              <a:spcBef>
                <a:spcPts val="400"/>
              </a:spcBef>
              <a:buFont typeface="Arial"/>
              <a:buChar char="•"/>
            </a:pPr>
            <a:r>
              <a:rPr sz="1200" b="1" i="0">
                <a:solidFill>
                  <a:srgbClr val="000000"/>
                </a:solidFill>
                <a:latin typeface="Arial"/>
              </a:rPr>
              <a:t>Dividends absorb 52%</a:t>
            </a:r>
            <a:r>
              <a:rPr sz="1200" b="0" i="0">
                <a:solidFill>
                  <a:srgbClr val="000000"/>
                </a:solidFill>
                <a:latin typeface="Arial"/>
              </a:rPr>
              <a:t> of excess cash (Ps. 41.0bn).</a:t>
            </a:r>
          </a:p>
          <a:p>
            <a:pPr algn="l" marL="155448" indent="-146304">
              <a:spcBef>
                <a:spcPts val="400"/>
              </a:spcBef>
              <a:buFont typeface="Arial"/>
              <a:buChar char="•"/>
            </a:pPr>
            <a:r>
              <a:rPr sz="1200" b="1" i="0">
                <a:solidFill>
                  <a:srgbClr val="000000"/>
                </a:solidFill>
                <a:latin typeface="Arial"/>
              </a:rPr>
              <a:t>Buybacks are small</a:t>
            </a:r>
            <a:r>
              <a:rPr sz="1200" b="0" i="0">
                <a:solidFill>
                  <a:srgbClr val="000000"/>
                </a:solidFill>
                <a:latin typeface="Arial"/>
              </a:rPr>
              <a:t> (Ps. 5.6bn) despite a 13% discount to intrinsic value.</a:t>
            </a:r>
          </a:p>
          <a:p>
            <a:pPr algn="l" marL="155448" indent="-146304">
              <a:spcBef>
                <a:spcPts val="400"/>
              </a:spcBef>
              <a:buFont typeface="Arial"/>
              <a:buChar char="•"/>
            </a:pPr>
            <a:r>
              <a:rPr sz="1200" b="1" i="0">
                <a:solidFill>
                  <a:srgbClr val="000000"/>
                </a:solidFill>
                <a:latin typeface="Arial"/>
              </a:rPr>
              <a:t>Debt capacity of Ps. 9.7bn</a:t>
            </a:r>
            <a:r>
              <a:rPr sz="1200" b="0" i="0">
                <a:solidFill>
                  <a:srgbClr val="000000"/>
                </a:solidFill>
                <a:latin typeface="Arial"/>
              </a:rPr>
              <a:t> keeps leverage at the 2.0x policy.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Valuation Summary</a:t>
            </a:r>
          </a:p>
        </p:txBody>
      </p:sp>
      <p:sp>
        <p:nvSpPr>
          <p:cNvPr id="4" name="Subtitle 3"/>
          <p:cNvSpPr>
            <a:spLocks noGrp="1"/>
          </p:cNvSpPr>
          <p:nvPr>
            <p:ph type="subTitle" idx="1"/>
          </p:nvPr>
        </p:nvSpPr>
        <p:spPr/>
        <p:txBody>
          <a:bodyPr/>
          <a:lstStyle/>
          <a:p>
            <a:r>
              <a:t>DCF and trading comps support $38-$46 per share; offer at $43.00 sits mid-range</a:t>
            </a:r>
          </a:p>
        </p:txBody>
      </p:sp>
      <p:sp>
        <p:nvSpPr>
          <p:cNvPr id="5" name="Text Placeholder 4"/>
          <p:cNvSpPr>
            <a:spLocks noGrp="1"/>
          </p:cNvSpPr>
          <p:nvPr>
            <p:ph type="body" idx="14" sz="quarter"/>
          </p:nvPr>
        </p:nvSpPr>
        <p:spPr/>
        <p:txBody>
          <a:bodyPr/>
          <a:lstStyle/>
          <a:p>
            <a:r>
              <a:t>Illustrative data - layout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9</a:t>
            </a:r>
          </a:p>
        </p:txBody>
      </p:sp>
      <p:sp>
        <p:nvSpPr>
          <p:cNvPr id="7" name="TextBox 6"/>
          <p:cNvSpPr txBox="1"/>
          <p:nvPr/>
        </p:nvSpPr>
        <p:spPr>
          <a:xfrm>
            <a:off x="525780" y="1345996"/>
            <a:ext cx="7498079" cy="317296"/>
          </a:xfrm>
          <a:prstGeom prst="rect">
            <a:avLst/>
          </a:prstGeom>
          <a:noFill/>
        </p:spPr>
        <p:txBody>
          <a:bodyPr wrap="square" lIns="0" rIns="0" tIns="0" bIns="0" anchor="b"/>
          <a:lstStyle/>
          <a:p>
            <a:pPr algn="l"/>
            <a:r>
              <a:rPr sz="1600" b="1" i="0">
                <a:solidFill>
                  <a:srgbClr val="404040"/>
                </a:solidFill>
                <a:latin typeface="Arial"/>
              </a:rPr>
              <a:t>Implied Price per Share</a:t>
            </a:r>
          </a:p>
        </p:txBody>
      </p:sp>
      <p:cxnSp>
        <p:nvCxnSpPr>
          <p:cNvPr id="8" name="Connector 7"/>
          <p:cNvCxnSpPr/>
          <p:nvPr/>
        </p:nvCxnSpPr>
        <p:spPr>
          <a:xfrm>
            <a:off x="525780" y="1701698"/>
            <a:ext cx="7498079" cy="0"/>
          </a:xfrm>
          <a:prstGeom prst="line">
            <a:avLst/>
          </a:prstGeom>
          <a:ln w="12700">
            <a:solidFill>
              <a:srgbClr val="000000"/>
            </a:solidFill>
          </a:ln>
        </p:spPr>
      </p:cxnSp>
      <p:sp>
        <p:nvSpPr>
          <p:cNvPr id="9" name="TextBox 8"/>
          <p:cNvSpPr txBox="1"/>
          <p:nvPr/>
        </p:nvSpPr>
        <p:spPr>
          <a:xfrm>
            <a:off x="525780" y="1740103"/>
            <a:ext cx="7498079" cy="228600"/>
          </a:xfrm>
          <a:prstGeom prst="rect">
            <a:avLst/>
          </a:prstGeom>
          <a:noFill/>
        </p:spPr>
        <p:txBody>
          <a:bodyPr wrap="square" lIns="0" rIns="0" tIns="0" bIns="0" anchor="t"/>
          <a:lstStyle/>
          <a:p>
            <a:pPr algn="l"/>
            <a:r>
              <a:rPr sz="1200" b="0" i="1">
                <a:solidFill>
                  <a:srgbClr val="000000"/>
                </a:solidFill>
                <a:latin typeface="Arial"/>
              </a:rPr>
              <a:t>US$; ranges as low-high</a:t>
            </a:r>
          </a:p>
        </p:txBody>
      </p:sp>
      <p:graphicFrame>
        <p:nvGraphicFramePr>
          <p:cNvPr id="10" name="Chart 9"/>
          <p:cNvGraphicFramePr>
            <a:graphicFrameLocks noGrp="1"/>
          </p:cNvGraphicFramePr>
          <p:nvPr/>
        </p:nvGraphicFramePr>
        <p:xfrm>
          <a:off x="818388" y="2326233"/>
          <a:ext cx="7205471" cy="3800246"/>
        </p:xfrm>
        <a:graphic>
          <a:graphicData uri="http://schemas.openxmlformats.org/drawingml/2006/chart">
            <c:chart xmlns:c="http://schemas.openxmlformats.org/drawingml/2006/chart" r:id="rId2"/>
          </a:graphicData>
        </a:graphic>
      </p:graphicFrame>
      <p:cxnSp>
        <p:nvCxnSpPr>
          <p:cNvPr id="11" name="Connector 10"/>
          <p:cNvCxnSpPr/>
          <p:nvPr/>
        </p:nvCxnSpPr>
        <p:spPr>
          <a:xfrm>
            <a:off x="3412357" y="5670450"/>
            <a:ext cx="4323284" cy="0"/>
          </a:xfrm>
          <a:prstGeom prst="line">
            <a:avLst/>
          </a:prstGeom>
          <a:ln w="9525">
            <a:solidFill>
              <a:srgbClr val="7F7F7F"/>
            </a:solidFill>
          </a:ln>
        </p:spPr>
      </p:cxnSp>
      <p:sp>
        <p:nvSpPr>
          <p:cNvPr id="12" name="TextBox 11"/>
          <p:cNvSpPr txBox="1"/>
          <p:nvPr/>
        </p:nvSpPr>
        <p:spPr>
          <a:xfrm>
            <a:off x="3000877" y="5697882"/>
            <a:ext cx="822960" cy="182880"/>
          </a:xfrm>
          <a:prstGeom prst="rect">
            <a:avLst/>
          </a:prstGeom>
          <a:noFill/>
        </p:spPr>
        <p:txBody>
          <a:bodyPr wrap="square" lIns="0" rIns="0" tIns="0" bIns="0" anchor="t"/>
          <a:lstStyle/>
          <a:p>
            <a:pPr algn="ctr"/>
            <a:r>
              <a:rPr sz="800" b="0" i="0">
                <a:solidFill>
                  <a:srgbClr val="595959"/>
                </a:solidFill>
                <a:latin typeface="Arial"/>
              </a:rPr>
              <a:t>$20</a:t>
            </a:r>
          </a:p>
        </p:txBody>
      </p:sp>
      <p:sp>
        <p:nvSpPr>
          <p:cNvPr id="13" name="TextBox 12"/>
          <p:cNvSpPr txBox="1"/>
          <p:nvPr/>
        </p:nvSpPr>
        <p:spPr>
          <a:xfrm>
            <a:off x="3865534" y="5697882"/>
            <a:ext cx="822960" cy="182880"/>
          </a:xfrm>
          <a:prstGeom prst="rect">
            <a:avLst/>
          </a:prstGeom>
          <a:noFill/>
        </p:spPr>
        <p:txBody>
          <a:bodyPr wrap="square" lIns="0" rIns="0" tIns="0" bIns="0" anchor="t"/>
          <a:lstStyle/>
          <a:p>
            <a:pPr algn="ctr"/>
            <a:r>
              <a:rPr sz="800" b="0" i="0">
                <a:solidFill>
                  <a:srgbClr val="595959"/>
                </a:solidFill>
                <a:latin typeface="Arial"/>
              </a:rPr>
              <a:t>$26</a:t>
            </a:r>
          </a:p>
        </p:txBody>
      </p:sp>
      <p:sp>
        <p:nvSpPr>
          <p:cNvPr id="14" name="TextBox 13"/>
          <p:cNvSpPr txBox="1"/>
          <p:nvPr/>
        </p:nvSpPr>
        <p:spPr>
          <a:xfrm>
            <a:off x="4730191" y="5697882"/>
            <a:ext cx="822960" cy="182880"/>
          </a:xfrm>
          <a:prstGeom prst="rect">
            <a:avLst/>
          </a:prstGeom>
          <a:noFill/>
        </p:spPr>
        <p:txBody>
          <a:bodyPr wrap="square" lIns="0" rIns="0" tIns="0" bIns="0" anchor="t"/>
          <a:lstStyle/>
          <a:p>
            <a:pPr algn="ctr"/>
            <a:r>
              <a:rPr sz="800" b="0" i="0">
                <a:solidFill>
                  <a:srgbClr val="595959"/>
                </a:solidFill>
                <a:latin typeface="Arial"/>
              </a:rPr>
              <a:t>$32</a:t>
            </a:r>
          </a:p>
        </p:txBody>
      </p:sp>
      <p:sp>
        <p:nvSpPr>
          <p:cNvPr id="15" name="TextBox 14"/>
          <p:cNvSpPr txBox="1"/>
          <p:nvPr/>
        </p:nvSpPr>
        <p:spPr>
          <a:xfrm>
            <a:off x="5594847" y="5697882"/>
            <a:ext cx="822960" cy="182880"/>
          </a:xfrm>
          <a:prstGeom prst="rect">
            <a:avLst/>
          </a:prstGeom>
          <a:noFill/>
        </p:spPr>
        <p:txBody>
          <a:bodyPr wrap="square" lIns="0" rIns="0" tIns="0" bIns="0" anchor="t"/>
          <a:lstStyle/>
          <a:p>
            <a:pPr algn="ctr"/>
            <a:r>
              <a:rPr sz="800" b="0" i="0">
                <a:solidFill>
                  <a:srgbClr val="595959"/>
                </a:solidFill>
                <a:latin typeface="Arial"/>
              </a:rPr>
              <a:t>$38</a:t>
            </a:r>
          </a:p>
        </p:txBody>
      </p:sp>
      <p:sp>
        <p:nvSpPr>
          <p:cNvPr id="16" name="TextBox 15"/>
          <p:cNvSpPr txBox="1"/>
          <p:nvPr/>
        </p:nvSpPr>
        <p:spPr>
          <a:xfrm>
            <a:off x="6459504" y="5697882"/>
            <a:ext cx="822960" cy="182880"/>
          </a:xfrm>
          <a:prstGeom prst="rect">
            <a:avLst/>
          </a:prstGeom>
          <a:noFill/>
        </p:spPr>
        <p:txBody>
          <a:bodyPr wrap="square" lIns="0" rIns="0" tIns="0" bIns="0" anchor="t"/>
          <a:lstStyle/>
          <a:p>
            <a:pPr algn="ctr"/>
            <a:r>
              <a:rPr sz="800" b="0" i="0">
                <a:solidFill>
                  <a:srgbClr val="595959"/>
                </a:solidFill>
                <a:latin typeface="Arial"/>
              </a:rPr>
              <a:t>$44</a:t>
            </a:r>
          </a:p>
        </p:txBody>
      </p:sp>
      <p:sp>
        <p:nvSpPr>
          <p:cNvPr id="17" name="TextBox 16"/>
          <p:cNvSpPr txBox="1"/>
          <p:nvPr/>
        </p:nvSpPr>
        <p:spPr>
          <a:xfrm>
            <a:off x="7324161" y="5697882"/>
            <a:ext cx="822960" cy="182880"/>
          </a:xfrm>
          <a:prstGeom prst="rect">
            <a:avLst/>
          </a:prstGeom>
          <a:noFill/>
        </p:spPr>
        <p:txBody>
          <a:bodyPr wrap="square" lIns="0" rIns="0" tIns="0" bIns="0" anchor="t"/>
          <a:lstStyle/>
          <a:p>
            <a:pPr algn="ctr"/>
            <a:r>
              <a:rPr sz="800" b="0" i="0">
                <a:solidFill>
                  <a:srgbClr val="595959"/>
                </a:solidFill>
                <a:latin typeface="Arial"/>
              </a:rPr>
              <a:t>$50</a:t>
            </a:r>
          </a:p>
        </p:txBody>
      </p:sp>
      <p:cxnSp>
        <p:nvCxnSpPr>
          <p:cNvPr id="18" name="Connector 17"/>
          <p:cNvCxnSpPr/>
          <p:nvPr/>
        </p:nvCxnSpPr>
        <p:spPr>
          <a:xfrm>
            <a:off x="4705019" y="2584533"/>
            <a:ext cx="0" cy="3085917"/>
          </a:xfrm>
          <a:prstGeom prst="line">
            <a:avLst/>
          </a:prstGeom>
          <a:ln w="15875">
            <a:solidFill>
              <a:srgbClr val="7F7F7F"/>
            </a:solidFill>
            <a:prstDash val="dash"/>
          </a:ln>
        </p:spPr>
      </p:cxnSp>
      <p:sp>
        <p:nvSpPr>
          <p:cNvPr id="19" name="Rectangle 18"/>
          <p:cNvSpPr/>
          <p:nvPr/>
        </p:nvSpPr>
        <p:spPr>
          <a:xfrm>
            <a:off x="4019219" y="2328501"/>
            <a:ext cx="1371600" cy="237744"/>
          </a:xfrm>
          <a:prstGeom prst="rect">
            <a:avLst/>
          </a:prstGeom>
          <a:solidFill>
            <a:srgbClr val="FFFFFF"/>
          </a:solidFill>
          <a:ln w="9525">
            <a:solidFill>
              <a:srgbClr val="7F7F7F"/>
            </a:solidFill>
            <a:prstDash val="dash"/>
          </a:ln>
        </p:spPr>
        <p:txBody>
          <a:bodyPr rtlCol="0" anchor="ctr" wrap="square" lIns="0" rIns="0" tIns="0" bIns="0"/>
          <a:lstStyle/>
          <a:p>
            <a:pPr algn="ctr"/>
            <a:r>
              <a:rPr sz="800" b="1" i="0">
                <a:solidFill>
                  <a:srgbClr val="7F7F7F"/>
                </a:solidFill>
                <a:latin typeface="Arial"/>
              </a:rPr>
              <a:t>Unaffected: $28.97</a:t>
            </a:r>
          </a:p>
        </p:txBody>
      </p:sp>
      <p:cxnSp>
        <p:nvCxnSpPr>
          <p:cNvPr id="20" name="Connector 19"/>
          <p:cNvCxnSpPr/>
          <p:nvPr/>
        </p:nvCxnSpPr>
        <p:spPr>
          <a:xfrm>
            <a:off x="6726875" y="2584533"/>
            <a:ext cx="0" cy="3085917"/>
          </a:xfrm>
          <a:prstGeom prst="line">
            <a:avLst/>
          </a:prstGeom>
          <a:ln w="15875">
            <a:solidFill>
              <a:srgbClr val="E31B23"/>
            </a:solidFill>
            <a:prstDash val="dash"/>
          </a:ln>
        </p:spPr>
      </p:cxnSp>
      <p:sp>
        <p:nvSpPr>
          <p:cNvPr id="21" name="Rectangle 20"/>
          <p:cNvSpPr/>
          <p:nvPr/>
        </p:nvSpPr>
        <p:spPr>
          <a:xfrm>
            <a:off x="6041075" y="2328501"/>
            <a:ext cx="1371600" cy="237744"/>
          </a:xfrm>
          <a:prstGeom prst="rect">
            <a:avLst/>
          </a:prstGeom>
          <a:solidFill>
            <a:srgbClr val="FFFFFF"/>
          </a:solidFill>
          <a:ln w="9525">
            <a:solidFill>
              <a:srgbClr val="E31B23"/>
            </a:solidFill>
            <a:prstDash val="dash"/>
          </a:ln>
        </p:spPr>
        <p:txBody>
          <a:bodyPr rtlCol="0" anchor="ctr" wrap="square" lIns="0" rIns="0" tIns="0" bIns="0"/>
          <a:lstStyle/>
          <a:p>
            <a:pPr algn="ctr"/>
            <a:r>
              <a:rPr sz="800" b="1" i="0">
                <a:solidFill>
                  <a:srgbClr val="E31B23"/>
                </a:solidFill>
                <a:latin typeface="Arial"/>
              </a:rPr>
              <a:t>Offer: $43.00</a:t>
            </a:r>
          </a:p>
        </p:txBody>
      </p:sp>
      <p:sp>
        <p:nvSpPr>
          <p:cNvPr id="22" name="Rectangle 21"/>
          <p:cNvSpPr/>
          <p:nvPr/>
        </p:nvSpPr>
        <p:spPr>
          <a:xfrm>
            <a:off x="525780" y="2648541"/>
            <a:ext cx="256032" cy="1990222"/>
          </a:xfrm>
          <a:prstGeom prst="rect">
            <a:avLst/>
          </a:prstGeom>
          <a:solidFill>
            <a:srgbClr val="242852"/>
          </a:solidFill>
          <a:ln>
            <a:noFill/>
          </a:ln>
        </p:spPr>
        <p:txBody>
          <a:bodyPr rtlCol="0" anchor="ctr" wrap="square" lIns="18288" rIns="18288" tIns="18288" bIns="18288" vert="vert270"/>
          <a:lstStyle/>
          <a:p>
            <a:pPr algn="ctr"/>
            <a:r>
              <a:rPr sz="900" b="1" i="0">
                <a:solidFill>
                  <a:srgbClr val="FFFFFF"/>
                </a:solidFill>
                <a:latin typeface="Arial"/>
              </a:rPr>
              <a:t>Valuation</a:t>
            </a:r>
          </a:p>
        </p:txBody>
      </p:sp>
      <p:sp>
        <p:nvSpPr>
          <p:cNvPr id="23" name="Rectangle 22"/>
          <p:cNvSpPr/>
          <p:nvPr/>
        </p:nvSpPr>
        <p:spPr>
          <a:xfrm>
            <a:off x="525780" y="4675339"/>
            <a:ext cx="256032" cy="976823"/>
          </a:xfrm>
          <a:prstGeom prst="rect">
            <a:avLst/>
          </a:prstGeom>
          <a:solidFill>
            <a:srgbClr val="7F7F7F"/>
          </a:solidFill>
          <a:ln>
            <a:noFill/>
          </a:ln>
        </p:spPr>
        <p:txBody>
          <a:bodyPr rtlCol="0" anchor="ctr" wrap="square" lIns="18288" rIns="18288" tIns="18288" bIns="18288" vert="vert270"/>
          <a:lstStyle/>
          <a:p>
            <a:pPr algn="ctr"/>
            <a:r>
              <a:rPr sz="900" b="1" i="0">
                <a:solidFill>
                  <a:srgbClr val="FFFFFF"/>
                </a:solidFill>
                <a:latin typeface="Arial"/>
              </a:rPr>
              <a:t>Reference</a:t>
            </a:r>
          </a:p>
        </p:txBody>
      </p:sp>
      <p:cxnSp>
        <p:nvCxnSpPr>
          <p:cNvPr id="24" name="Connector 23"/>
          <p:cNvCxnSpPr/>
          <p:nvPr/>
        </p:nvCxnSpPr>
        <p:spPr>
          <a:xfrm>
            <a:off x="525780" y="4657051"/>
            <a:ext cx="7209861" cy="0"/>
          </a:xfrm>
          <a:prstGeom prst="line">
            <a:avLst/>
          </a:prstGeom>
          <a:ln w="9525">
            <a:solidFill>
              <a:srgbClr val="A6A6A6"/>
            </a:solidFill>
            <a:prstDash val="dash"/>
          </a:ln>
        </p:spPr>
      </p:cxnSp>
      <p:sp>
        <p:nvSpPr>
          <p:cNvPr id="25" name="TextBox 24"/>
          <p:cNvSpPr txBox="1"/>
          <p:nvPr/>
        </p:nvSpPr>
        <p:spPr>
          <a:xfrm>
            <a:off x="8275320" y="1345996"/>
            <a:ext cx="3499408" cy="317296"/>
          </a:xfrm>
          <a:prstGeom prst="rect">
            <a:avLst/>
          </a:prstGeom>
          <a:noFill/>
        </p:spPr>
        <p:txBody>
          <a:bodyPr wrap="square" lIns="0" rIns="0" tIns="0" bIns="0" anchor="b"/>
          <a:lstStyle/>
          <a:p>
            <a:pPr algn="l"/>
            <a:r>
              <a:rPr sz="1600" b="1" i="0">
                <a:solidFill>
                  <a:srgbClr val="404040"/>
                </a:solidFill>
                <a:latin typeface="Arial"/>
              </a:rPr>
              <a:t>Assumptions</a:t>
            </a:r>
          </a:p>
        </p:txBody>
      </p:sp>
      <p:cxnSp>
        <p:nvCxnSpPr>
          <p:cNvPr id="26" name="Connector 25"/>
          <p:cNvCxnSpPr/>
          <p:nvPr/>
        </p:nvCxnSpPr>
        <p:spPr>
          <a:xfrm>
            <a:off x="8275320" y="1701698"/>
            <a:ext cx="3499408" cy="0"/>
          </a:xfrm>
          <a:prstGeom prst="line">
            <a:avLst/>
          </a:prstGeom>
          <a:ln w="12700">
            <a:solidFill>
              <a:srgbClr val="000000"/>
            </a:solidFill>
          </a:ln>
        </p:spPr>
      </p:cxnSp>
      <p:sp>
        <p:nvSpPr>
          <p:cNvPr id="27" name="Rectangle 26"/>
          <p:cNvSpPr/>
          <p:nvPr/>
        </p:nvSpPr>
        <p:spPr>
          <a:xfrm>
            <a:off x="8275320" y="1803196"/>
            <a:ext cx="3499408" cy="1234440"/>
          </a:xfrm>
          <a:prstGeom prst="rect">
            <a:avLst/>
          </a:prstGeom>
          <a:noFill/>
          <a:ln w="9525">
            <a:solidFill>
              <a:srgbClr val="A6A6A6"/>
            </a:solidFill>
          </a:ln>
        </p:spPr>
        <p:txBody>
          <a:bodyPr rtlCol="0" anchor="t" wrap="square" lIns="73152" rIns="73152" tIns="36576" bIns="36576"/>
          <a:lstStyle/>
          <a:p>
            <a:pPr algn="l"/>
            <a:r>
              <a:rPr sz="1000" b="1" i="0">
                <a:solidFill>
                  <a:srgbClr val="000000"/>
                </a:solidFill>
                <a:latin typeface="Arial"/>
              </a:rPr>
              <a:t>Trading comps</a:t>
            </a:r>
          </a:p>
          <a:p>
            <a:pPr algn="l" marL="155448" indent="-146304">
              <a:spcBef>
                <a:spcPts val="400"/>
              </a:spcBef>
              <a:buFont typeface="Arial"/>
              <a:buChar char="•"/>
            </a:pPr>
            <a:r>
              <a:rPr sz="1000" b="0" i="0">
                <a:solidFill>
                  <a:srgbClr val="000000"/>
                </a:solidFill>
                <a:latin typeface="Arial"/>
              </a:rPr>
              <a:t>7 generic peers; CY25E multiples</a:t>
            </a:r>
          </a:p>
        </p:txBody>
      </p:sp>
      <p:sp>
        <p:nvSpPr>
          <p:cNvPr id="28" name="Rectangle 27"/>
          <p:cNvSpPr/>
          <p:nvPr/>
        </p:nvSpPr>
        <p:spPr>
          <a:xfrm>
            <a:off x="8275320" y="3174796"/>
            <a:ext cx="3499408" cy="1234440"/>
          </a:xfrm>
          <a:prstGeom prst="rect">
            <a:avLst/>
          </a:prstGeom>
          <a:noFill/>
          <a:ln w="9525">
            <a:solidFill>
              <a:srgbClr val="A6A6A6"/>
            </a:solidFill>
          </a:ln>
        </p:spPr>
        <p:txBody>
          <a:bodyPr rtlCol="0" anchor="t" wrap="square" lIns="73152" rIns="73152" tIns="36576" bIns="36576"/>
          <a:lstStyle/>
          <a:p>
            <a:pPr algn="l"/>
            <a:r>
              <a:rPr sz="1000" b="1" i="0">
                <a:solidFill>
                  <a:srgbClr val="000000"/>
                </a:solidFill>
                <a:latin typeface="Arial"/>
              </a:rPr>
              <a:t>Precedents</a:t>
            </a:r>
          </a:p>
          <a:p>
            <a:pPr algn="l" marL="155448" indent="-146304">
              <a:spcBef>
                <a:spcPts val="400"/>
              </a:spcBef>
              <a:buFont typeface="Arial"/>
              <a:buChar char="•"/>
            </a:pPr>
            <a:r>
              <a:rPr sz="1000" b="0" i="0">
                <a:solidFill>
                  <a:srgbClr val="000000"/>
                </a:solidFill>
                <a:latin typeface="Arial"/>
              </a:rPr>
              <a:t>12 pharma deals 2015-24; LTM EBITDA</a:t>
            </a:r>
          </a:p>
        </p:txBody>
      </p:sp>
      <p:sp>
        <p:nvSpPr>
          <p:cNvPr id="29" name="Rectangle 28"/>
          <p:cNvSpPr/>
          <p:nvPr/>
        </p:nvSpPr>
        <p:spPr>
          <a:xfrm>
            <a:off x="8275320" y="4546396"/>
            <a:ext cx="3499408" cy="1234440"/>
          </a:xfrm>
          <a:prstGeom prst="rect">
            <a:avLst/>
          </a:prstGeom>
          <a:noFill/>
          <a:ln w="9525">
            <a:solidFill>
              <a:srgbClr val="A6A6A6"/>
            </a:solidFill>
          </a:ln>
        </p:spPr>
        <p:txBody>
          <a:bodyPr rtlCol="0" anchor="t" wrap="square" lIns="73152" rIns="73152" tIns="36576" bIns="36576"/>
          <a:lstStyle/>
          <a:p>
            <a:pPr algn="l"/>
            <a:r>
              <a:rPr sz="1000" b="1" i="0">
                <a:solidFill>
                  <a:srgbClr val="000000"/>
                </a:solidFill>
                <a:latin typeface="Arial"/>
              </a:rPr>
              <a:t>DCF</a:t>
            </a:r>
          </a:p>
          <a:p>
            <a:pPr algn="l" marL="155448" indent="-146304">
              <a:spcBef>
                <a:spcPts val="400"/>
              </a:spcBef>
              <a:buFont typeface="Arial"/>
              <a:buChar char="•"/>
            </a:pPr>
            <a:r>
              <a:rPr sz="1000" b="0" i="0">
                <a:solidFill>
                  <a:srgbClr val="000000"/>
                </a:solidFill>
                <a:latin typeface="Arial"/>
              </a:rPr>
              <a:t>Mgmt case to FY34E; mid-year convention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DCF Sensitivity: Margin and WACC Drive the Value</a:t>
            </a:r>
          </a:p>
        </p:txBody>
      </p:sp>
      <p:sp>
        <p:nvSpPr>
          <p:cNvPr id="4" name="Subtitle 3"/>
          <p:cNvSpPr>
            <a:spLocks noGrp="1"/>
          </p:cNvSpPr>
          <p:nvPr>
            <p:ph type="subTitle" idx="1"/>
          </p:nvPr>
        </p:nvSpPr>
        <p:spPr/>
        <p:txBody>
          <a:bodyPr/>
          <a:lstStyle/>
          <a:p>
            <a:r>
              <a:t>Midpoint $42.15 per share; +/-1pt of EBITDA margin moves value by $1.65</a:t>
            </a:r>
          </a:p>
        </p:txBody>
      </p:sp>
      <p:sp>
        <p:nvSpPr>
          <p:cNvPr id="5" name="Text Placeholder 4"/>
          <p:cNvSpPr>
            <a:spLocks noGrp="1"/>
          </p:cNvSpPr>
          <p:nvPr>
            <p:ph type="body" idx="14" sz="quarter"/>
          </p:nvPr>
        </p:nvSpPr>
        <p:spPr/>
        <p:txBody>
          <a:bodyPr/>
          <a:lstStyle/>
          <a:p>
            <a:r>
              <a:t>Illustrative data - layout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10</a:t>
            </a:r>
          </a:p>
        </p:txBody>
      </p:sp>
      <p:sp>
        <p:nvSpPr>
          <p:cNvPr id="7" name="TextBox 6"/>
          <p:cNvSpPr txBox="1"/>
          <p:nvPr/>
        </p:nvSpPr>
        <p:spPr>
          <a:xfrm>
            <a:off x="525780" y="1345996"/>
            <a:ext cx="5459882" cy="317296"/>
          </a:xfrm>
          <a:prstGeom prst="rect">
            <a:avLst/>
          </a:prstGeom>
          <a:noFill/>
        </p:spPr>
        <p:txBody>
          <a:bodyPr wrap="square" lIns="0" rIns="0" tIns="0" bIns="0" anchor="b"/>
          <a:lstStyle/>
          <a:p>
            <a:pPr algn="l"/>
            <a:r>
              <a:rPr sz="1600" b="1" i="0">
                <a:solidFill>
                  <a:srgbClr val="404040"/>
                </a:solidFill>
                <a:latin typeface="Arial"/>
              </a:rPr>
              <a:t>Tornado: impact on value per share</a:t>
            </a:r>
          </a:p>
        </p:txBody>
      </p:sp>
      <p:cxnSp>
        <p:nvCxnSpPr>
          <p:cNvPr id="8" name="Connector 7"/>
          <p:cNvCxnSpPr/>
          <p:nvPr/>
        </p:nvCxnSpPr>
        <p:spPr>
          <a:xfrm>
            <a:off x="525780" y="1701698"/>
            <a:ext cx="5459882" cy="0"/>
          </a:xfrm>
          <a:prstGeom prst="line">
            <a:avLst/>
          </a:prstGeom>
          <a:ln w="12700">
            <a:solidFill>
              <a:srgbClr val="000000"/>
            </a:solidFill>
          </a:ln>
        </p:spPr>
      </p:cxnSp>
      <p:sp>
        <p:nvSpPr>
          <p:cNvPr id="9" name="TextBox 8"/>
          <p:cNvSpPr txBox="1"/>
          <p:nvPr/>
        </p:nvSpPr>
        <p:spPr>
          <a:xfrm>
            <a:off x="525780" y="1740103"/>
            <a:ext cx="5459882" cy="228600"/>
          </a:xfrm>
          <a:prstGeom prst="rect">
            <a:avLst/>
          </a:prstGeom>
          <a:noFill/>
        </p:spPr>
        <p:txBody>
          <a:bodyPr wrap="square" lIns="0" rIns="0" tIns="0" bIns="0" anchor="t"/>
          <a:lstStyle/>
          <a:p>
            <a:pPr algn="l"/>
            <a:r>
              <a:rPr sz="1200" b="0" i="1">
                <a:solidFill>
                  <a:srgbClr val="000000"/>
                </a:solidFill>
                <a:latin typeface="Arial"/>
              </a:rPr>
              <a:t>US$ per share vs base case</a:t>
            </a:r>
          </a:p>
        </p:txBody>
      </p:sp>
      <p:graphicFrame>
        <p:nvGraphicFramePr>
          <p:cNvPr id="10" name="Chart 9"/>
          <p:cNvGraphicFramePr>
            <a:graphicFrameLocks noGrp="1"/>
          </p:cNvGraphicFramePr>
          <p:nvPr/>
        </p:nvGraphicFramePr>
        <p:xfrm>
          <a:off x="525780" y="2326233"/>
          <a:ext cx="5459882" cy="3800246"/>
        </p:xfrm>
        <a:graphic>
          <a:graphicData uri="http://schemas.openxmlformats.org/drawingml/2006/chart">
            <c:chart xmlns:c="http://schemas.openxmlformats.org/drawingml/2006/chart" r:id="rId2"/>
          </a:graphicData>
        </a:graphic>
      </p:graphicFrame>
      <p:cxnSp>
        <p:nvCxnSpPr>
          <p:cNvPr id="11" name="Connector 10"/>
          <p:cNvCxnSpPr/>
          <p:nvPr/>
        </p:nvCxnSpPr>
        <p:spPr>
          <a:xfrm>
            <a:off x="4020104" y="2348800"/>
            <a:ext cx="0" cy="3663672"/>
          </a:xfrm>
          <a:prstGeom prst="line">
            <a:avLst/>
          </a:prstGeom>
          <a:ln w="12700">
            <a:solidFill>
              <a:srgbClr val="7F7F7F"/>
            </a:solidFill>
            <a:prstDash val="dash"/>
          </a:ln>
        </p:spPr>
      </p:cxnSp>
      <p:sp>
        <p:nvSpPr>
          <p:cNvPr id="12" name="TextBox 11"/>
          <p:cNvSpPr txBox="1"/>
          <p:nvPr/>
        </p:nvSpPr>
        <p:spPr>
          <a:xfrm>
            <a:off x="3105704" y="2129344"/>
            <a:ext cx="1828800" cy="219456"/>
          </a:xfrm>
          <a:prstGeom prst="rect">
            <a:avLst/>
          </a:prstGeom>
          <a:noFill/>
        </p:spPr>
        <p:txBody>
          <a:bodyPr wrap="square" lIns="0" rIns="0" tIns="0" bIns="0" anchor="t"/>
          <a:lstStyle/>
          <a:p>
            <a:pPr algn="ctr"/>
            <a:r>
              <a:rPr sz="900" b="1" i="0">
                <a:solidFill>
                  <a:srgbClr val="000000"/>
                </a:solidFill>
                <a:latin typeface="Arial"/>
              </a:rPr>
              <a:t>Base: $42.15</a:t>
            </a:r>
          </a:p>
        </p:txBody>
      </p:sp>
      <p:sp>
        <p:nvSpPr>
          <p:cNvPr id="13" name="TextBox 12"/>
          <p:cNvSpPr txBox="1"/>
          <p:nvPr/>
        </p:nvSpPr>
        <p:spPr>
          <a:xfrm>
            <a:off x="6314846" y="1345996"/>
            <a:ext cx="5459882" cy="317296"/>
          </a:xfrm>
          <a:prstGeom prst="rect">
            <a:avLst/>
          </a:prstGeom>
          <a:noFill/>
        </p:spPr>
        <p:txBody>
          <a:bodyPr wrap="square" lIns="0" rIns="0" tIns="0" bIns="0" anchor="b"/>
          <a:lstStyle/>
          <a:p>
            <a:pPr algn="l"/>
            <a:r>
              <a:rPr sz="1600" b="1" i="0">
                <a:solidFill>
                  <a:srgbClr val="404040"/>
                </a:solidFill>
                <a:latin typeface="Arial"/>
              </a:rPr>
              <a:t>Heat map: WACC vs EBITDA margin</a:t>
            </a:r>
          </a:p>
        </p:txBody>
      </p:sp>
      <p:cxnSp>
        <p:nvCxnSpPr>
          <p:cNvPr id="14" name="Connector 13"/>
          <p:cNvCxnSpPr/>
          <p:nvPr/>
        </p:nvCxnSpPr>
        <p:spPr>
          <a:xfrm>
            <a:off x="6314846" y="1701698"/>
            <a:ext cx="5459882" cy="0"/>
          </a:xfrm>
          <a:prstGeom prst="line">
            <a:avLst/>
          </a:prstGeom>
          <a:ln w="12700">
            <a:solidFill>
              <a:srgbClr val="000000"/>
            </a:solidFill>
          </a:ln>
        </p:spPr>
      </p:cxnSp>
      <p:sp>
        <p:nvSpPr>
          <p:cNvPr id="15" name="TextBox 14"/>
          <p:cNvSpPr txBox="1"/>
          <p:nvPr/>
        </p:nvSpPr>
        <p:spPr>
          <a:xfrm>
            <a:off x="6314846" y="1740103"/>
            <a:ext cx="5459882" cy="228600"/>
          </a:xfrm>
          <a:prstGeom prst="rect">
            <a:avLst/>
          </a:prstGeom>
          <a:noFill/>
        </p:spPr>
        <p:txBody>
          <a:bodyPr wrap="square" lIns="0" rIns="0" tIns="0" bIns="0" anchor="t"/>
          <a:lstStyle/>
          <a:p>
            <a:pPr algn="l"/>
            <a:r>
              <a:rPr sz="1200" b="0" i="1">
                <a:solidFill>
                  <a:srgbClr val="000000"/>
                </a:solidFill>
                <a:latin typeface="Arial"/>
              </a:rPr>
              <a:t>Implied price, US$</a:t>
            </a:r>
          </a:p>
        </p:txBody>
      </p:sp>
      <p:graphicFrame>
        <p:nvGraphicFramePr>
          <p:cNvPr id="16" name="Table 15"/>
          <p:cNvGraphicFramePr>
            <a:graphicFrameLocks noGrp="1"/>
          </p:cNvGraphicFramePr>
          <p:nvPr/>
        </p:nvGraphicFramePr>
        <p:xfrm>
          <a:off x="6314846" y="2097633"/>
          <a:ext cx="5459880" cy="2304288"/>
        </p:xfrm>
        <a:graphic>
          <a:graphicData uri="http://schemas.openxmlformats.org/drawingml/2006/table">
            <a:tbl>
              <a:tblPr firstRow="0" bandRow="0">
                <a:tableStyleId>{2D5ABB26-0587-4C30-8999-92F81FD0307C}</a:tableStyleId>
              </a:tblPr>
              <a:tblGrid>
                <a:gridCol w="909980"/>
                <a:gridCol w="909980"/>
                <a:gridCol w="909980"/>
                <a:gridCol w="909980"/>
                <a:gridCol w="909980"/>
                <a:gridCol w="909980"/>
              </a:tblGrid>
              <a:tr h="384048">
                <a:tc>
                  <a:txBody>
                    <a:bodyPr wrap="square" lIns="36576" rIns="36576" tIns="36576" bIns="36576" anchor="t"/>
                    <a:lstStyle/>
                    <a:p>
                      <a:pPr algn="ctr"/>
                      <a:r>
                        <a:rPr sz="1000" b="1" i="0">
                          <a:solidFill>
                            <a:srgbClr val="FFFFFF"/>
                          </a:solidFill>
                          <a:latin typeface="Arial"/>
                        </a:rPr>
                        <a:t>WACC \ Mg</a:t>
                      </a:r>
                    </a:p>
                  </a:txBody>
                  <a:tcPr marL="45720" marR="45720" marT="9144" marB="9144" anchor="ctr">
                    <a:lnL w="0">
                      <a:noFill/>
                    </a:lnL>
                    <a:lnR w="0">
                      <a:noFill/>
                    </a:lnR>
                    <a:lnT w="9525">
                      <a:solidFill>
                        <a:srgbClr val="7F7F7F"/>
                      </a:solidFill>
                    </a:lnT>
                    <a:lnB w="9525">
                      <a:solidFill>
                        <a:srgbClr val="7F7F7F"/>
                      </a:solidFill>
                    </a:lnB>
                    <a:solidFill>
                      <a:srgbClr val="242852"/>
                    </a:solidFill>
                  </a:tcPr>
                </a:tc>
                <a:tc>
                  <a:txBody>
                    <a:bodyPr wrap="square" lIns="36576" rIns="36576" tIns="36576" bIns="36576" anchor="t"/>
                    <a:lstStyle/>
                    <a:p>
                      <a:pPr algn="ctr"/>
                      <a:r>
                        <a:rPr sz="1000" b="1" i="0">
                          <a:solidFill>
                            <a:srgbClr val="FFFFFF"/>
                          </a:solidFill>
                          <a:latin typeface="Arial"/>
                        </a:rPr>
                        <a:t>14%</a:t>
                      </a:r>
                    </a:p>
                  </a:txBody>
                  <a:tcPr marL="45720" marR="45720" marT="9144" marB="9144" anchor="ctr">
                    <a:lnL w="0">
                      <a:noFill/>
                    </a:lnL>
                    <a:lnR w="0">
                      <a:noFill/>
                    </a:lnR>
                    <a:lnT w="9525">
                      <a:solidFill>
                        <a:srgbClr val="7F7F7F"/>
                      </a:solidFill>
                    </a:lnT>
                    <a:lnB w="9525">
                      <a:solidFill>
                        <a:srgbClr val="7F7F7F"/>
                      </a:solidFill>
                    </a:lnB>
                    <a:solidFill>
                      <a:srgbClr val="242852"/>
                    </a:solidFill>
                  </a:tcPr>
                </a:tc>
                <a:tc>
                  <a:txBody>
                    <a:bodyPr wrap="square" lIns="36576" rIns="36576" tIns="36576" bIns="36576" anchor="t"/>
                    <a:lstStyle/>
                    <a:p>
                      <a:pPr algn="ctr"/>
                      <a:r>
                        <a:rPr sz="1000" b="1" i="0">
                          <a:solidFill>
                            <a:srgbClr val="FFFFFF"/>
                          </a:solidFill>
                          <a:latin typeface="Arial"/>
                        </a:rPr>
                        <a:t>15%</a:t>
                      </a:r>
                    </a:p>
                  </a:txBody>
                  <a:tcPr marL="45720" marR="45720" marT="9144" marB="9144" anchor="ctr">
                    <a:lnL w="0">
                      <a:noFill/>
                    </a:lnL>
                    <a:lnR w="0">
                      <a:noFill/>
                    </a:lnR>
                    <a:lnT w="9525">
                      <a:solidFill>
                        <a:srgbClr val="7F7F7F"/>
                      </a:solidFill>
                    </a:lnT>
                    <a:lnB w="9525">
                      <a:solidFill>
                        <a:srgbClr val="7F7F7F"/>
                      </a:solidFill>
                    </a:lnB>
                    <a:solidFill>
                      <a:srgbClr val="242852"/>
                    </a:solidFill>
                  </a:tcPr>
                </a:tc>
                <a:tc>
                  <a:txBody>
                    <a:bodyPr wrap="square" lIns="36576" rIns="36576" tIns="36576" bIns="36576" anchor="t"/>
                    <a:lstStyle/>
                    <a:p>
                      <a:pPr algn="ctr"/>
                      <a:r>
                        <a:rPr sz="1000" b="1" i="0">
                          <a:solidFill>
                            <a:srgbClr val="FFFFFF"/>
                          </a:solidFill>
                          <a:latin typeface="Arial"/>
                        </a:rPr>
                        <a:t>16%</a:t>
                      </a:r>
                    </a:p>
                  </a:txBody>
                  <a:tcPr marL="45720" marR="45720" marT="9144" marB="9144" anchor="ctr">
                    <a:lnL w="0">
                      <a:noFill/>
                    </a:lnL>
                    <a:lnR w="0">
                      <a:noFill/>
                    </a:lnR>
                    <a:lnT w="9525">
                      <a:solidFill>
                        <a:srgbClr val="7F7F7F"/>
                      </a:solidFill>
                    </a:lnT>
                    <a:lnB w="9525">
                      <a:solidFill>
                        <a:srgbClr val="7F7F7F"/>
                      </a:solidFill>
                    </a:lnB>
                    <a:solidFill>
                      <a:srgbClr val="242852"/>
                    </a:solidFill>
                  </a:tcPr>
                </a:tc>
                <a:tc>
                  <a:txBody>
                    <a:bodyPr wrap="square" lIns="36576" rIns="36576" tIns="36576" bIns="36576" anchor="t"/>
                    <a:lstStyle/>
                    <a:p>
                      <a:pPr algn="ctr"/>
                      <a:r>
                        <a:rPr sz="1000" b="1" i="0">
                          <a:solidFill>
                            <a:srgbClr val="FFFFFF"/>
                          </a:solidFill>
                          <a:latin typeface="Arial"/>
                        </a:rPr>
                        <a:t>17%</a:t>
                      </a:r>
                    </a:p>
                  </a:txBody>
                  <a:tcPr marL="45720" marR="45720" marT="9144" marB="9144" anchor="ctr">
                    <a:lnL w="0">
                      <a:noFill/>
                    </a:lnL>
                    <a:lnR w="0">
                      <a:noFill/>
                    </a:lnR>
                    <a:lnT w="9525">
                      <a:solidFill>
                        <a:srgbClr val="7F7F7F"/>
                      </a:solidFill>
                    </a:lnT>
                    <a:lnB w="9525">
                      <a:solidFill>
                        <a:srgbClr val="7F7F7F"/>
                      </a:solidFill>
                    </a:lnB>
                    <a:solidFill>
                      <a:srgbClr val="242852"/>
                    </a:solidFill>
                  </a:tcPr>
                </a:tc>
                <a:tc>
                  <a:txBody>
                    <a:bodyPr wrap="square" lIns="36576" rIns="36576" tIns="36576" bIns="36576" anchor="t"/>
                    <a:lstStyle/>
                    <a:p>
                      <a:pPr algn="ctr"/>
                      <a:r>
                        <a:rPr sz="1000" b="1" i="0">
                          <a:solidFill>
                            <a:srgbClr val="FFFFFF"/>
                          </a:solidFill>
                          <a:latin typeface="Arial"/>
                        </a:rPr>
                        <a:t>18%</a:t>
                      </a:r>
                    </a:p>
                  </a:txBody>
                  <a:tcPr marL="45720" marR="45720" marT="9144" marB="9144" anchor="ctr">
                    <a:lnL w="0">
                      <a:noFill/>
                    </a:lnL>
                    <a:lnR w="0">
                      <a:noFill/>
                    </a:lnR>
                    <a:lnT w="9525">
                      <a:solidFill>
                        <a:srgbClr val="7F7F7F"/>
                      </a:solidFill>
                    </a:lnT>
                    <a:lnB w="9525">
                      <a:solidFill>
                        <a:srgbClr val="7F7F7F"/>
                      </a:solidFill>
                    </a:lnB>
                    <a:solidFill>
                      <a:srgbClr val="242852"/>
                    </a:solidFill>
                  </a:tcPr>
                </a:tc>
              </a:tr>
              <a:tr h="384048">
                <a:tc>
                  <a:txBody>
                    <a:bodyPr wrap="square" lIns="36576" rIns="36576" tIns="36576" bIns="36576" anchor="t"/>
                    <a:lstStyle/>
                    <a:p>
                      <a:pPr algn="ctr"/>
                      <a:r>
                        <a:rPr sz="1000" b="0" i="0">
                          <a:solidFill>
                            <a:srgbClr val="000000"/>
                          </a:solidFill>
                          <a:latin typeface="Arial"/>
                        </a:rPr>
                        <a:t>13%</a:t>
                      </a:r>
                    </a:p>
                  </a:txBody>
                  <a:tcPr marL="45720" marR="45720" marT="9144" marB="9144" anchor="ctr">
                    <a:lnL w="0">
                      <a:noFill/>
                    </a:lnL>
                    <a:lnR w="0">
                      <a:noFill/>
                    </a:lnR>
                    <a:lnT w="0">
                      <a:noFill/>
                    </a:lnT>
                    <a:lnB w="0">
                      <a:noFill/>
                    </a:lnB>
                    <a:noFill/>
                  </a:tcPr>
                </a:tc>
                <a:tc>
                  <a:txBody>
                    <a:bodyPr wrap="square" lIns="36576" rIns="36576" tIns="36576" bIns="36576" anchor="t"/>
                    <a:lstStyle/>
                    <a:p>
                      <a:pPr algn="ctr"/>
                      <a:r>
                        <a:rPr sz="1000" b="0" i="0">
                          <a:solidFill>
                            <a:srgbClr val="000000"/>
                          </a:solidFill>
                          <a:latin typeface="Arial"/>
                        </a:rPr>
                        <a:t>164.6</a:t>
                      </a:r>
                    </a:p>
                  </a:txBody>
                  <a:tcPr marL="45720" marR="45720" marT="9144" marB="9144" anchor="ctr">
                    <a:lnL w="0">
                      <a:noFill/>
                    </a:lnL>
                    <a:lnR w="0">
                      <a:noFill/>
                    </a:lnR>
                    <a:lnT w="0">
                      <a:noFill/>
                    </a:lnT>
                    <a:lnB w="0">
                      <a:noFill/>
                    </a:lnB>
                    <a:solidFill>
                      <a:srgbClr val="F8696B"/>
                    </a:solidFill>
                  </a:tcPr>
                </a:tc>
                <a:tc>
                  <a:txBody>
                    <a:bodyPr wrap="square" lIns="36576" rIns="36576" tIns="36576" bIns="36576" anchor="t"/>
                    <a:lstStyle/>
                    <a:p>
                      <a:pPr algn="ctr"/>
                      <a:r>
                        <a:rPr sz="1000" b="0" i="0">
                          <a:solidFill>
                            <a:srgbClr val="000000"/>
                          </a:solidFill>
                          <a:latin typeface="Arial"/>
                        </a:rPr>
                        <a:t>175.5</a:t>
                      </a:r>
                    </a:p>
                  </a:txBody>
                  <a:tcPr marL="45720" marR="45720" marT="9144" marB="9144" anchor="ctr">
                    <a:lnL w="0">
                      <a:noFill/>
                    </a:lnL>
                    <a:lnR w="0">
                      <a:noFill/>
                    </a:lnR>
                    <a:lnT w="0">
                      <a:noFill/>
                    </a:lnT>
                    <a:lnB w="0">
                      <a:noFill/>
                    </a:lnB>
                    <a:solidFill>
                      <a:srgbClr val="F9776E"/>
                    </a:solidFill>
                  </a:tcPr>
                </a:tc>
                <a:tc>
                  <a:txBody>
                    <a:bodyPr wrap="square" lIns="36576" rIns="36576" tIns="36576" bIns="36576" anchor="t"/>
                    <a:lstStyle/>
                    <a:p>
                      <a:pPr algn="ctr"/>
                      <a:r>
                        <a:rPr sz="1000" b="0" i="0">
                          <a:solidFill>
                            <a:srgbClr val="000000"/>
                          </a:solidFill>
                          <a:latin typeface="Arial"/>
                        </a:rPr>
                        <a:t>186.5</a:t>
                      </a:r>
                    </a:p>
                  </a:txBody>
                  <a:tcPr marL="45720" marR="45720" marT="9144" marB="9144" anchor="ctr">
                    <a:lnL w="0">
                      <a:noFill/>
                    </a:lnL>
                    <a:lnR w="0">
                      <a:noFill/>
                    </a:lnR>
                    <a:lnT w="0">
                      <a:noFill/>
                    </a:lnT>
                    <a:lnB w="0">
                      <a:noFill/>
                    </a:lnB>
                    <a:solidFill>
                      <a:srgbClr val="FA8671"/>
                    </a:solidFill>
                  </a:tcPr>
                </a:tc>
                <a:tc>
                  <a:txBody>
                    <a:bodyPr wrap="square" lIns="36576" rIns="36576" tIns="36576" bIns="36576" anchor="t"/>
                    <a:lstStyle/>
                    <a:p>
                      <a:pPr algn="ctr"/>
                      <a:r>
                        <a:rPr sz="1000" b="0" i="0">
                          <a:solidFill>
                            <a:srgbClr val="000000"/>
                          </a:solidFill>
                          <a:latin typeface="Arial"/>
                        </a:rPr>
                        <a:t>197.4</a:t>
                      </a:r>
                    </a:p>
                  </a:txBody>
                  <a:tcPr marL="45720" marR="45720" marT="9144" marB="9144" anchor="ctr">
                    <a:lnL w="0">
                      <a:noFill/>
                    </a:lnL>
                    <a:lnR w="0">
                      <a:noFill/>
                    </a:lnR>
                    <a:lnT w="0">
                      <a:noFill/>
                    </a:lnT>
                    <a:lnB w="0">
                      <a:noFill/>
                    </a:lnB>
                    <a:solidFill>
                      <a:srgbClr val="FA9473"/>
                    </a:solidFill>
                  </a:tcPr>
                </a:tc>
                <a:tc>
                  <a:txBody>
                    <a:bodyPr wrap="square" lIns="36576" rIns="36576" tIns="36576" bIns="36576" anchor="t"/>
                    <a:lstStyle/>
                    <a:p>
                      <a:pPr algn="ctr"/>
                      <a:r>
                        <a:rPr sz="1000" b="0" i="0">
                          <a:solidFill>
                            <a:srgbClr val="000000"/>
                          </a:solidFill>
                          <a:latin typeface="Arial"/>
                        </a:rPr>
                        <a:t>208.4</a:t>
                      </a:r>
                    </a:p>
                  </a:txBody>
                  <a:tcPr marL="45720" marR="45720" marT="9144" marB="9144" anchor="ctr">
                    <a:lnL w="0">
                      <a:noFill/>
                    </a:lnL>
                    <a:lnR w="0">
                      <a:noFill/>
                    </a:lnR>
                    <a:lnT w="0">
                      <a:noFill/>
                    </a:lnT>
                    <a:lnB w="0">
                      <a:noFill/>
                    </a:lnB>
                    <a:solidFill>
                      <a:srgbClr val="FBA376"/>
                    </a:solidFill>
                  </a:tcPr>
                </a:tc>
              </a:tr>
              <a:tr h="384048">
                <a:tc>
                  <a:txBody>
                    <a:bodyPr wrap="square" lIns="36576" rIns="36576" tIns="36576" bIns="36576" anchor="t"/>
                    <a:lstStyle/>
                    <a:p>
                      <a:pPr algn="ctr"/>
                      <a:r>
                        <a:rPr sz="1000" b="0" i="0">
                          <a:solidFill>
                            <a:srgbClr val="000000"/>
                          </a:solidFill>
                          <a:latin typeface="Arial"/>
                        </a:rPr>
                        <a:t>12%</a:t>
                      </a:r>
                    </a:p>
                  </a:txBody>
                  <a:tcPr marL="45720" marR="45720" marT="9144" marB="9144" anchor="ctr">
                    <a:lnL w="0">
                      <a:noFill/>
                    </a:lnL>
                    <a:lnR w="0">
                      <a:noFill/>
                    </a:lnR>
                    <a:lnT w="0">
                      <a:noFill/>
                    </a:lnT>
                    <a:lnB w="0">
                      <a:noFill/>
                    </a:lnB>
                    <a:noFill/>
                  </a:tcPr>
                </a:tc>
                <a:tc>
                  <a:txBody>
                    <a:bodyPr wrap="square" lIns="36576" rIns="36576" tIns="36576" bIns="36576" anchor="t"/>
                    <a:lstStyle/>
                    <a:p>
                      <a:pPr algn="ctr"/>
                      <a:r>
                        <a:rPr sz="1000" b="0" i="0">
                          <a:solidFill>
                            <a:srgbClr val="000000"/>
                          </a:solidFill>
                          <a:latin typeface="Arial"/>
                        </a:rPr>
                        <a:t>184.8</a:t>
                      </a:r>
                    </a:p>
                  </a:txBody>
                  <a:tcPr marL="45720" marR="45720" marT="9144" marB="9144" anchor="ctr">
                    <a:lnL w="0">
                      <a:noFill/>
                    </a:lnL>
                    <a:lnR w="0">
                      <a:noFill/>
                    </a:lnR>
                    <a:lnT w="0">
                      <a:noFill/>
                    </a:lnT>
                    <a:lnB w="0">
                      <a:noFill/>
                    </a:lnB>
                    <a:solidFill>
                      <a:srgbClr val="F98470"/>
                    </a:solidFill>
                  </a:tcPr>
                </a:tc>
                <a:tc>
                  <a:txBody>
                    <a:bodyPr wrap="square" lIns="36576" rIns="36576" tIns="36576" bIns="36576" anchor="t"/>
                    <a:lstStyle/>
                    <a:p>
                      <a:pPr algn="ctr"/>
                      <a:r>
                        <a:rPr sz="1000" b="0" i="0">
                          <a:solidFill>
                            <a:srgbClr val="000000"/>
                          </a:solidFill>
                          <a:latin typeface="Arial"/>
                        </a:rPr>
                        <a:t>197.4</a:t>
                      </a:r>
                    </a:p>
                  </a:txBody>
                  <a:tcPr marL="45720" marR="45720" marT="9144" marB="9144" anchor="ctr">
                    <a:lnL w="0">
                      <a:noFill/>
                    </a:lnL>
                    <a:lnR w="0">
                      <a:noFill/>
                    </a:lnR>
                    <a:lnT w="0">
                      <a:noFill/>
                    </a:lnT>
                    <a:lnB w="0">
                      <a:noFill/>
                    </a:lnB>
                    <a:solidFill>
                      <a:srgbClr val="FA9473"/>
                    </a:solidFill>
                  </a:tcPr>
                </a:tc>
                <a:tc>
                  <a:txBody>
                    <a:bodyPr wrap="square" lIns="36576" rIns="36576" tIns="36576" bIns="36576" anchor="t"/>
                    <a:lstStyle/>
                    <a:p>
                      <a:pPr algn="ctr"/>
                      <a:r>
                        <a:rPr sz="1000" b="0" i="0">
                          <a:solidFill>
                            <a:srgbClr val="000000"/>
                          </a:solidFill>
                          <a:latin typeface="Arial"/>
                        </a:rPr>
                        <a:t>210.0</a:t>
                      </a:r>
                    </a:p>
                  </a:txBody>
                  <a:tcPr marL="45720" marR="45720" marT="9144" marB="9144" anchor="ctr">
                    <a:lnL w="0">
                      <a:noFill/>
                    </a:lnL>
                    <a:lnR w="0">
                      <a:noFill/>
                    </a:lnR>
                    <a:lnT w="0">
                      <a:noFill/>
                    </a:lnT>
                    <a:lnB w="0">
                      <a:noFill/>
                    </a:lnB>
                    <a:solidFill>
                      <a:srgbClr val="FBA577"/>
                    </a:solidFill>
                  </a:tcPr>
                </a:tc>
                <a:tc>
                  <a:txBody>
                    <a:bodyPr wrap="square" lIns="36576" rIns="36576" tIns="36576" bIns="36576" anchor="t"/>
                    <a:lstStyle/>
                    <a:p>
                      <a:pPr algn="ctr"/>
                      <a:r>
                        <a:rPr sz="1000" b="0" i="0">
                          <a:solidFill>
                            <a:srgbClr val="000000"/>
                          </a:solidFill>
                          <a:latin typeface="Arial"/>
                        </a:rPr>
                        <a:t>222.6</a:t>
                      </a:r>
                    </a:p>
                  </a:txBody>
                  <a:tcPr marL="45720" marR="45720" marT="9144" marB="9144" anchor="ctr">
                    <a:lnL w="0">
                      <a:noFill/>
                    </a:lnL>
                    <a:lnR w="0">
                      <a:noFill/>
                    </a:lnR>
                    <a:lnT w="0">
                      <a:noFill/>
                    </a:lnT>
                    <a:lnB w="0">
                      <a:noFill/>
                    </a:lnB>
                    <a:solidFill>
                      <a:srgbClr val="FCB57A"/>
                    </a:solidFill>
                  </a:tcPr>
                </a:tc>
                <a:tc>
                  <a:txBody>
                    <a:bodyPr wrap="square" lIns="36576" rIns="36576" tIns="36576" bIns="36576" anchor="t"/>
                    <a:lstStyle/>
                    <a:p>
                      <a:pPr algn="ctr"/>
                      <a:r>
                        <a:rPr sz="1000" b="0" i="0">
                          <a:solidFill>
                            <a:srgbClr val="000000"/>
                          </a:solidFill>
                          <a:latin typeface="Arial"/>
                        </a:rPr>
                        <a:t>235.1</a:t>
                      </a:r>
                    </a:p>
                  </a:txBody>
                  <a:tcPr marL="45720" marR="45720" marT="9144" marB="9144" anchor="ctr">
                    <a:lnL w="0">
                      <a:noFill/>
                    </a:lnL>
                    <a:lnR w="0">
                      <a:noFill/>
                    </a:lnR>
                    <a:lnT w="0">
                      <a:noFill/>
                    </a:lnT>
                    <a:lnB w="0">
                      <a:noFill/>
                    </a:lnB>
                    <a:solidFill>
                      <a:srgbClr val="FDC67D"/>
                    </a:solidFill>
                  </a:tcPr>
                </a:tc>
              </a:tr>
              <a:tr h="384048">
                <a:tc>
                  <a:txBody>
                    <a:bodyPr wrap="square" lIns="36576" rIns="36576" tIns="36576" bIns="36576" anchor="t"/>
                    <a:lstStyle/>
                    <a:p>
                      <a:pPr algn="ctr"/>
                      <a:r>
                        <a:rPr sz="1000" b="0" i="0">
                          <a:solidFill>
                            <a:srgbClr val="000000"/>
                          </a:solidFill>
                          <a:latin typeface="Arial"/>
                        </a:rPr>
                        <a:t>11%</a:t>
                      </a:r>
                    </a:p>
                  </a:txBody>
                  <a:tcPr marL="45720" marR="45720" marT="9144" marB="9144" anchor="ctr">
                    <a:lnL w="0">
                      <a:noFill/>
                    </a:lnL>
                    <a:lnR w="0">
                      <a:noFill/>
                    </a:lnR>
                    <a:lnT w="0">
                      <a:noFill/>
                    </a:lnT>
                    <a:lnB w="0">
                      <a:noFill/>
                    </a:lnB>
                    <a:noFill/>
                  </a:tcPr>
                </a:tc>
                <a:tc>
                  <a:txBody>
                    <a:bodyPr wrap="square" lIns="36576" rIns="36576" tIns="36576" bIns="36576" anchor="t"/>
                    <a:lstStyle/>
                    <a:p>
                      <a:pPr algn="ctr"/>
                      <a:r>
                        <a:rPr sz="1000" b="0" i="0">
                          <a:solidFill>
                            <a:srgbClr val="000000"/>
                          </a:solidFill>
                          <a:latin typeface="Arial"/>
                        </a:rPr>
                        <a:t>209.5</a:t>
                      </a:r>
                    </a:p>
                  </a:txBody>
                  <a:tcPr marL="45720" marR="45720" marT="9144" marB="9144" anchor="ctr">
                    <a:lnL w="0">
                      <a:noFill/>
                    </a:lnL>
                    <a:lnR w="0">
                      <a:noFill/>
                    </a:lnR>
                    <a:lnT w="0">
                      <a:noFill/>
                    </a:lnT>
                    <a:lnB w="0">
                      <a:noFill/>
                    </a:lnB>
                    <a:solidFill>
                      <a:srgbClr val="FBA476"/>
                    </a:solidFill>
                  </a:tcPr>
                </a:tc>
                <a:tc>
                  <a:txBody>
                    <a:bodyPr wrap="square" lIns="36576" rIns="36576" tIns="36576" bIns="36576" anchor="t"/>
                    <a:lstStyle/>
                    <a:p>
                      <a:pPr algn="ctr"/>
                      <a:r>
                        <a:rPr sz="1000" b="0" i="0">
                          <a:solidFill>
                            <a:srgbClr val="000000"/>
                          </a:solidFill>
                          <a:latin typeface="Arial"/>
                        </a:rPr>
                        <a:t>224.1</a:t>
                      </a:r>
                    </a:p>
                  </a:txBody>
                  <a:tcPr marL="45720" marR="45720" marT="9144" marB="9144" anchor="ctr">
                    <a:lnL w="0">
                      <a:noFill/>
                    </a:lnL>
                    <a:lnR w="0">
                      <a:noFill/>
                    </a:lnR>
                    <a:lnT w="0">
                      <a:noFill/>
                    </a:lnT>
                    <a:lnB w="0">
                      <a:noFill/>
                    </a:lnB>
                    <a:solidFill>
                      <a:srgbClr val="FCB77A"/>
                    </a:solidFill>
                  </a:tcPr>
                </a:tc>
                <a:tc>
                  <a:txBody>
                    <a:bodyPr wrap="square" lIns="36576" rIns="36576" tIns="36576" bIns="36576" anchor="t"/>
                    <a:lstStyle/>
                    <a:p>
                      <a:pPr algn="ctr"/>
                      <a:r>
                        <a:rPr sz="1000" b="0" i="0">
                          <a:solidFill>
                            <a:srgbClr val="000000"/>
                          </a:solidFill>
                          <a:latin typeface="Arial"/>
                        </a:rPr>
                        <a:t>238.7</a:t>
                      </a:r>
                    </a:p>
                  </a:txBody>
                  <a:tcPr marL="45720" marR="45720" marT="9144" marB="9144" anchor="ctr">
                    <a:lnL w="0">
                      <a:noFill/>
                    </a:lnL>
                    <a:lnR w="0">
                      <a:noFill/>
                    </a:lnR>
                    <a:lnT w="0">
                      <a:noFill/>
                    </a:lnT>
                    <a:lnB w="0">
                      <a:noFill/>
                    </a:lnB>
                    <a:solidFill>
                      <a:srgbClr val="FDCB7E"/>
                    </a:solidFill>
                  </a:tcPr>
                </a:tc>
                <a:tc>
                  <a:txBody>
                    <a:bodyPr wrap="square" lIns="36576" rIns="36576" tIns="36576" bIns="36576" anchor="t"/>
                    <a:lstStyle/>
                    <a:p>
                      <a:pPr algn="ctr"/>
                      <a:r>
                        <a:rPr sz="1000" b="0" i="0">
                          <a:solidFill>
                            <a:srgbClr val="000000"/>
                          </a:solidFill>
                          <a:latin typeface="Arial"/>
                        </a:rPr>
                        <a:t>253.3</a:t>
                      </a:r>
                    </a:p>
                  </a:txBody>
                  <a:tcPr marL="45720" marR="45720" marT="9144" marB="9144" anchor="ctr">
                    <a:lnL w="0">
                      <a:noFill/>
                    </a:lnL>
                    <a:lnR w="0">
                      <a:noFill/>
                    </a:lnR>
                    <a:lnT w="0">
                      <a:noFill/>
                    </a:lnT>
                    <a:lnB w="0">
                      <a:noFill/>
                    </a:lnB>
                    <a:solidFill>
                      <a:srgbClr val="FEDE81"/>
                    </a:solidFill>
                  </a:tcPr>
                </a:tc>
                <a:tc>
                  <a:txBody>
                    <a:bodyPr wrap="square" lIns="36576" rIns="36576" tIns="36576" bIns="36576" anchor="t"/>
                    <a:lstStyle/>
                    <a:p>
                      <a:pPr algn="ctr"/>
                      <a:r>
                        <a:rPr sz="1000" b="0" i="0">
                          <a:solidFill>
                            <a:srgbClr val="000000"/>
                          </a:solidFill>
                          <a:latin typeface="Arial"/>
                        </a:rPr>
                        <a:t>267.9</a:t>
                      </a:r>
                    </a:p>
                  </a:txBody>
                  <a:tcPr marL="45720" marR="45720" marT="9144" marB="9144" anchor="ctr">
                    <a:lnL w="0">
                      <a:noFill/>
                    </a:lnL>
                    <a:lnR w="0">
                      <a:noFill/>
                    </a:lnR>
                    <a:lnT w="0">
                      <a:noFill/>
                    </a:lnT>
                    <a:lnB w="0">
                      <a:noFill/>
                    </a:lnB>
                    <a:solidFill>
                      <a:srgbClr val="F8E984"/>
                    </a:solidFill>
                  </a:tcPr>
                </a:tc>
              </a:tr>
              <a:tr h="384048">
                <a:tc>
                  <a:txBody>
                    <a:bodyPr wrap="square" lIns="36576" rIns="36576" tIns="36576" bIns="36576" anchor="t"/>
                    <a:lstStyle/>
                    <a:p>
                      <a:pPr algn="ctr"/>
                      <a:r>
                        <a:rPr sz="1000" b="0" i="0">
                          <a:solidFill>
                            <a:srgbClr val="000000"/>
                          </a:solidFill>
                          <a:latin typeface="Arial"/>
                        </a:rPr>
                        <a:t>10%</a:t>
                      </a:r>
                    </a:p>
                  </a:txBody>
                  <a:tcPr marL="45720" marR="45720" marT="9144" marB="9144" anchor="ctr">
                    <a:lnL w="0">
                      <a:noFill/>
                    </a:lnL>
                    <a:lnR w="0">
                      <a:noFill/>
                    </a:lnR>
                    <a:lnT w="0">
                      <a:noFill/>
                    </a:lnT>
                    <a:lnB w="0">
                      <a:noFill/>
                    </a:lnB>
                    <a:noFill/>
                  </a:tcPr>
                </a:tc>
                <a:tc>
                  <a:txBody>
                    <a:bodyPr wrap="square" lIns="36576" rIns="36576" tIns="36576" bIns="36576" anchor="t"/>
                    <a:lstStyle/>
                    <a:p>
                      <a:pPr algn="ctr"/>
                      <a:r>
                        <a:rPr sz="1000" b="0" i="0">
                          <a:solidFill>
                            <a:srgbClr val="000000"/>
                          </a:solidFill>
                          <a:latin typeface="Arial"/>
                        </a:rPr>
                        <a:t>240.3</a:t>
                      </a:r>
                    </a:p>
                  </a:txBody>
                  <a:tcPr marL="45720" marR="45720" marT="9144" marB="9144" anchor="ctr">
                    <a:lnL w="0">
                      <a:noFill/>
                    </a:lnL>
                    <a:lnR w="0">
                      <a:noFill/>
                    </a:lnR>
                    <a:lnT w="0">
                      <a:noFill/>
                    </a:lnT>
                    <a:lnB w="0">
                      <a:noFill/>
                    </a:lnB>
                    <a:solidFill>
                      <a:srgbClr val="FDCD7E"/>
                    </a:solidFill>
                  </a:tcPr>
                </a:tc>
                <a:tc>
                  <a:txBody>
                    <a:bodyPr wrap="square" lIns="36576" rIns="36576" tIns="36576" bIns="36576" anchor="t"/>
                    <a:lstStyle/>
                    <a:p>
                      <a:pPr algn="ctr"/>
                      <a:r>
                        <a:rPr sz="1000" b="0" i="0">
                          <a:solidFill>
                            <a:srgbClr val="000000"/>
                          </a:solidFill>
                          <a:latin typeface="Arial"/>
                        </a:rPr>
                        <a:t>257.5</a:t>
                      </a:r>
                    </a:p>
                  </a:txBody>
                  <a:tcPr marL="45720" marR="45720" marT="9144" marB="9144" anchor="ctr">
                    <a:lnL w="0">
                      <a:noFill/>
                    </a:lnL>
                    <a:lnR w="0">
                      <a:noFill/>
                    </a:lnR>
                    <a:lnT w="0">
                      <a:noFill/>
                    </a:lnT>
                    <a:lnB w="0">
                      <a:noFill/>
                    </a:lnB>
                    <a:solidFill>
                      <a:srgbClr val="FFE383"/>
                    </a:solidFill>
                  </a:tcPr>
                </a:tc>
                <a:tc>
                  <a:txBody>
                    <a:bodyPr wrap="square" lIns="36576" rIns="36576" tIns="36576" bIns="36576" anchor="t"/>
                    <a:lstStyle/>
                    <a:p>
                      <a:pPr algn="ctr"/>
                      <a:r>
                        <a:rPr sz="1000" b="0" i="0">
                          <a:solidFill>
                            <a:srgbClr val="000000"/>
                          </a:solidFill>
                          <a:latin typeface="Arial"/>
                        </a:rPr>
                        <a:t>274.6</a:t>
                      </a:r>
                    </a:p>
                  </a:txBody>
                  <a:tcPr marL="45720" marR="45720" marT="9144" marB="9144" anchor="ctr">
                    <a:lnL w="0">
                      <a:noFill/>
                    </a:lnL>
                    <a:lnR w="0">
                      <a:noFill/>
                    </a:lnR>
                    <a:lnT w="0">
                      <a:noFill/>
                    </a:lnT>
                    <a:lnB w="0">
                      <a:noFill/>
                    </a:lnB>
                    <a:solidFill>
                      <a:srgbClr val="EDE683"/>
                    </a:solidFill>
                  </a:tcPr>
                </a:tc>
                <a:tc>
                  <a:txBody>
                    <a:bodyPr wrap="square" lIns="36576" rIns="36576" tIns="36576" bIns="36576" anchor="t"/>
                    <a:lstStyle/>
                    <a:p>
                      <a:pPr algn="ctr"/>
                      <a:r>
                        <a:rPr sz="1000" b="0" i="0">
                          <a:solidFill>
                            <a:srgbClr val="000000"/>
                          </a:solidFill>
                          <a:latin typeface="Arial"/>
                        </a:rPr>
                        <a:t>291.8</a:t>
                      </a:r>
                    </a:p>
                  </a:txBody>
                  <a:tcPr marL="45720" marR="45720" marT="9144" marB="9144" anchor="ctr">
                    <a:lnL w="0">
                      <a:noFill/>
                    </a:lnL>
                    <a:lnR w="0">
                      <a:noFill/>
                    </a:lnR>
                    <a:lnT w="0">
                      <a:noFill/>
                    </a:lnT>
                    <a:lnB w="0">
                      <a:noFill/>
                    </a:lnB>
                    <a:solidFill>
                      <a:srgbClr val="D2DE81"/>
                    </a:solidFill>
                  </a:tcPr>
                </a:tc>
                <a:tc>
                  <a:txBody>
                    <a:bodyPr wrap="square" lIns="36576" rIns="36576" tIns="36576" bIns="36576" anchor="t"/>
                    <a:lstStyle/>
                    <a:p>
                      <a:pPr algn="ctr"/>
                      <a:r>
                        <a:rPr sz="1000" b="0" i="0">
                          <a:solidFill>
                            <a:srgbClr val="000000"/>
                          </a:solidFill>
                          <a:latin typeface="Arial"/>
                        </a:rPr>
                        <a:t>309.0</a:t>
                      </a:r>
                    </a:p>
                  </a:txBody>
                  <a:tcPr marL="45720" marR="45720" marT="9144" marB="9144" anchor="ctr">
                    <a:lnL w="0">
                      <a:noFill/>
                    </a:lnL>
                    <a:lnR w="0">
                      <a:noFill/>
                    </a:lnR>
                    <a:lnT w="0">
                      <a:noFill/>
                    </a:lnT>
                    <a:lnB w="0">
                      <a:noFill/>
                    </a:lnB>
                    <a:solidFill>
                      <a:srgbClr val="B7D680"/>
                    </a:solidFill>
                  </a:tcPr>
                </a:tc>
              </a:tr>
              <a:tr h="384048">
                <a:tc>
                  <a:txBody>
                    <a:bodyPr wrap="square" lIns="36576" rIns="36576" tIns="36576" bIns="36576" anchor="t"/>
                    <a:lstStyle/>
                    <a:p>
                      <a:pPr algn="ctr"/>
                      <a:r>
                        <a:rPr sz="1000" b="0" i="0">
                          <a:solidFill>
                            <a:srgbClr val="000000"/>
                          </a:solidFill>
                          <a:latin typeface="Arial"/>
                        </a:rPr>
                        <a:t>9%</a:t>
                      </a:r>
                    </a:p>
                  </a:txBody>
                  <a:tcPr marL="45720" marR="45720" marT="9144" marB="9144" anchor="ctr">
                    <a:lnL w="0">
                      <a:noFill/>
                    </a:lnL>
                    <a:lnR w="0">
                      <a:noFill/>
                    </a:lnR>
                    <a:lnT w="0">
                      <a:noFill/>
                    </a:lnT>
                    <a:lnB w="9525">
                      <a:solidFill>
                        <a:srgbClr val="7F7F7F"/>
                      </a:solidFill>
                    </a:lnB>
                    <a:noFill/>
                  </a:tcPr>
                </a:tc>
                <a:tc>
                  <a:txBody>
                    <a:bodyPr wrap="square" lIns="36576" rIns="36576" tIns="36576" bIns="36576" anchor="t"/>
                    <a:lstStyle/>
                    <a:p>
                      <a:pPr algn="ctr"/>
                      <a:r>
                        <a:rPr sz="1000" b="0" i="0">
                          <a:solidFill>
                            <a:srgbClr val="000000"/>
                          </a:solidFill>
                          <a:latin typeface="Arial"/>
                        </a:rPr>
                        <a:t>279.7</a:t>
                      </a:r>
                    </a:p>
                  </a:txBody>
                  <a:tcPr marL="45720" marR="45720" marT="9144" marB="9144" anchor="ctr">
                    <a:lnL w="0">
                      <a:noFill/>
                    </a:lnL>
                    <a:lnR w="0">
                      <a:noFill/>
                    </a:lnR>
                    <a:lnT w="0">
                      <a:noFill/>
                    </a:lnT>
                    <a:lnB w="9525">
                      <a:solidFill>
                        <a:srgbClr val="7F7F7F"/>
                      </a:solidFill>
                    </a:lnB>
                    <a:solidFill>
                      <a:srgbClr val="E5E382"/>
                    </a:solidFill>
                  </a:tcPr>
                </a:tc>
                <a:tc>
                  <a:txBody>
                    <a:bodyPr wrap="square" lIns="36576" rIns="36576" tIns="36576" bIns="36576" anchor="t"/>
                    <a:lstStyle/>
                    <a:p>
                      <a:pPr algn="ctr"/>
                      <a:r>
                        <a:rPr sz="1000" b="0" i="0">
                          <a:solidFill>
                            <a:srgbClr val="000000"/>
                          </a:solidFill>
                          <a:latin typeface="Arial"/>
                        </a:rPr>
                        <a:t>300.2</a:t>
                      </a:r>
                    </a:p>
                  </a:txBody>
                  <a:tcPr marL="45720" marR="45720" marT="9144" marB="9144" anchor="ctr">
                    <a:lnL w="0">
                      <a:noFill/>
                    </a:lnL>
                    <a:lnR w="0">
                      <a:noFill/>
                    </a:lnR>
                    <a:lnT w="0">
                      <a:noFill/>
                    </a:lnT>
                    <a:lnB w="9525">
                      <a:solidFill>
                        <a:srgbClr val="7F7F7F"/>
                      </a:solidFill>
                    </a:lnB>
                    <a:solidFill>
                      <a:srgbClr val="C4DA81"/>
                    </a:solidFill>
                  </a:tcPr>
                </a:tc>
                <a:tc>
                  <a:txBody>
                    <a:bodyPr wrap="square" lIns="36576" rIns="36576" tIns="36576" bIns="36576" anchor="t"/>
                    <a:lstStyle/>
                    <a:p>
                      <a:pPr algn="ctr"/>
                      <a:r>
                        <a:rPr sz="1000" b="0" i="0">
                          <a:solidFill>
                            <a:srgbClr val="000000"/>
                          </a:solidFill>
                          <a:latin typeface="Arial"/>
                        </a:rPr>
                        <a:t>320.8</a:t>
                      </a:r>
                    </a:p>
                  </a:txBody>
                  <a:tcPr marL="45720" marR="45720" marT="9144" marB="9144" anchor="ctr">
                    <a:lnL w="0">
                      <a:noFill/>
                    </a:lnL>
                    <a:lnR w="0">
                      <a:noFill/>
                    </a:lnR>
                    <a:lnT w="0">
                      <a:noFill/>
                    </a:lnT>
                    <a:lnB w="9525">
                      <a:solidFill>
                        <a:srgbClr val="7F7F7F"/>
                      </a:solidFill>
                    </a:lnB>
                    <a:solidFill>
                      <a:srgbClr val="A4D17F"/>
                    </a:solidFill>
                  </a:tcPr>
                </a:tc>
                <a:tc>
                  <a:txBody>
                    <a:bodyPr wrap="square" lIns="36576" rIns="36576" tIns="36576" bIns="36576" anchor="t"/>
                    <a:lstStyle/>
                    <a:p>
                      <a:pPr algn="ctr"/>
                      <a:r>
                        <a:rPr sz="1000" b="0" i="0">
                          <a:solidFill>
                            <a:srgbClr val="000000"/>
                          </a:solidFill>
                          <a:latin typeface="Arial"/>
                        </a:rPr>
                        <a:t>341.3</a:t>
                      </a:r>
                    </a:p>
                  </a:txBody>
                  <a:tcPr marL="45720" marR="45720" marT="9144" marB="9144" anchor="ctr">
                    <a:lnL w="0">
                      <a:noFill/>
                    </a:lnL>
                    <a:lnR w="0">
                      <a:noFill/>
                    </a:lnR>
                    <a:lnT w="0">
                      <a:noFill/>
                    </a:lnT>
                    <a:lnB w="9525">
                      <a:solidFill>
                        <a:srgbClr val="7F7F7F"/>
                      </a:solidFill>
                    </a:lnB>
                    <a:solidFill>
                      <a:srgbClr val="83C77D"/>
                    </a:solidFill>
                  </a:tcPr>
                </a:tc>
                <a:tc>
                  <a:txBody>
                    <a:bodyPr wrap="square" lIns="36576" rIns="36576" tIns="36576" bIns="36576" anchor="t"/>
                    <a:lstStyle/>
                    <a:p>
                      <a:pPr algn="ctr"/>
                      <a:r>
                        <a:rPr sz="1000" b="0" i="0">
                          <a:solidFill>
                            <a:srgbClr val="000000"/>
                          </a:solidFill>
                          <a:latin typeface="Arial"/>
                        </a:rPr>
                        <a:t>361.8</a:t>
                      </a:r>
                    </a:p>
                  </a:txBody>
                  <a:tcPr marL="45720" marR="45720" marT="9144" marB="9144" anchor="ctr">
                    <a:lnL w="0">
                      <a:noFill/>
                    </a:lnL>
                    <a:lnR w="0">
                      <a:noFill/>
                    </a:lnR>
                    <a:lnT w="0">
                      <a:noFill/>
                    </a:lnT>
                    <a:lnB w="9525">
                      <a:solidFill>
                        <a:srgbClr val="7F7F7F"/>
                      </a:solidFill>
                    </a:lnB>
                    <a:solidFill>
                      <a:srgbClr val="63BE7B"/>
                    </a:solidFill>
                  </a:tcPr>
                </a:tc>
              </a:tr>
            </a:tbl>
          </a:graphicData>
        </a:graphic>
      </p:graphicFrame>
      <p:sp>
        <p:nvSpPr>
          <p:cNvPr id="17" name="Rectangle 16"/>
          <p:cNvSpPr/>
          <p:nvPr/>
        </p:nvSpPr>
        <p:spPr>
          <a:xfrm>
            <a:off x="9063075" y="3268065"/>
            <a:ext cx="873404" cy="347472"/>
          </a:xfrm>
          <a:prstGeom prst="rect">
            <a:avLst/>
          </a:prstGeom>
          <a:noFill/>
          <a:ln w="15875">
            <a:solidFill>
              <a:srgbClr val="000000"/>
            </a:solidFill>
            <a:prstDash val="dash"/>
          </a:ln>
        </p:spPr>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Valuation Conclusions</a:t>
            </a:r>
          </a:p>
        </p:txBody>
      </p:sp>
      <p:sp>
        <p:nvSpPr>
          <p:cNvPr id="4" name="Subtitle 3"/>
          <p:cNvSpPr>
            <a:spLocks noGrp="1"/>
          </p:cNvSpPr>
          <p:nvPr>
            <p:ph type="subTitle" idx="1"/>
          </p:nvPr>
        </p:nvSpPr>
        <p:spPr/>
        <p:txBody>
          <a:bodyPr/>
          <a:lstStyle/>
          <a:p>
            <a:r>
              <a:t>Four methods point to a 20-35% gap between price and value</a:t>
            </a:r>
          </a:p>
        </p:txBody>
      </p:sp>
      <p:sp>
        <p:nvSpPr>
          <p:cNvPr id="5" name="Text Placeholder 4"/>
          <p:cNvSpPr>
            <a:spLocks noGrp="1"/>
          </p:cNvSpPr>
          <p:nvPr>
            <p:ph type="body" idx="14" sz="quarter"/>
          </p:nvPr>
        </p:nvSpPr>
        <p:spPr/>
        <p:txBody>
          <a:bodyPr/>
          <a:lstStyle/>
          <a:p>
            <a:r>
              <a:t>Illustrative data - layout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11</a:t>
            </a:r>
          </a:p>
        </p:txBody>
      </p:sp>
      <p:sp>
        <p:nvSpPr>
          <p:cNvPr id="7" name="Rounded Rectangle 6"/>
          <p:cNvSpPr/>
          <p:nvPr/>
        </p:nvSpPr>
        <p:spPr>
          <a:xfrm>
            <a:off x="3625649" y="1463040"/>
            <a:ext cx="8149078" cy="685800"/>
          </a:xfrm>
          <a:prstGeom prst="roundRect">
            <a:avLst>
              <a:gd name="adj" fmla="val 25000"/>
            </a:avLst>
          </a:prstGeom>
          <a:solidFill>
            <a:srgbClr val="CCD1D7"/>
          </a:solidFill>
          <a:ln>
            <a:noFill/>
          </a:ln>
        </p:spPr>
        <p:txBody>
          <a:bodyPr rtlCol="0" anchor="ctr" wrap="square" lIns="834517" rIns="834517" tIns="36576" bIns="36576"/>
          <a:lstStyle/>
          <a:p>
            <a:pPr algn="l"/>
            <a:r>
              <a:rPr sz="1200" b="0" i="0">
                <a:solidFill>
                  <a:srgbClr val="000000"/>
                </a:solidFill>
                <a:latin typeface="Arial"/>
              </a:rPr>
              <a:t>Undervalued by 20-35% depending on the methodology and year</a:t>
            </a:r>
          </a:p>
        </p:txBody>
      </p:sp>
      <p:sp>
        <p:nvSpPr>
          <p:cNvPr id="8" name="Rectangle 7"/>
          <p:cNvSpPr/>
          <p:nvPr/>
        </p:nvSpPr>
        <p:spPr>
          <a:xfrm>
            <a:off x="525780" y="1463040"/>
            <a:ext cx="829769" cy="685800"/>
          </a:xfrm>
          <a:prstGeom prst="rect">
            <a:avLst/>
          </a:prstGeom>
          <a:solidFill>
            <a:srgbClr val="000000"/>
          </a:solidFill>
          <a:ln>
            <a:noFill/>
          </a:ln>
        </p:spPr>
        <p:txBody>
          <a:bodyPr rtlCol="0" anchor="ctr" wrap="square" lIns="54864" rIns="54864" tIns="36576" bIns="36576"/>
          <a:lstStyle/>
          <a:p>
            <a:pPr algn="ctr"/>
            <a:r>
              <a:rPr sz="1200" b="0" i="0">
                <a:solidFill>
                  <a:srgbClr val="FFFFFF"/>
                </a:solidFill>
                <a:latin typeface="Arial"/>
              </a:rPr>
              <a:t>#1</a:t>
            </a:r>
          </a:p>
        </p:txBody>
      </p:sp>
      <p:sp>
        <p:nvSpPr>
          <p:cNvPr id="9" name="Right Arrow 8"/>
          <p:cNvSpPr/>
          <p:nvPr/>
        </p:nvSpPr>
        <p:spPr>
          <a:xfrm>
            <a:off x="1355549" y="1463040"/>
            <a:ext cx="2997077" cy="685800"/>
          </a:xfrm>
          <a:prstGeom prst="rightArrow">
            <a:avLst/>
          </a:prstGeom>
          <a:solidFill>
            <a:srgbClr val="242852"/>
          </a:solidFill>
          <a:ln>
            <a:noFill/>
          </a:ln>
        </p:spPr>
        <p:txBody>
          <a:bodyPr rtlCol="0" anchor="ctr" wrap="square" tIns="36576" bIns="36576"/>
          <a:lstStyle/>
          <a:p>
            <a:pPr algn="ctr"/>
            <a:r>
              <a:rPr sz="1200" b="0" i="0">
                <a:solidFill>
                  <a:srgbClr val="FFFFFF"/>
                </a:solidFill>
                <a:latin typeface="Arial"/>
              </a:rPr>
              <a:t>Implied valuation</a:t>
            </a:r>
          </a:p>
        </p:txBody>
      </p:sp>
      <p:sp>
        <p:nvSpPr>
          <p:cNvPr id="10" name="Rounded Rectangle 9"/>
          <p:cNvSpPr/>
          <p:nvPr/>
        </p:nvSpPr>
        <p:spPr>
          <a:xfrm>
            <a:off x="3625649" y="2606040"/>
            <a:ext cx="8149078" cy="685800"/>
          </a:xfrm>
          <a:prstGeom prst="roundRect">
            <a:avLst>
              <a:gd name="adj" fmla="val 25000"/>
            </a:avLst>
          </a:prstGeom>
          <a:solidFill>
            <a:srgbClr val="CCD1D7"/>
          </a:solidFill>
          <a:ln>
            <a:noFill/>
          </a:ln>
        </p:spPr>
        <p:txBody>
          <a:bodyPr rtlCol="0" anchor="ctr" wrap="square" lIns="834517" rIns="834517" tIns="36576" bIns="36576"/>
          <a:lstStyle/>
          <a:p>
            <a:pPr algn="l"/>
            <a:r>
              <a:rPr sz="1200" b="0" i="0">
                <a:solidFill>
                  <a:srgbClr val="000000"/>
                </a:solidFill>
                <a:latin typeface="Arial"/>
              </a:rPr>
              <a:t>Higher growth and margins, yet trades at a discount to median EV/EBITDA</a:t>
            </a:r>
          </a:p>
        </p:txBody>
      </p:sp>
      <p:sp>
        <p:nvSpPr>
          <p:cNvPr id="11" name="Rectangle 10"/>
          <p:cNvSpPr/>
          <p:nvPr/>
        </p:nvSpPr>
        <p:spPr>
          <a:xfrm>
            <a:off x="525780" y="2606040"/>
            <a:ext cx="829769" cy="685800"/>
          </a:xfrm>
          <a:prstGeom prst="rect">
            <a:avLst/>
          </a:prstGeom>
          <a:solidFill>
            <a:srgbClr val="000000"/>
          </a:solidFill>
          <a:ln>
            <a:noFill/>
          </a:ln>
        </p:spPr>
        <p:txBody>
          <a:bodyPr rtlCol="0" anchor="ctr" wrap="square" lIns="54864" rIns="54864" tIns="36576" bIns="36576"/>
          <a:lstStyle/>
          <a:p>
            <a:pPr algn="ctr"/>
            <a:r>
              <a:rPr sz="1200" b="0" i="0">
                <a:solidFill>
                  <a:srgbClr val="FFFFFF"/>
                </a:solidFill>
                <a:latin typeface="Arial"/>
              </a:rPr>
              <a:t>#2</a:t>
            </a:r>
          </a:p>
        </p:txBody>
      </p:sp>
      <p:sp>
        <p:nvSpPr>
          <p:cNvPr id="12" name="Right Arrow 11"/>
          <p:cNvSpPr/>
          <p:nvPr/>
        </p:nvSpPr>
        <p:spPr>
          <a:xfrm>
            <a:off x="1355549" y="2606040"/>
            <a:ext cx="2997077" cy="685800"/>
          </a:xfrm>
          <a:prstGeom prst="rightArrow">
            <a:avLst/>
          </a:prstGeom>
          <a:solidFill>
            <a:srgbClr val="242852"/>
          </a:solidFill>
          <a:ln>
            <a:noFill/>
          </a:ln>
        </p:spPr>
        <p:txBody>
          <a:bodyPr rtlCol="0" anchor="ctr" wrap="square" tIns="36576" bIns="36576"/>
          <a:lstStyle/>
          <a:p>
            <a:pPr algn="ctr"/>
            <a:r>
              <a:rPr sz="1200" b="0" i="0">
                <a:solidFill>
                  <a:srgbClr val="FFFFFF"/>
                </a:solidFill>
                <a:latin typeface="Arial"/>
              </a:rPr>
              <a:t>Comparable companies</a:t>
            </a:r>
          </a:p>
        </p:txBody>
      </p:sp>
      <p:sp>
        <p:nvSpPr>
          <p:cNvPr id="13" name="Rounded Rectangle 12"/>
          <p:cNvSpPr/>
          <p:nvPr/>
        </p:nvSpPr>
        <p:spPr>
          <a:xfrm>
            <a:off x="3625649" y="3749039"/>
            <a:ext cx="8149078" cy="685800"/>
          </a:xfrm>
          <a:prstGeom prst="roundRect">
            <a:avLst>
              <a:gd name="adj" fmla="val 25000"/>
            </a:avLst>
          </a:prstGeom>
          <a:solidFill>
            <a:srgbClr val="CCD1D7"/>
          </a:solidFill>
          <a:ln>
            <a:noFill/>
          </a:ln>
        </p:spPr>
        <p:txBody>
          <a:bodyPr rtlCol="0" anchor="ctr" wrap="square" lIns="834517" rIns="834517" tIns="36576" bIns="36576"/>
          <a:lstStyle/>
          <a:p>
            <a:pPr algn="l"/>
            <a:r>
              <a:rPr sz="1200" b="0" i="0">
                <a:solidFill>
                  <a:srgbClr val="000000"/>
                </a:solidFill>
                <a:latin typeface="Arial"/>
              </a:rPr>
              <a:t>Management case implies moderate upside; consensus implies none</a:t>
            </a:r>
          </a:p>
        </p:txBody>
      </p:sp>
      <p:sp>
        <p:nvSpPr>
          <p:cNvPr id="14" name="Rectangle 13"/>
          <p:cNvSpPr/>
          <p:nvPr/>
        </p:nvSpPr>
        <p:spPr>
          <a:xfrm>
            <a:off x="525780" y="3749039"/>
            <a:ext cx="829769" cy="685800"/>
          </a:xfrm>
          <a:prstGeom prst="rect">
            <a:avLst/>
          </a:prstGeom>
          <a:solidFill>
            <a:srgbClr val="000000"/>
          </a:solidFill>
          <a:ln>
            <a:noFill/>
          </a:ln>
        </p:spPr>
        <p:txBody>
          <a:bodyPr rtlCol="0" anchor="ctr" wrap="square" lIns="54864" rIns="54864" tIns="36576" bIns="36576"/>
          <a:lstStyle/>
          <a:p>
            <a:pPr algn="ctr"/>
            <a:r>
              <a:rPr sz="1200" b="0" i="0">
                <a:solidFill>
                  <a:srgbClr val="FFFFFF"/>
                </a:solidFill>
                <a:latin typeface="Arial"/>
              </a:rPr>
              <a:t>#3</a:t>
            </a:r>
          </a:p>
        </p:txBody>
      </p:sp>
      <p:sp>
        <p:nvSpPr>
          <p:cNvPr id="15" name="Right Arrow 14"/>
          <p:cNvSpPr/>
          <p:nvPr/>
        </p:nvSpPr>
        <p:spPr>
          <a:xfrm>
            <a:off x="1355549" y="3749039"/>
            <a:ext cx="2997077" cy="685800"/>
          </a:xfrm>
          <a:prstGeom prst="rightArrow">
            <a:avLst/>
          </a:prstGeom>
          <a:solidFill>
            <a:srgbClr val="242852"/>
          </a:solidFill>
          <a:ln>
            <a:noFill/>
          </a:ln>
        </p:spPr>
        <p:txBody>
          <a:bodyPr rtlCol="0" anchor="ctr" wrap="square" tIns="36576" bIns="36576"/>
          <a:lstStyle/>
          <a:p>
            <a:pPr algn="ctr"/>
            <a:r>
              <a:rPr sz="1200" b="0" i="0">
                <a:solidFill>
                  <a:srgbClr val="FFFFFF"/>
                </a:solidFill>
                <a:latin typeface="Arial"/>
              </a:rPr>
              <a:t>DCF analysis</a:t>
            </a:r>
          </a:p>
        </p:txBody>
      </p:sp>
      <p:sp>
        <p:nvSpPr>
          <p:cNvPr id="16" name="Rounded Rectangle 15"/>
          <p:cNvSpPr/>
          <p:nvPr/>
        </p:nvSpPr>
        <p:spPr>
          <a:xfrm>
            <a:off x="3625649" y="4892040"/>
            <a:ext cx="8149078" cy="685800"/>
          </a:xfrm>
          <a:prstGeom prst="roundRect">
            <a:avLst>
              <a:gd name="adj" fmla="val 25000"/>
            </a:avLst>
          </a:prstGeom>
          <a:solidFill>
            <a:srgbClr val="CCD1D7"/>
          </a:solidFill>
          <a:ln>
            <a:noFill/>
          </a:ln>
        </p:spPr>
        <p:txBody>
          <a:bodyPr rtlCol="0" anchor="ctr" wrap="square" lIns="834517" rIns="834517" tIns="36576" bIns="36576"/>
          <a:lstStyle/>
          <a:p>
            <a:pPr algn="l"/>
            <a:r>
              <a:rPr sz="1200" b="0" i="0">
                <a:solidFill>
                  <a:srgbClr val="000000"/>
                </a:solidFill>
                <a:latin typeface="Arial"/>
              </a:rPr>
              <a:t>LTM EV/EBITDA implies $240+; premiums imply $180-$200</a:t>
            </a:r>
          </a:p>
        </p:txBody>
      </p:sp>
      <p:sp>
        <p:nvSpPr>
          <p:cNvPr id="17" name="Rectangle 16"/>
          <p:cNvSpPr/>
          <p:nvPr/>
        </p:nvSpPr>
        <p:spPr>
          <a:xfrm>
            <a:off x="525780" y="4892040"/>
            <a:ext cx="829769" cy="685800"/>
          </a:xfrm>
          <a:prstGeom prst="rect">
            <a:avLst/>
          </a:prstGeom>
          <a:solidFill>
            <a:srgbClr val="000000"/>
          </a:solidFill>
          <a:ln>
            <a:noFill/>
          </a:ln>
        </p:spPr>
        <p:txBody>
          <a:bodyPr rtlCol="0" anchor="ctr" wrap="square" lIns="54864" rIns="54864" tIns="36576" bIns="36576"/>
          <a:lstStyle/>
          <a:p>
            <a:pPr algn="ctr"/>
            <a:r>
              <a:rPr sz="1200" b="0" i="0">
                <a:solidFill>
                  <a:srgbClr val="FFFFFF"/>
                </a:solidFill>
                <a:latin typeface="Arial"/>
              </a:rPr>
              <a:t>#4</a:t>
            </a:r>
          </a:p>
        </p:txBody>
      </p:sp>
      <p:sp>
        <p:nvSpPr>
          <p:cNvPr id="18" name="Right Arrow 17"/>
          <p:cNvSpPr/>
          <p:nvPr/>
        </p:nvSpPr>
        <p:spPr>
          <a:xfrm>
            <a:off x="1355549" y="4892040"/>
            <a:ext cx="2997077" cy="685800"/>
          </a:xfrm>
          <a:prstGeom prst="rightArrow">
            <a:avLst/>
          </a:prstGeom>
          <a:solidFill>
            <a:srgbClr val="242852"/>
          </a:solidFill>
          <a:ln>
            <a:noFill/>
          </a:ln>
        </p:spPr>
        <p:txBody>
          <a:bodyPr rtlCol="0" anchor="ctr" wrap="square" tIns="36576" bIns="36576"/>
          <a:lstStyle/>
          <a:p>
            <a:pPr algn="ctr"/>
            <a:r>
              <a:rPr sz="1200" b="0" i="0">
                <a:solidFill>
                  <a:srgbClr val="FFFFFF"/>
                </a:solidFill>
                <a:latin typeface="Arial"/>
              </a:rPr>
              <a:t>Precedent transactions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Capital Return Track Record</a:t>
            </a:r>
          </a:p>
        </p:txBody>
      </p:sp>
      <p:sp>
        <p:nvSpPr>
          <p:cNvPr id="4" name="Subtitle 3"/>
          <p:cNvSpPr>
            <a:spLocks noGrp="1"/>
          </p:cNvSpPr>
          <p:nvPr>
            <p:ph type="subTitle" idx="1"/>
          </p:nvPr>
        </p:nvSpPr>
        <p:spPr/>
        <p:txBody>
          <a:bodyPr/>
          <a:lstStyle/>
          <a:p>
            <a:r>
              <a:t>Solid record since 2023; yield of ~4.2% with upside if leverage &lt; 2x</a:t>
            </a:r>
          </a:p>
        </p:txBody>
      </p:sp>
      <p:sp>
        <p:nvSpPr>
          <p:cNvPr id="5" name="Text Placeholder 4"/>
          <p:cNvSpPr>
            <a:spLocks noGrp="1"/>
          </p:cNvSpPr>
          <p:nvPr>
            <p:ph type="body" idx="14" sz="quarter"/>
          </p:nvPr>
        </p:nvSpPr>
        <p:spPr/>
        <p:txBody>
          <a:bodyPr/>
          <a:lstStyle/>
          <a:p>
            <a:r>
              <a:t>Illustrative data - layout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12</a:t>
            </a:r>
          </a:p>
        </p:txBody>
      </p:sp>
      <p:sp>
        <p:nvSpPr>
          <p:cNvPr id="7" name="Rounded Rectangle 6"/>
          <p:cNvSpPr/>
          <p:nvPr/>
        </p:nvSpPr>
        <p:spPr>
          <a:xfrm>
            <a:off x="525780" y="1417320"/>
            <a:ext cx="11248948" cy="310896"/>
          </a:xfrm>
          <a:prstGeom prst="roundRect">
            <a:avLst>
              <a:gd name="adj" fmla="val 20000"/>
            </a:avLst>
          </a:prstGeom>
          <a:solidFill>
            <a:srgbClr val="F2F2F2"/>
          </a:solidFill>
          <a:ln>
            <a:noFill/>
          </a:ln>
        </p:spPr>
        <p:txBody>
          <a:bodyPr rtlCol="0" anchor="ctr" wrap="square" lIns="137160" rIns="137160" tIns="36576" bIns="36576"/>
          <a:lstStyle/>
          <a:p>
            <a:pPr algn="l"/>
            <a:r>
              <a:rPr sz="1200" b="1" i="0">
                <a:solidFill>
                  <a:srgbClr val="000000"/>
                </a:solidFill>
                <a:latin typeface="Arial"/>
              </a:rPr>
              <a:t>Evolution of the capital return programme (2021-2025)</a:t>
            </a:r>
          </a:p>
        </p:txBody>
      </p:sp>
      <p:sp>
        <p:nvSpPr>
          <p:cNvPr id="8" name="Chevron 7"/>
          <p:cNvSpPr/>
          <p:nvPr/>
        </p:nvSpPr>
        <p:spPr>
          <a:xfrm>
            <a:off x="525780" y="1874519"/>
            <a:ext cx="2308311" cy="502920"/>
          </a:xfrm>
          <a:prstGeom prst="chevron">
            <a:avLst/>
          </a:prstGeom>
          <a:solidFill>
            <a:srgbClr val="242852"/>
          </a:solidFill>
          <a:ln>
            <a:noFill/>
          </a:ln>
        </p:spPr>
        <p:txBody>
          <a:bodyPr rtlCol="0" anchor="ctr" wrap="square" lIns="228600" rIns="228600" tIns="36576" bIns="36576"/>
          <a:lstStyle/>
          <a:p>
            <a:pPr algn="ctr"/>
            <a:r>
              <a:rPr sz="1600" b="1" i="0">
                <a:solidFill>
                  <a:srgbClr val="FFFFFF"/>
                </a:solidFill>
                <a:latin typeface="Arial"/>
              </a:rPr>
              <a:t>2021</a:t>
            </a:r>
          </a:p>
        </p:txBody>
      </p:sp>
      <p:sp>
        <p:nvSpPr>
          <p:cNvPr id="9" name="Chevron 8"/>
          <p:cNvSpPr/>
          <p:nvPr/>
        </p:nvSpPr>
        <p:spPr>
          <a:xfrm>
            <a:off x="2760939" y="1874519"/>
            <a:ext cx="2308311" cy="502920"/>
          </a:xfrm>
          <a:prstGeom prst="chevron">
            <a:avLst/>
          </a:prstGeom>
          <a:solidFill>
            <a:srgbClr val="242852"/>
          </a:solidFill>
          <a:ln>
            <a:noFill/>
          </a:ln>
        </p:spPr>
        <p:txBody>
          <a:bodyPr rtlCol="0" anchor="ctr" wrap="square" lIns="228600" rIns="228600" tIns="36576" bIns="36576"/>
          <a:lstStyle/>
          <a:p>
            <a:pPr algn="ctr"/>
            <a:r>
              <a:rPr sz="1600" b="1" i="0">
                <a:solidFill>
                  <a:srgbClr val="FFFFFF"/>
                </a:solidFill>
                <a:latin typeface="Arial"/>
              </a:rPr>
              <a:t>2022</a:t>
            </a:r>
          </a:p>
        </p:txBody>
      </p:sp>
      <p:sp>
        <p:nvSpPr>
          <p:cNvPr id="10" name="Chevron 9"/>
          <p:cNvSpPr/>
          <p:nvPr/>
        </p:nvSpPr>
        <p:spPr>
          <a:xfrm>
            <a:off x="4996098" y="1874519"/>
            <a:ext cx="2308311" cy="502920"/>
          </a:xfrm>
          <a:prstGeom prst="chevron">
            <a:avLst/>
          </a:prstGeom>
          <a:solidFill>
            <a:srgbClr val="242852"/>
          </a:solidFill>
          <a:ln>
            <a:noFill/>
          </a:ln>
        </p:spPr>
        <p:txBody>
          <a:bodyPr rtlCol="0" anchor="ctr" wrap="square" lIns="228600" rIns="228600" tIns="36576" bIns="36576"/>
          <a:lstStyle/>
          <a:p>
            <a:pPr algn="ctr"/>
            <a:r>
              <a:rPr sz="1600" b="1" i="0">
                <a:solidFill>
                  <a:srgbClr val="FFFFFF"/>
                </a:solidFill>
                <a:latin typeface="Arial"/>
              </a:rPr>
              <a:t>2023</a:t>
            </a:r>
          </a:p>
        </p:txBody>
      </p:sp>
      <p:sp>
        <p:nvSpPr>
          <p:cNvPr id="11" name="Chevron 10"/>
          <p:cNvSpPr/>
          <p:nvPr/>
        </p:nvSpPr>
        <p:spPr>
          <a:xfrm>
            <a:off x="7231258" y="1874519"/>
            <a:ext cx="2308311" cy="502920"/>
          </a:xfrm>
          <a:prstGeom prst="chevron">
            <a:avLst/>
          </a:prstGeom>
          <a:solidFill>
            <a:srgbClr val="242852"/>
          </a:solidFill>
          <a:ln>
            <a:noFill/>
          </a:ln>
        </p:spPr>
        <p:txBody>
          <a:bodyPr rtlCol="0" anchor="ctr" wrap="square" lIns="228600" rIns="228600" tIns="36576" bIns="36576"/>
          <a:lstStyle/>
          <a:p>
            <a:pPr algn="ctr"/>
            <a:r>
              <a:rPr sz="1600" b="1" i="0">
                <a:solidFill>
                  <a:srgbClr val="FFFFFF"/>
                </a:solidFill>
                <a:latin typeface="Arial"/>
              </a:rPr>
              <a:t>2024</a:t>
            </a:r>
          </a:p>
        </p:txBody>
      </p:sp>
      <p:sp>
        <p:nvSpPr>
          <p:cNvPr id="12" name="Chevron 11"/>
          <p:cNvSpPr/>
          <p:nvPr/>
        </p:nvSpPr>
        <p:spPr>
          <a:xfrm>
            <a:off x="9466417" y="1874519"/>
            <a:ext cx="2308311" cy="502920"/>
          </a:xfrm>
          <a:prstGeom prst="chevron">
            <a:avLst/>
          </a:prstGeom>
          <a:solidFill>
            <a:srgbClr val="242852"/>
          </a:solidFill>
          <a:ln>
            <a:noFill/>
          </a:ln>
        </p:spPr>
        <p:txBody>
          <a:bodyPr rtlCol="0" anchor="ctr" wrap="square" lIns="228600" rIns="228600" tIns="36576" bIns="36576"/>
          <a:lstStyle/>
          <a:p>
            <a:pPr algn="ctr"/>
            <a:r>
              <a:rPr sz="1600" b="1" i="0">
                <a:solidFill>
                  <a:srgbClr val="FFFFFF"/>
                </a:solidFill>
                <a:latin typeface="Arial"/>
              </a:rPr>
              <a:t>2025</a:t>
            </a:r>
          </a:p>
        </p:txBody>
      </p:sp>
      <p:sp>
        <p:nvSpPr>
          <p:cNvPr id="13" name="Rectangle 12"/>
          <p:cNvSpPr/>
          <p:nvPr/>
        </p:nvSpPr>
        <p:spPr>
          <a:xfrm>
            <a:off x="580644" y="2514600"/>
            <a:ext cx="2125431" cy="3566160"/>
          </a:xfrm>
          <a:prstGeom prst="rect">
            <a:avLst/>
          </a:prstGeom>
          <a:solidFill>
            <a:srgbClr val="F2F2F2"/>
          </a:solidFill>
          <a:ln w="9525">
            <a:solidFill>
              <a:srgbClr val="A6A6A6"/>
            </a:solidFill>
          </a:ln>
        </p:spPr>
        <p:txBody>
          <a:bodyPr rtlCol="0" anchor="ctr"/>
          <a:lstStyle/>
          <a:p>
            <a:pPr algn="ctr"/>
          </a:p>
        </p:txBody>
      </p:sp>
      <p:sp>
        <p:nvSpPr>
          <p:cNvPr id="14" name="TextBox 13"/>
          <p:cNvSpPr txBox="1"/>
          <p:nvPr/>
        </p:nvSpPr>
        <p:spPr>
          <a:xfrm>
            <a:off x="672084" y="2606040"/>
            <a:ext cx="1942551" cy="320040"/>
          </a:xfrm>
          <a:prstGeom prst="rect">
            <a:avLst/>
          </a:prstGeom>
          <a:noFill/>
        </p:spPr>
        <p:txBody>
          <a:bodyPr wrap="square" lIns="54864" rIns="54864" tIns="36576" bIns="36576" anchor="b"/>
          <a:lstStyle/>
          <a:p>
            <a:pPr algn="ctr"/>
            <a:r>
              <a:rPr sz="1200" b="1" i="0">
                <a:solidFill>
                  <a:srgbClr val="000000"/>
                </a:solidFill>
                <a:latin typeface="Arial"/>
              </a:rPr>
              <a:t>Conservative</a:t>
            </a:r>
          </a:p>
        </p:txBody>
      </p:sp>
      <p:cxnSp>
        <p:nvCxnSpPr>
          <p:cNvPr id="15" name="Connector 14"/>
          <p:cNvCxnSpPr/>
          <p:nvPr/>
        </p:nvCxnSpPr>
        <p:spPr>
          <a:xfrm>
            <a:off x="717804" y="2971800"/>
            <a:ext cx="1851111" cy="0"/>
          </a:xfrm>
          <a:prstGeom prst="line">
            <a:avLst/>
          </a:prstGeom>
          <a:ln w="9525">
            <a:solidFill>
              <a:srgbClr val="7F7F7F"/>
            </a:solidFill>
          </a:ln>
        </p:spPr>
      </p:cxnSp>
      <p:sp>
        <p:nvSpPr>
          <p:cNvPr id="16" name="TextBox 15"/>
          <p:cNvSpPr txBox="1"/>
          <p:nvPr/>
        </p:nvSpPr>
        <p:spPr>
          <a:xfrm>
            <a:off x="653796" y="3044952"/>
            <a:ext cx="1979127" cy="2971800"/>
          </a:xfrm>
          <a:prstGeom prst="rect">
            <a:avLst/>
          </a:prstGeom>
          <a:noFill/>
        </p:spPr>
        <p:txBody>
          <a:bodyPr wrap="square" lIns="54864" rIns="54864" tIns="36576" bIns="36576" anchor="t"/>
          <a:lstStyle/>
          <a:p>
            <a:pPr algn="l" marL="155448" indent="-146304">
              <a:spcBef>
                <a:spcPts val="400"/>
              </a:spcBef>
              <a:buFont typeface="Arial"/>
              <a:buChar char="•"/>
            </a:pPr>
            <a:r>
              <a:rPr sz="1100" b="0" i="0">
                <a:solidFill>
                  <a:srgbClr val="000000"/>
                </a:solidFill>
                <a:latin typeface="Arial"/>
              </a:rPr>
              <a:t>Ordinary dividend Ps. 2.3</a:t>
            </a:r>
          </a:p>
          <a:p>
            <a:pPr algn="l" marL="155448" indent="-146304">
              <a:spcBef>
                <a:spcPts val="400"/>
              </a:spcBef>
              <a:buFont typeface="Arial"/>
              <a:buChar char="•"/>
            </a:pPr>
            <a:r>
              <a:rPr sz="1100" b="0" i="0">
                <a:solidFill>
                  <a:srgbClr val="000000"/>
                </a:solidFill>
                <a:latin typeface="Arial"/>
              </a:rPr>
              <a:t>-26% vs 2020</a:t>
            </a:r>
          </a:p>
        </p:txBody>
      </p:sp>
      <p:sp>
        <p:nvSpPr>
          <p:cNvPr id="17" name="Rectangle 16"/>
          <p:cNvSpPr/>
          <p:nvPr/>
        </p:nvSpPr>
        <p:spPr>
          <a:xfrm>
            <a:off x="2815803" y="2514600"/>
            <a:ext cx="2125431" cy="3566160"/>
          </a:xfrm>
          <a:prstGeom prst="rect">
            <a:avLst/>
          </a:prstGeom>
          <a:solidFill>
            <a:srgbClr val="E6E6E6"/>
          </a:solidFill>
          <a:ln>
            <a:noFill/>
          </a:ln>
        </p:spPr>
        <p:txBody>
          <a:bodyPr rtlCol="0" anchor="ctr"/>
          <a:lstStyle/>
          <a:p>
            <a:pPr algn="ctr"/>
          </a:p>
        </p:txBody>
      </p:sp>
      <p:sp>
        <p:nvSpPr>
          <p:cNvPr id="18" name="TextBox 17"/>
          <p:cNvSpPr txBox="1"/>
          <p:nvPr/>
        </p:nvSpPr>
        <p:spPr>
          <a:xfrm>
            <a:off x="2907243" y="2606040"/>
            <a:ext cx="1942551" cy="320040"/>
          </a:xfrm>
          <a:prstGeom prst="rect">
            <a:avLst/>
          </a:prstGeom>
          <a:noFill/>
        </p:spPr>
        <p:txBody>
          <a:bodyPr wrap="square" lIns="54864" rIns="54864" tIns="36576" bIns="36576" anchor="b"/>
          <a:lstStyle/>
          <a:p>
            <a:pPr algn="ctr"/>
            <a:r>
              <a:rPr sz="1200" b="1" i="0">
                <a:solidFill>
                  <a:srgbClr val="000000"/>
                </a:solidFill>
                <a:latin typeface="Arial"/>
              </a:rPr>
              <a:t>Recovery</a:t>
            </a:r>
          </a:p>
        </p:txBody>
      </p:sp>
      <p:cxnSp>
        <p:nvCxnSpPr>
          <p:cNvPr id="19" name="Connector 18"/>
          <p:cNvCxnSpPr/>
          <p:nvPr/>
        </p:nvCxnSpPr>
        <p:spPr>
          <a:xfrm>
            <a:off x="2952963" y="2971800"/>
            <a:ext cx="1851111" cy="0"/>
          </a:xfrm>
          <a:prstGeom prst="line">
            <a:avLst/>
          </a:prstGeom>
          <a:ln w="9525">
            <a:solidFill>
              <a:srgbClr val="7F7F7F"/>
            </a:solidFill>
          </a:ln>
        </p:spPr>
      </p:cxnSp>
      <p:sp>
        <p:nvSpPr>
          <p:cNvPr id="20" name="TextBox 19"/>
          <p:cNvSpPr txBox="1"/>
          <p:nvPr/>
        </p:nvSpPr>
        <p:spPr>
          <a:xfrm>
            <a:off x="2888955" y="3044952"/>
            <a:ext cx="1979127" cy="2971800"/>
          </a:xfrm>
          <a:prstGeom prst="rect">
            <a:avLst/>
          </a:prstGeom>
          <a:noFill/>
        </p:spPr>
        <p:txBody>
          <a:bodyPr wrap="square" lIns="54864" rIns="54864" tIns="36576" bIns="36576" anchor="t"/>
          <a:lstStyle/>
          <a:p>
            <a:pPr algn="l" marL="155448" indent="-146304">
              <a:spcBef>
                <a:spcPts val="400"/>
              </a:spcBef>
              <a:buFont typeface="Arial"/>
              <a:buChar char="•"/>
            </a:pPr>
            <a:r>
              <a:rPr sz="1100" b="0" i="0">
                <a:solidFill>
                  <a:srgbClr val="000000"/>
                </a:solidFill>
                <a:latin typeface="Arial"/>
              </a:rPr>
              <a:t>Ordinary dividend Ps. 3.4</a:t>
            </a:r>
          </a:p>
          <a:p>
            <a:pPr algn="l" marL="155448" indent="-146304">
              <a:spcBef>
                <a:spcPts val="400"/>
              </a:spcBef>
              <a:buFont typeface="Arial"/>
              <a:buChar char="•"/>
            </a:pPr>
            <a:r>
              <a:rPr sz="1100" b="0" i="0">
                <a:solidFill>
                  <a:srgbClr val="000000"/>
                </a:solidFill>
                <a:latin typeface="Arial"/>
              </a:rPr>
              <a:t>+48% vs 2021</a:t>
            </a:r>
          </a:p>
        </p:txBody>
      </p:sp>
      <p:sp>
        <p:nvSpPr>
          <p:cNvPr id="21" name="Rectangle 20"/>
          <p:cNvSpPr/>
          <p:nvPr/>
        </p:nvSpPr>
        <p:spPr>
          <a:xfrm>
            <a:off x="5050962" y="2514600"/>
            <a:ext cx="2125431" cy="3566160"/>
          </a:xfrm>
          <a:prstGeom prst="rect">
            <a:avLst/>
          </a:prstGeom>
          <a:solidFill>
            <a:srgbClr val="F2F2F2"/>
          </a:solidFill>
          <a:ln w="9525">
            <a:solidFill>
              <a:srgbClr val="A6A6A6"/>
            </a:solidFill>
          </a:ln>
        </p:spPr>
        <p:txBody>
          <a:bodyPr rtlCol="0" anchor="ctr"/>
          <a:lstStyle/>
          <a:p>
            <a:pPr algn="ctr"/>
          </a:p>
        </p:txBody>
      </p:sp>
      <p:sp>
        <p:nvSpPr>
          <p:cNvPr id="22" name="TextBox 21"/>
          <p:cNvSpPr txBox="1"/>
          <p:nvPr/>
        </p:nvSpPr>
        <p:spPr>
          <a:xfrm>
            <a:off x="5142402" y="2606040"/>
            <a:ext cx="1942551" cy="320040"/>
          </a:xfrm>
          <a:prstGeom prst="rect">
            <a:avLst/>
          </a:prstGeom>
          <a:noFill/>
        </p:spPr>
        <p:txBody>
          <a:bodyPr wrap="square" lIns="54864" rIns="54864" tIns="36576" bIns="36576" anchor="b"/>
          <a:lstStyle/>
          <a:p>
            <a:pPr algn="ctr"/>
            <a:r>
              <a:rPr sz="1200" b="1" i="0">
                <a:solidFill>
                  <a:srgbClr val="000000"/>
                </a:solidFill>
                <a:latin typeface="Arial"/>
              </a:rPr>
              <a:t>Strategic pivot</a:t>
            </a:r>
          </a:p>
        </p:txBody>
      </p:sp>
      <p:cxnSp>
        <p:nvCxnSpPr>
          <p:cNvPr id="23" name="Connector 22"/>
          <p:cNvCxnSpPr/>
          <p:nvPr/>
        </p:nvCxnSpPr>
        <p:spPr>
          <a:xfrm>
            <a:off x="5188122" y="2971800"/>
            <a:ext cx="1851112" cy="0"/>
          </a:xfrm>
          <a:prstGeom prst="line">
            <a:avLst/>
          </a:prstGeom>
          <a:ln w="9525">
            <a:solidFill>
              <a:srgbClr val="7F7F7F"/>
            </a:solidFill>
          </a:ln>
        </p:spPr>
      </p:cxnSp>
      <p:sp>
        <p:nvSpPr>
          <p:cNvPr id="24" name="TextBox 23"/>
          <p:cNvSpPr txBox="1"/>
          <p:nvPr/>
        </p:nvSpPr>
        <p:spPr>
          <a:xfrm>
            <a:off x="5124114" y="3044952"/>
            <a:ext cx="1979127" cy="2971800"/>
          </a:xfrm>
          <a:prstGeom prst="rect">
            <a:avLst/>
          </a:prstGeom>
          <a:noFill/>
        </p:spPr>
        <p:txBody>
          <a:bodyPr wrap="square" lIns="54864" rIns="54864" tIns="36576" bIns="36576" anchor="t"/>
          <a:lstStyle/>
          <a:p>
            <a:pPr algn="l" marL="155448" indent="-146304">
              <a:spcBef>
                <a:spcPts val="400"/>
              </a:spcBef>
              <a:buFont typeface="Arial"/>
              <a:buChar char="•"/>
            </a:pPr>
            <a:r>
              <a:rPr sz="1100" b="0" i="0">
                <a:solidFill>
                  <a:srgbClr val="000000"/>
                </a:solidFill>
                <a:latin typeface="Arial"/>
              </a:rPr>
              <a:t>Stake sale for EUR 6.9bn</a:t>
            </a:r>
          </a:p>
          <a:p>
            <a:pPr algn="l" marL="155448" indent="-146304">
              <a:spcBef>
                <a:spcPts val="400"/>
              </a:spcBef>
              <a:buFont typeface="Arial"/>
              <a:buChar char="•"/>
            </a:pPr>
            <a:r>
              <a:rPr sz="1100" b="0" i="0">
                <a:solidFill>
                  <a:srgbClr val="000000"/>
                </a:solidFill>
                <a:latin typeface="Arial"/>
              </a:rPr>
              <a:t>Capital framework announced</a:t>
            </a:r>
          </a:p>
        </p:txBody>
      </p:sp>
      <p:sp>
        <p:nvSpPr>
          <p:cNvPr id="25" name="Rectangle 24"/>
          <p:cNvSpPr/>
          <p:nvPr/>
        </p:nvSpPr>
        <p:spPr>
          <a:xfrm>
            <a:off x="7286122" y="2514600"/>
            <a:ext cx="2125431" cy="3566160"/>
          </a:xfrm>
          <a:prstGeom prst="rect">
            <a:avLst/>
          </a:prstGeom>
          <a:solidFill>
            <a:srgbClr val="E6E6E6"/>
          </a:solidFill>
          <a:ln>
            <a:noFill/>
          </a:ln>
        </p:spPr>
        <p:txBody>
          <a:bodyPr rtlCol="0" anchor="ctr"/>
          <a:lstStyle/>
          <a:p>
            <a:pPr algn="ctr"/>
          </a:p>
        </p:txBody>
      </p:sp>
      <p:sp>
        <p:nvSpPr>
          <p:cNvPr id="26" name="TextBox 25"/>
          <p:cNvSpPr txBox="1"/>
          <p:nvPr/>
        </p:nvSpPr>
        <p:spPr>
          <a:xfrm>
            <a:off x="7377562" y="2606040"/>
            <a:ext cx="1942551" cy="320040"/>
          </a:xfrm>
          <a:prstGeom prst="rect">
            <a:avLst/>
          </a:prstGeom>
          <a:noFill/>
        </p:spPr>
        <p:txBody>
          <a:bodyPr wrap="square" lIns="54864" rIns="54864" tIns="36576" bIns="36576" anchor="b"/>
          <a:lstStyle/>
          <a:p>
            <a:pPr algn="ctr"/>
            <a:r>
              <a:rPr sz="1200" b="1" i="0">
                <a:solidFill>
                  <a:srgbClr val="000000"/>
                </a:solidFill>
                <a:latin typeface="Arial"/>
              </a:rPr>
              <a:t>Record year</a:t>
            </a:r>
          </a:p>
        </p:txBody>
      </p:sp>
      <p:cxnSp>
        <p:nvCxnSpPr>
          <p:cNvPr id="27" name="Connector 26"/>
          <p:cNvCxnSpPr/>
          <p:nvPr/>
        </p:nvCxnSpPr>
        <p:spPr>
          <a:xfrm>
            <a:off x="7423282" y="2971800"/>
            <a:ext cx="1851111" cy="0"/>
          </a:xfrm>
          <a:prstGeom prst="line">
            <a:avLst/>
          </a:prstGeom>
          <a:ln w="9525">
            <a:solidFill>
              <a:srgbClr val="7F7F7F"/>
            </a:solidFill>
          </a:ln>
        </p:spPr>
      </p:cxnSp>
      <p:sp>
        <p:nvSpPr>
          <p:cNvPr id="28" name="TextBox 27"/>
          <p:cNvSpPr txBox="1"/>
          <p:nvPr/>
        </p:nvSpPr>
        <p:spPr>
          <a:xfrm>
            <a:off x="7359274" y="3044952"/>
            <a:ext cx="1979127" cy="2971800"/>
          </a:xfrm>
          <a:prstGeom prst="rect">
            <a:avLst/>
          </a:prstGeom>
          <a:noFill/>
        </p:spPr>
        <p:txBody>
          <a:bodyPr wrap="square" lIns="54864" rIns="54864" tIns="36576" bIns="36576" anchor="t"/>
          <a:lstStyle/>
          <a:p>
            <a:pPr algn="l" marL="155448" indent="-146304">
              <a:spcBef>
                <a:spcPts val="400"/>
              </a:spcBef>
              <a:buFont typeface="Arial"/>
              <a:buChar char="•"/>
            </a:pPr>
            <a:r>
              <a:rPr sz="1100" b="0" i="0">
                <a:solidFill>
                  <a:srgbClr val="000000"/>
                </a:solidFill>
                <a:latin typeface="Arial"/>
              </a:rPr>
              <a:t>Ordinary + extraordinary Ps. 7.5</a:t>
            </a:r>
          </a:p>
          <a:p>
            <a:pPr algn="l" marL="155448" indent="-146304">
              <a:spcBef>
                <a:spcPts val="400"/>
              </a:spcBef>
              <a:buFont typeface="Arial"/>
              <a:buChar char="•"/>
            </a:pPr>
            <a:r>
              <a:rPr sz="1100" b="0" i="0">
                <a:solidFill>
                  <a:srgbClr val="000000"/>
                </a:solidFill>
                <a:latin typeface="Arial"/>
              </a:rPr>
              <a:t>Buybacks 2.9% of capital</a:t>
            </a:r>
          </a:p>
        </p:txBody>
      </p:sp>
      <p:sp>
        <p:nvSpPr>
          <p:cNvPr id="29" name="Rectangle 28"/>
          <p:cNvSpPr/>
          <p:nvPr/>
        </p:nvSpPr>
        <p:spPr>
          <a:xfrm>
            <a:off x="9521281" y="2514600"/>
            <a:ext cx="2125431" cy="3566160"/>
          </a:xfrm>
          <a:prstGeom prst="rect">
            <a:avLst/>
          </a:prstGeom>
          <a:solidFill>
            <a:srgbClr val="F2F2F2"/>
          </a:solidFill>
          <a:ln w="9525">
            <a:solidFill>
              <a:srgbClr val="A6A6A6"/>
            </a:solidFill>
          </a:ln>
        </p:spPr>
        <p:txBody>
          <a:bodyPr rtlCol="0" anchor="ctr"/>
          <a:lstStyle/>
          <a:p>
            <a:pPr algn="ctr"/>
          </a:p>
        </p:txBody>
      </p:sp>
      <p:sp>
        <p:nvSpPr>
          <p:cNvPr id="30" name="TextBox 29"/>
          <p:cNvSpPr txBox="1"/>
          <p:nvPr/>
        </p:nvSpPr>
        <p:spPr>
          <a:xfrm>
            <a:off x="9612721" y="2606040"/>
            <a:ext cx="1942551" cy="320040"/>
          </a:xfrm>
          <a:prstGeom prst="rect">
            <a:avLst/>
          </a:prstGeom>
          <a:noFill/>
        </p:spPr>
        <p:txBody>
          <a:bodyPr wrap="square" lIns="54864" rIns="54864" tIns="36576" bIns="36576" anchor="b"/>
          <a:lstStyle/>
          <a:p>
            <a:pPr algn="ctr"/>
            <a:r>
              <a:rPr sz="1200" b="1" i="0">
                <a:solidFill>
                  <a:srgbClr val="000000"/>
                </a:solidFill>
                <a:latin typeface="Arial"/>
              </a:rPr>
              <a:t>Acceleration</a:t>
            </a:r>
          </a:p>
        </p:txBody>
      </p:sp>
      <p:cxnSp>
        <p:nvCxnSpPr>
          <p:cNvPr id="31" name="Connector 30"/>
          <p:cNvCxnSpPr/>
          <p:nvPr/>
        </p:nvCxnSpPr>
        <p:spPr>
          <a:xfrm>
            <a:off x="9658441" y="2971800"/>
            <a:ext cx="1851111" cy="0"/>
          </a:xfrm>
          <a:prstGeom prst="line">
            <a:avLst/>
          </a:prstGeom>
          <a:ln w="9525">
            <a:solidFill>
              <a:srgbClr val="7F7F7F"/>
            </a:solidFill>
          </a:ln>
        </p:spPr>
      </p:cxnSp>
      <p:sp>
        <p:nvSpPr>
          <p:cNvPr id="32" name="TextBox 31"/>
          <p:cNvSpPr txBox="1"/>
          <p:nvPr/>
        </p:nvSpPr>
        <p:spPr>
          <a:xfrm>
            <a:off x="9594433" y="3044952"/>
            <a:ext cx="1979127" cy="2971800"/>
          </a:xfrm>
          <a:prstGeom prst="rect">
            <a:avLst/>
          </a:prstGeom>
          <a:noFill/>
        </p:spPr>
        <p:txBody>
          <a:bodyPr wrap="square" lIns="54864" rIns="54864" tIns="36576" bIns="36576" anchor="t"/>
          <a:lstStyle/>
          <a:p>
            <a:pPr algn="l" marL="155448" indent="-146304">
              <a:spcBef>
                <a:spcPts val="400"/>
              </a:spcBef>
              <a:buFont typeface="Arial"/>
              <a:buChar char="•"/>
            </a:pPr>
            <a:r>
              <a:rPr sz="1100" b="0" i="0">
                <a:solidFill>
                  <a:srgbClr val="000000"/>
                </a:solidFill>
                <a:latin typeface="Arial"/>
              </a:rPr>
              <a:t>Dividend +4.2%</a:t>
            </a:r>
          </a:p>
          <a:p>
            <a:pPr algn="l" marL="155448" indent="-146304">
              <a:spcBef>
                <a:spcPts val="400"/>
              </a:spcBef>
              <a:buFont typeface="Arial"/>
              <a:buChar char="•"/>
            </a:pPr>
            <a:r>
              <a:rPr sz="1100" b="0" i="0">
                <a:solidFill>
                  <a:srgbClr val="000000"/>
                </a:solidFill>
                <a:latin typeface="Arial"/>
              </a:rPr>
              <a:t>Total return 10.4% of market cap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Process Overview</a:t>
            </a:r>
          </a:p>
        </p:txBody>
      </p:sp>
      <p:sp>
        <p:nvSpPr>
          <p:cNvPr id="4" name="Subtitle 3"/>
          <p:cNvSpPr>
            <a:spLocks noGrp="1"/>
          </p:cNvSpPr>
          <p:nvPr>
            <p:ph type="subTitle" idx="1"/>
          </p:nvPr>
        </p:nvSpPr>
        <p:spPr/>
        <p:txBody>
          <a:bodyPr/>
          <a:lstStyle/>
          <a:p>
            <a:r>
              <a:t>Illustrative buy-in process: three phases, ~24 weeks to close</a:t>
            </a:r>
          </a:p>
        </p:txBody>
      </p:sp>
      <p:sp>
        <p:nvSpPr>
          <p:cNvPr id="5" name="Text Placeholder 4"/>
          <p:cNvSpPr>
            <a:spLocks noGrp="1"/>
          </p:cNvSpPr>
          <p:nvPr>
            <p:ph type="body" idx="14" sz="quarter"/>
          </p:nvPr>
        </p:nvSpPr>
        <p:spPr/>
        <p:txBody>
          <a:bodyPr/>
          <a:lstStyle/>
          <a:p>
            <a:r>
              <a:t>Illustrative data - layout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13</a:t>
            </a:r>
          </a:p>
        </p:txBody>
      </p:sp>
      <p:sp>
        <p:nvSpPr>
          <p:cNvPr id="7" name="Rectangle 6"/>
          <p:cNvSpPr/>
          <p:nvPr/>
        </p:nvSpPr>
        <p:spPr>
          <a:xfrm>
            <a:off x="525780" y="1371600"/>
            <a:ext cx="11248948" cy="347472"/>
          </a:xfrm>
          <a:prstGeom prst="rect">
            <a:avLst/>
          </a:prstGeom>
          <a:solidFill>
            <a:srgbClr val="D9D2CA"/>
          </a:solidFill>
          <a:ln>
            <a:noFill/>
          </a:ln>
        </p:spPr>
        <p:txBody>
          <a:bodyPr rtlCol="0" anchor="ctr" wrap="square" lIns="54864" rIns="54864" tIns="36576" bIns="36576"/>
          <a:lstStyle/>
          <a:p>
            <a:pPr algn="ctr"/>
            <a:r>
              <a:rPr sz="1100" b="1" i="1">
                <a:solidFill>
                  <a:srgbClr val="000000"/>
                </a:solidFill>
                <a:latin typeface="Arial"/>
              </a:rPr>
              <a:t>Every special-committee process is unique; timing below is illustrative</a:t>
            </a:r>
          </a:p>
        </p:txBody>
      </p:sp>
      <p:sp>
        <p:nvSpPr>
          <p:cNvPr id="8" name="Rectangle 7"/>
          <p:cNvSpPr/>
          <p:nvPr/>
        </p:nvSpPr>
        <p:spPr>
          <a:xfrm>
            <a:off x="525780" y="1874519"/>
            <a:ext cx="1463040" cy="1143000"/>
          </a:xfrm>
          <a:prstGeom prst="rect">
            <a:avLst/>
          </a:prstGeom>
          <a:solidFill>
            <a:srgbClr val="221D55"/>
          </a:solidFill>
          <a:ln>
            <a:noFill/>
          </a:ln>
        </p:spPr>
        <p:txBody>
          <a:bodyPr rtlCol="0" anchor="ctr"/>
          <a:lstStyle/>
          <a:p>
            <a:pPr algn="ctr"/>
          </a:p>
        </p:txBody>
      </p:sp>
      <p:sp>
        <p:nvSpPr>
          <p:cNvPr id="9" name="Isosceles Triangle 8"/>
          <p:cNvSpPr/>
          <p:nvPr/>
        </p:nvSpPr>
        <p:spPr>
          <a:xfrm rot="10800000">
            <a:off x="525780" y="3008376"/>
            <a:ext cx="1463040" cy="329184"/>
          </a:xfrm>
          <a:prstGeom prst="triangle">
            <a:avLst/>
          </a:prstGeom>
          <a:solidFill>
            <a:srgbClr val="221D55"/>
          </a:solidFill>
          <a:ln>
            <a:noFill/>
          </a:ln>
        </p:spPr>
        <p:txBody>
          <a:bodyPr rtlCol="0" anchor="ctr"/>
          <a:lstStyle/>
          <a:p>
            <a:pPr algn="ctr"/>
          </a:p>
        </p:txBody>
      </p:sp>
      <p:sp>
        <p:nvSpPr>
          <p:cNvPr id="10" name="TextBox 9"/>
          <p:cNvSpPr txBox="1"/>
          <p:nvPr/>
        </p:nvSpPr>
        <p:spPr>
          <a:xfrm>
            <a:off x="525780" y="1874519"/>
            <a:ext cx="1463040" cy="1143000"/>
          </a:xfrm>
          <a:prstGeom prst="rect">
            <a:avLst/>
          </a:prstGeom>
          <a:noFill/>
        </p:spPr>
        <p:txBody>
          <a:bodyPr wrap="square" lIns="54864" rIns="54864" tIns="36576" bIns="36576" anchor="ctr"/>
          <a:lstStyle/>
          <a:p>
            <a:pPr algn="ctr"/>
            <a:r>
              <a:rPr sz="1100" b="1" i="0">
                <a:solidFill>
                  <a:srgbClr val="FFFFFF"/>
                </a:solidFill>
                <a:latin typeface="Arial"/>
              </a:rPr>
              <a:t>Initial phase</a:t>
            </a:r>
          </a:p>
        </p:txBody>
      </p:sp>
      <p:sp>
        <p:nvSpPr>
          <p:cNvPr id="11" name="TextBox 10"/>
          <p:cNvSpPr txBox="1"/>
          <p:nvPr/>
        </p:nvSpPr>
        <p:spPr>
          <a:xfrm>
            <a:off x="2217420" y="1920239"/>
            <a:ext cx="9511588" cy="1371600"/>
          </a:xfrm>
          <a:prstGeom prst="rect">
            <a:avLst/>
          </a:prstGeom>
          <a:noFill/>
        </p:spPr>
        <p:txBody>
          <a:bodyPr wrap="square" lIns="54864" rIns="54864" tIns="36576" bIns="36576" anchor="t"/>
          <a:lstStyle/>
          <a:p>
            <a:pPr algn="l" marL="155448" indent="-146304">
              <a:spcBef>
                <a:spcPts val="400"/>
              </a:spcBef>
              <a:buFont typeface="Arial"/>
              <a:buChar char="•"/>
            </a:pPr>
            <a:r>
              <a:rPr sz="1200" b="0" i="0">
                <a:solidFill>
                  <a:srgbClr val="000000"/>
                </a:solidFill>
                <a:latin typeface="Arial"/>
              </a:rPr>
              <a:t>Board approves proposal and engages advisors</a:t>
            </a:r>
          </a:p>
          <a:p>
            <a:pPr algn="l" marL="155448" indent="-146304">
              <a:spcBef>
                <a:spcPts val="400"/>
              </a:spcBef>
              <a:buFont typeface="Arial"/>
              <a:buChar char="•"/>
            </a:pPr>
            <a:r>
              <a:rPr sz="1200" b="0" i="0">
                <a:solidFill>
                  <a:srgbClr val="000000"/>
                </a:solidFill>
                <a:latin typeface="Arial"/>
              </a:rPr>
              <a:t>Committee reviews strategic alternatives</a:t>
            </a:r>
          </a:p>
          <a:p>
            <a:pPr algn="l" marL="155448" indent="-146304">
              <a:spcBef>
                <a:spcPts val="400"/>
              </a:spcBef>
              <a:buFont typeface="Arial"/>
              <a:buChar char="•"/>
            </a:pPr>
            <a:r>
              <a:rPr sz="1200" b="0" i="0">
                <a:solidFill>
                  <a:srgbClr val="000000"/>
                </a:solidFill>
                <a:latin typeface="Arial"/>
              </a:rPr>
              <a:t>Advisor prepares preliminary valuation</a:t>
            </a:r>
          </a:p>
        </p:txBody>
      </p:sp>
      <p:cxnSp>
        <p:nvCxnSpPr>
          <p:cNvPr id="12" name="Connector 11"/>
          <p:cNvCxnSpPr/>
          <p:nvPr/>
        </p:nvCxnSpPr>
        <p:spPr>
          <a:xfrm>
            <a:off x="2217420" y="3392424"/>
            <a:ext cx="9557308" cy="0"/>
          </a:xfrm>
          <a:prstGeom prst="line">
            <a:avLst/>
          </a:prstGeom>
          <a:ln w="9525">
            <a:solidFill>
              <a:srgbClr val="A6A6A6"/>
            </a:solidFill>
          </a:ln>
        </p:spPr>
      </p:cxnSp>
      <p:sp>
        <p:nvSpPr>
          <p:cNvPr id="13" name="Rectangle 12"/>
          <p:cNvSpPr/>
          <p:nvPr/>
        </p:nvSpPr>
        <p:spPr>
          <a:xfrm>
            <a:off x="525780" y="3447288"/>
            <a:ext cx="1463040" cy="857250"/>
          </a:xfrm>
          <a:prstGeom prst="rect">
            <a:avLst/>
          </a:prstGeom>
          <a:solidFill>
            <a:srgbClr val="221D55"/>
          </a:solidFill>
          <a:ln>
            <a:noFill/>
          </a:ln>
        </p:spPr>
        <p:txBody>
          <a:bodyPr rtlCol="0" anchor="ctr"/>
          <a:lstStyle/>
          <a:p>
            <a:pPr algn="ctr"/>
          </a:p>
        </p:txBody>
      </p:sp>
      <p:sp>
        <p:nvSpPr>
          <p:cNvPr id="14" name="Isosceles Triangle 13"/>
          <p:cNvSpPr/>
          <p:nvPr/>
        </p:nvSpPr>
        <p:spPr>
          <a:xfrm rot="10800000">
            <a:off x="525780" y="4295394"/>
            <a:ext cx="1463040" cy="294894"/>
          </a:xfrm>
          <a:prstGeom prst="triangle">
            <a:avLst/>
          </a:prstGeom>
          <a:solidFill>
            <a:srgbClr val="221D55"/>
          </a:solidFill>
          <a:ln>
            <a:noFill/>
          </a:ln>
        </p:spPr>
        <p:txBody>
          <a:bodyPr rtlCol="0" anchor="ctr"/>
          <a:lstStyle/>
          <a:p>
            <a:pPr algn="ctr"/>
          </a:p>
        </p:txBody>
      </p:sp>
      <p:sp>
        <p:nvSpPr>
          <p:cNvPr id="15" name="TextBox 14"/>
          <p:cNvSpPr txBox="1"/>
          <p:nvPr/>
        </p:nvSpPr>
        <p:spPr>
          <a:xfrm>
            <a:off x="525780" y="3447288"/>
            <a:ext cx="1463040" cy="857250"/>
          </a:xfrm>
          <a:prstGeom prst="rect">
            <a:avLst/>
          </a:prstGeom>
          <a:noFill/>
        </p:spPr>
        <p:txBody>
          <a:bodyPr wrap="square" lIns="54864" rIns="54864" tIns="36576" bIns="36576" anchor="ctr"/>
          <a:lstStyle/>
          <a:p>
            <a:pPr algn="ctr"/>
            <a:r>
              <a:rPr sz="1100" b="1" i="0">
                <a:solidFill>
                  <a:srgbClr val="FFFFFF"/>
                </a:solidFill>
                <a:latin typeface="Arial"/>
              </a:rPr>
              <a:t>Negotiations</a:t>
            </a:r>
          </a:p>
        </p:txBody>
      </p:sp>
      <p:sp>
        <p:nvSpPr>
          <p:cNvPr id="16" name="TextBox 15"/>
          <p:cNvSpPr txBox="1"/>
          <p:nvPr/>
        </p:nvSpPr>
        <p:spPr>
          <a:xfrm>
            <a:off x="2217420" y="3493008"/>
            <a:ext cx="9511588" cy="1051560"/>
          </a:xfrm>
          <a:prstGeom prst="rect">
            <a:avLst/>
          </a:prstGeom>
          <a:noFill/>
        </p:spPr>
        <p:txBody>
          <a:bodyPr wrap="square" lIns="54864" rIns="54864" tIns="36576" bIns="36576" anchor="t"/>
          <a:lstStyle/>
          <a:p>
            <a:pPr algn="l" marL="155448" indent="-146304">
              <a:spcBef>
                <a:spcPts val="400"/>
              </a:spcBef>
              <a:buFont typeface="Arial"/>
              <a:buChar char="•"/>
            </a:pPr>
            <a:r>
              <a:rPr sz="1200" b="0" i="0">
                <a:solidFill>
                  <a:srgbClr val="000000"/>
                </a:solidFill>
                <a:latin typeface="Arial"/>
              </a:rPr>
              <a:t>Parties negotiate price and terms</a:t>
            </a:r>
          </a:p>
          <a:p>
            <a:pPr algn="l" marL="155448" indent="-146304">
              <a:spcBef>
                <a:spcPts val="400"/>
              </a:spcBef>
              <a:buFont typeface="Arial"/>
              <a:buChar char="•"/>
            </a:pPr>
            <a:r>
              <a:rPr sz="1200" b="0" i="0">
                <a:solidFill>
                  <a:srgbClr val="000000"/>
                </a:solidFill>
                <a:latin typeface="Arial"/>
              </a:rPr>
              <a:t>Committee may request a revised offer</a:t>
            </a:r>
          </a:p>
        </p:txBody>
      </p:sp>
      <p:cxnSp>
        <p:nvCxnSpPr>
          <p:cNvPr id="17" name="Connector 16"/>
          <p:cNvCxnSpPr/>
          <p:nvPr/>
        </p:nvCxnSpPr>
        <p:spPr>
          <a:xfrm>
            <a:off x="2217420" y="4645152"/>
            <a:ext cx="9557308" cy="0"/>
          </a:xfrm>
          <a:prstGeom prst="line">
            <a:avLst/>
          </a:prstGeom>
          <a:ln w="9525">
            <a:solidFill>
              <a:srgbClr val="A6A6A6"/>
            </a:solidFill>
          </a:ln>
        </p:spPr>
      </p:cxnSp>
      <p:sp>
        <p:nvSpPr>
          <p:cNvPr id="18" name="Rectangle 17"/>
          <p:cNvSpPr/>
          <p:nvPr/>
        </p:nvSpPr>
        <p:spPr>
          <a:xfrm>
            <a:off x="525780" y="4700016"/>
            <a:ext cx="1463040" cy="1143000"/>
          </a:xfrm>
          <a:prstGeom prst="rect">
            <a:avLst/>
          </a:prstGeom>
          <a:solidFill>
            <a:srgbClr val="221D55"/>
          </a:solidFill>
          <a:ln>
            <a:noFill/>
          </a:ln>
        </p:spPr>
        <p:txBody>
          <a:bodyPr rtlCol="0" anchor="ctr"/>
          <a:lstStyle/>
          <a:p>
            <a:pPr algn="ctr"/>
          </a:p>
        </p:txBody>
      </p:sp>
      <p:sp>
        <p:nvSpPr>
          <p:cNvPr id="19" name="Isosceles Triangle 18"/>
          <p:cNvSpPr/>
          <p:nvPr/>
        </p:nvSpPr>
        <p:spPr>
          <a:xfrm rot="10800000">
            <a:off x="525780" y="5833872"/>
            <a:ext cx="1463040" cy="329184"/>
          </a:xfrm>
          <a:prstGeom prst="triangle">
            <a:avLst/>
          </a:prstGeom>
          <a:solidFill>
            <a:srgbClr val="221D55"/>
          </a:solidFill>
          <a:ln>
            <a:noFill/>
          </a:ln>
        </p:spPr>
        <p:txBody>
          <a:bodyPr rtlCol="0" anchor="ctr"/>
          <a:lstStyle/>
          <a:p>
            <a:pPr algn="ctr"/>
          </a:p>
        </p:txBody>
      </p:sp>
      <p:sp>
        <p:nvSpPr>
          <p:cNvPr id="20" name="TextBox 19"/>
          <p:cNvSpPr txBox="1"/>
          <p:nvPr/>
        </p:nvSpPr>
        <p:spPr>
          <a:xfrm>
            <a:off x="525780" y="4700016"/>
            <a:ext cx="1463040" cy="1143000"/>
          </a:xfrm>
          <a:prstGeom prst="rect">
            <a:avLst/>
          </a:prstGeom>
          <a:noFill/>
        </p:spPr>
        <p:txBody>
          <a:bodyPr wrap="square" lIns="54864" rIns="54864" tIns="36576" bIns="36576" anchor="ctr"/>
          <a:lstStyle/>
          <a:p>
            <a:pPr algn="ctr"/>
            <a:r>
              <a:rPr sz="1100" b="1" i="0">
                <a:solidFill>
                  <a:srgbClr val="FFFFFF"/>
                </a:solidFill>
                <a:latin typeface="Arial"/>
              </a:rPr>
              <a:t>Execution</a:t>
            </a:r>
          </a:p>
        </p:txBody>
      </p:sp>
      <p:sp>
        <p:nvSpPr>
          <p:cNvPr id="21" name="TextBox 20"/>
          <p:cNvSpPr txBox="1"/>
          <p:nvPr/>
        </p:nvSpPr>
        <p:spPr>
          <a:xfrm>
            <a:off x="2217420" y="4745736"/>
            <a:ext cx="9511588" cy="1371600"/>
          </a:xfrm>
          <a:prstGeom prst="rect">
            <a:avLst/>
          </a:prstGeom>
          <a:noFill/>
        </p:spPr>
        <p:txBody>
          <a:bodyPr wrap="square" lIns="54864" rIns="54864" tIns="36576" bIns="36576" anchor="t"/>
          <a:lstStyle/>
          <a:p>
            <a:pPr algn="l" marL="155448" indent="-146304">
              <a:spcBef>
                <a:spcPts val="400"/>
              </a:spcBef>
              <a:buFont typeface="Arial"/>
              <a:buChar char="•"/>
            </a:pPr>
            <a:r>
              <a:rPr sz="1200" b="0" i="0">
                <a:solidFill>
                  <a:srgbClr val="000000"/>
                </a:solidFill>
                <a:latin typeface="Arial"/>
              </a:rPr>
              <a:t>Definitive agreement and joint announcement</a:t>
            </a:r>
          </a:p>
          <a:p>
            <a:pPr algn="l" marL="155448" indent="-146304">
              <a:spcBef>
                <a:spcPts val="400"/>
              </a:spcBef>
              <a:buFont typeface="Arial"/>
              <a:buChar char="•"/>
            </a:pPr>
            <a:r>
              <a:rPr sz="1200" b="0" i="0">
                <a:solidFill>
                  <a:srgbClr val="000000"/>
                </a:solidFill>
                <a:latin typeface="Arial"/>
              </a:rPr>
              <a:t>Proxy filed with the SEC; unitholder vote</a:t>
            </a:r>
          </a:p>
          <a:p>
            <a:pPr algn="l" marL="155448" indent="-146304">
              <a:spcBef>
                <a:spcPts val="400"/>
              </a:spcBef>
              <a:buFont typeface="Arial"/>
              <a:buChar char="•"/>
            </a:pPr>
            <a:r>
              <a:rPr sz="1200" b="0" i="0">
                <a:solidFill>
                  <a:srgbClr val="000000"/>
                </a:solidFill>
                <a:latin typeface="Arial"/>
              </a:rPr>
              <a:t>Closing after regulatory approval</a:t>
            </a:r>
          </a:p>
        </p:txBody>
      </p:sp>
      <p:cxnSp>
        <p:nvCxnSpPr>
          <p:cNvPr id="22" name="Connector 21"/>
          <p:cNvCxnSpPr/>
          <p:nvPr/>
        </p:nvCxnSpPr>
        <p:spPr>
          <a:xfrm>
            <a:off x="2217420" y="6217920"/>
            <a:ext cx="9557308" cy="0"/>
          </a:xfrm>
          <a:prstGeom prst="line">
            <a:avLst/>
          </a:prstGeom>
          <a:ln w="9525">
            <a:solidFill>
              <a:srgbClr val="A6A6A6"/>
            </a:solidFill>
          </a:ln>
        </p:spPr>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Evaluating the Options</a:t>
            </a:r>
          </a:p>
        </p:txBody>
      </p:sp>
      <p:sp>
        <p:nvSpPr>
          <p:cNvPr id="4" name="Subtitle 3"/>
          <p:cNvSpPr>
            <a:spLocks noGrp="1"/>
          </p:cNvSpPr>
          <p:nvPr>
            <p:ph type="subTitle" idx="1"/>
          </p:nvPr>
        </p:nvSpPr>
        <p:spPr/>
        <p:txBody>
          <a:bodyPr/>
          <a:lstStyle/>
          <a:p>
            <a:r>
              <a:t>Which method creates more value for the shareholder?</a:t>
            </a:r>
          </a:p>
        </p:txBody>
      </p:sp>
      <p:sp>
        <p:nvSpPr>
          <p:cNvPr id="5" name="Text Placeholder 4"/>
          <p:cNvSpPr>
            <a:spLocks noGrp="1"/>
          </p:cNvSpPr>
          <p:nvPr>
            <p:ph type="body" idx="14" sz="quarter"/>
          </p:nvPr>
        </p:nvSpPr>
        <p:spPr/>
        <p:txBody>
          <a:bodyPr/>
          <a:lstStyle/>
          <a:p>
            <a:r>
              <a:t>Illustrative data - layout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14</a:t>
            </a:r>
          </a:p>
        </p:txBody>
      </p:sp>
      <p:sp>
        <p:nvSpPr>
          <p:cNvPr id="7" name="Rounded Rectangle 6"/>
          <p:cNvSpPr/>
          <p:nvPr/>
        </p:nvSpPr>
        <p:spPr>
          <a:xfrm>
            <a:off x="525780" y="1417320"/>
            <a:ext cx="3520440" cy="411480"/>
          </a:xfrm>
          <a:prstGeom prst="roundRect">
            <a:avLst>
              <a:gd name="adj" fmla="val 20000"/>
            </a:avLst>
          </a:prstGeom>
          <a:solidFill>
            <a:srgbClr val="242852"/>
          </a:solidFill>
          <a:ln>
            <a:noFill/>
          </a:ln>
        </p:spPr>
        <p:txBody>
          <a:bodyPr rtlCol="0" anchor="ctr" wrap="square" lIns="54864" rIns="54864" tIns="36576" bIns="36576"/>
          <a:lstStyle/>
          <a:p>
            <a:pPr algn="ctr"/>
            <a:r>
              <a:rPr sz="1200" b="1" i="0">
                <a:solidFill>
                  <a:srgbClr val="FFFFFF"/>
                </a:solidFill>
                <a:latin typeface="Arial"/>
              </a:rPr>
              <a:t>Dimension</a:t>
            </a:r>
          </a:p>
        </p:txBody>
      </p:sp>
      <p:sp>
        <p:nvSpPr>
          <p:cNvPr id="8" name="Rounded Rectangle 7"/>
          <p:cNvSpPr/>
          <p:nvPr/>
        </p:nvSpPr>
        <p:spPr>
          <a:xfrm>
            <a:off x="4229100" y="1417320"/>
            <a:ext cx="3520440" cy="411480"/>
          </a:xfrm>
          <a:prstGeom prst="roundRect">
            <a:avLst>
              <a:gd name="adj" fmla="val 20000"/>
            </a:avLst>
          </a:prstGeom>
          <a:solidFill>
            <a:srgbClr val="F2F2F2"/>
          </a:solidFill>
          <a:ln>
            <a:noFill/>
          </a:ln>
        </p:spPr>
        <p:txBody>
          <a:bodyPr rtlCol="0" anchor="ctr" wrap="square" lIns="54864" rIns="54864" tIns="36576" bIns="36576"/>
          <a:lstStyle/>
          <a:p>
            <a:pPr algn="ctr"/>
            <a:r>
              <a:rPr sz="1200" b="1" i="0">
                <a:solidFill>
                  <a:srgbClr val="000000"/>
                </a:solidFill>
                <a:latin typeface="Arial"/>
              </a:rPr>
              <a:t>Accelerated buyback</a:t>
            </a:r>
          </a:p>
        </p:txBody>
      </p:sp>
      <p:sp>
        <p:nvSpPr>
          <p:cNvPr id="9" name="Rounded Rectangle 8"/>
          <p:cNvSpPr/>
          <p:nvPr/>
        </p:nvSpPr>
        <p:spPr>
          <a:xfrm>
            <a:off x="7886700" y="1417320"/>
            <a:ext cx="3520440" cy="411480"/>
          </a:xfrm>
          <a:prstGeom prst="roundRect">
            <a:avLst>
              <a:gd name="adj" fmla="val 20000"/>
            </a:avLst>
          </a:prstGeom>
          <a:solidFill>
            <a:srgbClr val="F2F2F2"/>
          </a:solidFill>
          <a:ln>
            <a:noFill/>
          </a:ln>
        </p:spPr>
        <p:txBody>
          <a:bodyPr rtlCol="0" anchor="ctr" wrap="square" lIns="54864" rIns="54864" tIns="36576" bIns="36576"/>
          <a:lstStyle/>
          <a:p>
            <a:pPr algn="ctr"/>
            <a:r>
              <a:rPr sz="1200" b="1" i="0">
                <a:solidFill>
                  <a:srgbClr val="000000"/>
                </a:solidFill>
                <a:latin typeface="Arial"/>
              </a:rPr>
              <a:t>Dividend</a:t>
            </a:r>
          </a:p>
        </p:txBody>
      </p:sp>
      <p:sp>
        <p:nvSpPr>
          <p:cNvPr id="10" name="TextBox 9"/>
          <p:cNvSpPr txBox="1"/>
          <p:nvPr/>
        </p:nvSpPr>
        <p:spPr>
          <a:xfrm>
            <a:off x="617219" y="1965960"/>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1" i="0">
                <a:solidFill>
                  <a:srgbClr val="000000"/>
                </a:solidFill>
                <a:latin typeface="Arial"/>
              </a:rPr>
              <a:t>Market signal</a:t>
            </a:r>
          </a:p>
        </p:txBody>
      </p:sp>
      <p:sp>
        <p:nvSpPr>
          <p:cNvPr id="11" name="TextBox 10"/>
          <p:cNvSpPr txBox="1"/>
          <p:nvPr/>
        </p:nvSpPr>
        <p:spPr>
          <a:xfrm>
            <a:off x="4320540" y="1965960"/>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0" i="0">
                <a:solidFill>
                  <a:srgbClr val="000000"/>
                </a:solidFill>
                <a:latin typeface="Arial"/>
              </a:rPr>
              <a:t>Very strong, immediate</a:t>
            </a:r>
          </a:p>
        </p:txBody>
      </p:sp>
      <p:sp>
        <p:nvSpPr>
          <p:cNvPr id="12" name="TextBox 11"/>
          <p:cNvSpPr txBox="1"/>
          <p:nvPr/>
        </p:nvSpPr>
        <p:spPr>
          <a:xfrm>
            <a:off x="7978140" y="1965960"/>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0" i="0">
                <a:solidFill>
                  <a:srgbClr val="000000"/>
                </a:solidFill>
                <a:latin typeface="Arial"/>
              </a:rPr>
              <a:t>Strong, gradual</a:t>
            </a:r>
          </a:p>
        </p:txBody>
      </p:sp>
      <p:cxnSp>
        <p:nvCxnSpPr>
          <p:cNvPr id="13" name="Connector 12"/>
          <p:cNvCxnSpPr/>
          <p:nvPr/>
        </p:nvCxnSpPr>
        <p:spPr>
          <a:xfrm>
            <a:off x="525780" y="2423160"/>
            <a:ext cx="11248948" cy="0"/>
          </a:xfrm>
          <a:prstGeom prst="line">
            <a:avLst/>
          </a:prstGeom>
          <a:ln w="9525">
            <a:solidFill>
              <a:srgbClr val="A6A6A6"/>
            </a:solidFill>
            <a:prstDash val="sysDot"/>
          </a:ln>
        </p:spPr>
      </p:cxnSp>
      <p:sp>
        <p:nvSpPr>
          <p:cNvPr id="14" name="TextBox 13"/>
          <p:cNvSpPr txBox="1"/>
          <p:nvPr/>
        </p:nvSpPr>
        <p:spPr>
          <a:xfrm>
            <a:off x="617219" y="2514600"/>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1" i="0">
                <a:solidFill>
                  <a:srgbClr val="000000"/>
                </a:solidFill>
                <a:latin typeface="Arial"/>
              </a:rPr>
              <a:t>Future flexibility</a:t>
            </a:r>
          </a:p>
        </p:txBody>
      </p:sp>
      <p:sp>
        <p:nvSpPr>
          <p:cNvPr id="15" name="TextBox 14"/>
          <p:cNvSpPr txBox="1"/>
          <p:nvPr/>
        </p:nvSpPr>
        <p:spPr>
          <a:xfrm>
            <a:off x="4320540" y="2514600"/>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0" i="0">
                <a:solidFill>
                  <a:srgbClr val="000000"/>
                </a:solidFill>
                <a:latin typeface="Arial"/>
              </a:rPr>
              <a:t>High (no recurring commitment)</a:t>
            </a:r>
          </a:p>
        </p:txBody>
      </p:sp>
      <p:sp>
        <p:nvSpPr>
          <p:cNvPr id="16" name="TextBox 15"/>
          <p:cNvSpPr txBox="1"/>
          <p:nvPr/>
        </p:nvSpPr>
        <p:spPr>
          <a:xfrm>
            <a:off x="7978140" y="2514600"/>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0" i="0">
                <a:solidFill>
                  <a:srgbClr val="000000"/>
                </a:solidFill>
                <a:latin typeface="Arial"/>
              </a:rPr>
              <a:t>Low (cuts read as negative)</a:t>
            </a:r>
          </a:p>
        </p:txBody>
      </p:sp>
      <p:cxnSp>
        <p:nvCxnSpPr>
          <p:cNvPr id="17" name="Connector 16"/>
          <p:cNvCxnSpPr/>
          <p:nvPr/>
        </p:nvCxnSpPr>
        <p:spPr>
          <a:xfrm>
            <a:off x="525780" y="2971800"/>
            <a:ext cx="11248948" cy="0"/>
          </a:xfrm>
          <a:prstGeom prst="line">
            <a:avLst/>
          </a:prstGeom>
          <a:ln w="9525">
            <a:solidFill>
              <a:srgbClr val="A6A6A6"/>
            </a:solidFill>
            <a:prstDash val="sysDot"/>
          </a:ln>
        </p:spPr>
      </p:cxnSp>
      <p:sp>
        <p:nvSpPr>
          <p:cNvPr id="18" name="TextBox 17"/>
          <p:cNvSpPr txBox="1"/>
          <p:nvPr/>
        </p:nvSpPr>
        <p:spPr>
          <a:xfrm>
            <a:off x="617219" y="3063239"/>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1" i="0">
                <a:solidFill>
                  <a:srgbClr val="000000"/>
                </a:solidFill>
                <a:latin typeface="Arial"/>
              </a:rPr>
              <a:t>Tax efficiency</a:t>
            </a:r>
          </a:p>
        </p:txBody>
      </p:sp>
      <p:sp>
        <p:nvSpPr>
          <p:cNvPr id="19" name="TextBox 18"/>
          <p:cNvSpPr txBox="1"/>
          <p:nvPr/>
        </p:nvSpPr>
        <p:spPr>
          <a:xfrm>
            <a:off x="4320540" y="3063239"/>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0" i="0">
                <a:solidFill>
                  <a:srgbClr val="000000"/>
                </a:solidFill>
                <a:latin typeface="Arial"/>
              </a:rPr>
              <a:t>Superior (capital gains)</a:t>
            </a:r>
          </a:p>
        </p:txBody>
      </p:sp>
      <p:sp>
        <p:nvSpPr>
          <p:cNvPr id="20" name="TextBox 19"/>
          <p:cNvSpPr txBox="1"/>
          <p:nvPr/>
        </p:nvSpPr>
        <p:spPr>
          <a:xfrm>
            <a:off x="7978140" y="3063239"/>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0" i="0">
                <a:solidFill>
                  <a:srgbClr val="000000"/>
                </a:solidFill>
                <a:latin typeface="Arial"/>
              </a:rPr>
              <a:t>Lower in most jurisdictions</a:t>
            </a:r>
          </a:p>
        </p:txBody>
      </p:sp>
      <p:sp>
        <p:nvSpPr>
          <p:cNvPr id="21" name="Rectangle 20"/>
          <p:cNvSpPr/>
          <p:nvPr/>
        </p:nvSpPr>
        <p:spPr>
          <a:xfrm>
            <a:off x="4274820" y="3081527"/>
            <a:ext cx="3291840" cy="365760"/>
          </a:xfrm>
          <a:prstGeom prst="rect">
            <a:avLst/>
          </a:prstGeom>
          <a:noFill/>
          <a:ln w="15875">
            <a:solidFill>
              <a:srgbClr val="E31B23"/>
            </a:solidFill>
            <a:prstDash val="dash"/>
          </a:ln>
        </p:spPr>
        <p:txBody>
          <a:bodyPr rtlCol="0" anchor="ctr"/>
          <a:lstStyle/>
          <a:p>
            <a:pPr algn="ctr"/>
          </a:p>
        </p:txBody>
      </p:sp>
      <p:cxnSp>
        <p:nvCxnSpPr>
          <p:cNvPr id="22" name="Connector 21"/>
          <p:cNvCxnSpPr/>
          <p:nvPr/>
        </p:nvCxnSpPr>
        <p:spPr>
          <a:xfrm>
            <a:off x="525780" y="3520439"/>
            <a:ext cx="11248948" cy="0"/>
          </a:xfrm>
          <a:prstGeom prst="line">
            <a:avLst/>
          </a:prstGeom>
          <a:ln w="9525">
            <a:solidFill>
              <a:srgbClr val="A6A6A6"/>
            </a:solidFill>
            <a:prstDash val="sysDot"/>
          </a:ln>
        </p:spPr>
      </p:cxnSp>
      <p:sp>
        <p:nvSpPr>
          <p:cNvPr id="23" name="TextBox 22"/>
          <p:cNvSpPr txBox="1"/>
          <p:nvPr/>
        </p:nvSpPr>
        <p:spPr>
          <a:xfrm>
            <a:off x="617219" y="3611879"/>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1" i="0">
                <a:solidFill>
                  <a:srgbClr val="000000"/>
                </a:solidFill>
                <a:latin typeface="Arial"/>
              </a:rPr>
              <a:t>EPS accretion</a:t>
            </a:r>
          </a:p>
        </p:txBody>
      </p:sp>
      <p:sp>
        <p:nvSpPr>
          <p:cNvPr id="24" name="TextBox 23"/>
          <p:cNvSpPr txBox="1"/>
          <p:nvPr/>
        </p:nvSpPr>
        <p:spPr>
          <a:xfrm>
            <a:off x="4320540" y="3611879"/>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0" i="0">
                <a:solidFill>
                  <a:srgbClr val="000000"/>
                </a:solidFill>
                <a:latin typeface="Arial"/>
              </a:rPr>
              <a:t>Immediate and concentrated</a:t>
            </a:r>
          </a:p>
        </p:txBody>
      </p:sp>
      <p:sp>
        <p:nvSpPr>
          <p:cNvPr id="25" name="TextBox 24"/>
          <p:cNvSpPr txBox="1"/>
          <p:nvPr/>
        </p:nvSpPr>
        <p:spPr>
          <a:xfrm>
            <a:off x="7978140" y="3611879"/>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0" i="0">
                <a:solidFill>
                  <a:srgbClr val="000000"/>
                </a:solidFill>
                <a:latin typeface="Arial"/>
              </a:rPr>
              <a:t>None</a:t>
            </a:r>
          </a:p>
        </p:txBody>
      </p:sp>
      <p:sp>
        <p:nvSpPr>
          <p:cNvPr id="26" name="Rectangle 25"/>
          <p:cNvSpPr/>
          <p:nvPr/>
        </p:nvSpPr>
        <p:spPr>
          <a:xfrm>
            <a:off x="4274820" y="3630168"/>
            <a:ext cx="3291840" cy="365760"/>
          </a:xfrm>
          <a:prstGeom prst="rect">
            <a:avLst/>
          </a:prstGeom>
          <a:noFill/>
          <a:ln w="15875">
            <a:solidFill>
              <a:srgbClr val="E31B23"/>
            </a:solidFill>
            <a:prstDash val="dash"/>
          </a:ln>
        </p:spPr>
        <p:txBody>
          <a:bodyPr rtlCol="0" anchor="ctr"/>
          <a:lstStyle/>
          <a:p>
            <a:pPr algn="ctr"/>
          </a:p>
        </p:txBody>
      </p:sp>
      <p:cxnSp>
        <p:nvCxnSpPr>
          <p:cNvPr id="27" name="Connector 26"/>
          <p:cNvCxnSpPr/>
          <p:nvPr/>
        </p:nvCxnSpPr>
        <p:spPr>
          <a:xfrm>
            <a:off x="525780" y="4069079"/>
            <a:ext cx="11248948" cy="0"/>
          </a:xfrm>
          <a:prstGeom prst="line">
            <a:avLst/>
          </a:prstGeom>
          <a:ln w="9525">
            <a:solidFill>
              <a:srgbClr val="A6A6A6"/>
            </a:solidFill>
            <a:prstDash val="sysDot"/>
          </a:ln>
        </p:spPr>
      </p:cxnSp>
      <p:sp>
        <p:nvSpPr>
          <p:cNvPr id="28" name="TextBox 27"/>
          <p:cNvSpPr txBox="1"/>
          <p:nvPr/>
        </p:nvSpPr>
        <p:spPr>
          <a:xfrm>
            <a:off x="617219" y="4160520"/>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1" i="0">
                <a:solidFill>
                  <a:srgbClr val="000000"/>
                </a:solidFill>
                <a:latin typeface="Arial"/>
              </a:rPr>
              <a:t>Who benefits</a:t>
            </a:r>
          </a:p>
        </p:txBody>
      </p:sp>
      <p:sp>
        <p:nvSpPr>
          <p:cNvPr id="29" name="TextBox 28"/>
          <p:cNvSpPr txBox="1"/>
          <p:nvPr/>
        </p:nvSpPr>
        <p:spPr>
          <a:xfrm>
            <a:off x="4320540" y="4160520"/>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0" i="0">
                <a:solidFill>
                  <a:srgbClr val="000000"/>
                </a:solidFill>
                <a:latin typeface="Arial"/>
              </a:rPr>
              <a:t>Holders who stay</a:t>
            </a:r>
          </a:p>
        </p:txBody>
      </p:sp>
      <p:sp>
        <p:nvSpPr>
          <p:cNvPr id="30" name="TextBox 29"/>
          <p:cNvSpPr txBox="1"/>
          <p:nvPr/>
        </p:nvSpPr>
        <p:spPr>
          <a:xfrm>
            <a:off x="7978140" y="4160520"/>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0" i="0">
                <a:solidFill>
                  <a:srgbClr val="000000"/>
                </a:solidFill>
                <a:latin typeface="Arial"/>
              </a:rPr>
              <a:t>All current holders</a:t>
            </a:r>
          </a:p>
        </p:txBody>
      </p:sp>
      <p:sp>
        <p:nvSpPr>
          <p:cNvPr id="31" name="Rectangle 30"/>
          <p:cNvSpPr/>
          <p:nvPr/>
        </p:nvSpPr>
        <p:spPr>
          <a:xfrm>
            <a:off x="4274820" y="4178807"/>
            <a:ext cx="3291840" cy="365760"/>
          </a:xfrm>
          <a:prstGeom prst="rect">
            <a:avLst/>
          </a:prstGeom>
          <a:noFill/>
          <a:ln w="15875">
            <a:solidFill>
              <a:srgbClr val="E31B23"/>
            </a:solidFill>
            <a:prstDash val="dash"/>
          </a:ln>
        </p:spPr>
        <p:txBody>
          <a:bodyPr rtlCol="0" anchor="ctr"/>
          <a:lstStyle/>
          <a:p>
            <a:pPr algn="ctr"/>
          </a:p>
        </p:txBody>
      </p:sp>
      <p:cxnSp>
        <p:nvCxnSpPr>
          <p:cNvPr id="32" name="Connector 31"/>
          <p:cNvCxnSpPr/>
          <p:nvPr/>
        </p:nvCxnSpPr>
        <p:spPr>
          <a:xfrm>
            <a:off x="525780" y="4617720"/>
            <a:ext cx="11248948" cy="0"/>
          </a:xfrm>
          <a:prstGeom prst="line">
            <a:avLst/>
          </a:prstGeom>
          <a:ln w="9525">
            <a:solidFill>
              <a:srgbClr val="A6A6A6"/>
            </a:solidFill>
            <a:prstDash val="sysDot"/>
          </a:ln>
        </p:spPr>
      </p:cxnSp>
      <p:sp>
        <p:nvSpPr>
          <p:cNvPr id="33" name="TextBox 32"/>
          <p:cNvSpPr txBox="1"/>
          <p:nvPr/>
        </p:nvSpPr>
        <p:spPr>
          <a:xfrm>
            <a:off x="617219" y="4709160"/>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1" i="0">
                <a:solidFill>
                  <a:srgbClr val="000000"/>
                </a:solidFill>
                <a:latin typeface="Arial"/>
              </a:rPr>
              <a:t>Requires undervaluation</a:t>
            </a:r>
          </a:p>
        </p:txBody>
      </p:sp>
      <p:sp>
        <p:nvSpPr>
          <p:cNvPr id="34" name="TextBox 33"/>
          <p:cNvSpPr txBox="1"/>
          <p:nvPr/>
        </p:nvSpPr>
        <p:spPr>
          <a:xfrm>
            <a:off x="4320540" y="4709160"/>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0" i="0">
                <a:solidFill>
                  <a:srgbClr val="000000"/>
                </a:solidFill>
                <a:latin typeface="Arial"/>
              </a:rPr>
              <a:t>Yes, to create value</a:t>
            </a:r>
          </a:p>
        </p:txBody>
      </p:sp>
      <p:sp>
        <p:nvSpPr>
          <p:cNvPr id="35" name="TextBox 34"/>
          <p:cNvSpPr txBox="1"/>
          <p:nvPr/>
        </p:nvSpPr>
        <p:spPr>
          <a:xfrm>
            <a:off x="7978140" y="4709160"/>
            <a:ext cx="3337560" cy="384048"/>
          </a:xfrm>
          <a:prstGeom prst="rect">
            <a:avLst/>
          </a:prstGeom>
          <a:noFill/>
        </p:spPr>
        <p:txBody>
          <a:bodyPr wrap="square" lIns="54864" rIns="54864" tIns="36576" bIns="36576" anchor="ctr"/>
          <a:lstStyle/>
          <a:p>
            <a:pPr algn="l" marL="155448" indent="-146304">
              <a:spcBef>
                <a:spcPts val="400"/>
              </a:spcBef>
              <a:buFont typeface="Arial"/>
              <a:buChar char="•"/>
            </a:pPr>
            <a:r>
              <a:rPr sz="1200" b="0" i="0">
                <a:solidFill>
                  <a:srgbClr val="000000"/>
                </a:solidFill>
                <a:latin typeface="Arial"/>
              </a:rPr>
              <a:t>No</a:t>
            </a:r>
          </a:p>
        </p:txBody>
      </p:sp>
      <p:cxnSp>
        <p:nvCxnSpPr>
          <p:cNvPr id="36" name="Connector 35"/>
          <p:cNvCxnSpPr/>
          <p:nvPr/>
        </p:nvCxnSpPr>
        <p:spPr>
          <a:xfrm>
            <a:off x="525780" y="5166360"/>
            <a:ext cx="11248948" cy="0"/>
          </a:xfrm>
          <a:prstGeom prst="line">
            <a:avLst/>
          </a:prstGeom>
          <a:ln w="9525">
            <a:solidFill>
              <a:srgbClr val="A6A6A6"/>
            </a:solidFill>
            <a:prstDash val="sysDot"/>
          </a:ln>
        </p:spPr>
      </p:cxnSp>
      <p:sp>
        <p:nvSpPr>
          <p:cNvPr id="37" name="Rounded Rectangle 36"/>
          <p:cNvSpPr/>
          <p:nvPr/>
        </p:nvSpPr>
        <p:spPr>
          <a:xfrm>
            <a:off x="525780" y="5486400"/>
            <a:ext cx="11248948" cy="548640"/>
          </a:xfrm>
          <a:prstGeom prst="roundRect">
            <a:avLst>
              <a:gd name="adj" fmla="val 15000"/>
            </a:avLst>
          </a:prstGeom>
          <a:solidFill>
            <a:srgbClr val="242852"/>
          </a:solidFill>
          <a:ln>
            <a:noFill/>
          </a:ln>
        </p:spPr>
        <p:txBody>
          <a:bodyPr rtlCol="0" anchor="ctr" wrap="square" lIns="54864" rIns="54864" tIns="36576" bIns="36576"/>
          <a:lstStyle/>
          <a:p>
            <a:pPr algn="ctr"/>
            <a:r>
              <a:rPr sz="1200" b="1" i="0">
                <a:solidFill>
                  <a:srgbClr val="FFFFFF"/>
                </a:solidFill>
                <a:latin typeface="Arial"/>
              </a:rPr>
              <a:t>The accelerated buyback maximises value: tax-efficient, immediately accretive and signals undervaluation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Company Sits Inside Every Step of the Chain</a:t>
            </a:r>
          </a:p>
        </p:txBody>
      </p:sp>
      <p:sp>
        <p:nvSpPr>
          <p:cNvPr id="4" name="Subtitle 3"/>
          <p:cNvSpPr>
            <a:spLocks noGrp="1"/>
          </p:cNvSpPr>
          <p:nvPr>
            <p:ph type="subTitle" idx="1"/>
          </p:nvPr>
        </p:nvSpPr>
        <p:spPr/>
        <p:txBody>
          <a:bodyPr/>
          <a:lstStyle/>
          <a:p>
            <a:r>
              <a:t>Metrology and inspection intercept the process after nearly every layer</a:t>
            </a:r>
          </a:p>
        </p:txBody>
      </p:sp>
      <p:sp>
        <p:nvSpPr>
          <p:cNvPr id="5" name="Text Placeholder 4"/>
          <p:cNvSpPr>
            <a:spLocks noGrp="1"/>
          </p:cNvSpPr>
          <p:nvPr>
            <p:ph type="body" idx="14" sz="quarter"/>
          </p:nvPr>
        </p:nvSpPr>
        <p:spPr/>
        <p:txBody>
          <a:bodyPr/>
          <a:lstStyle/>
          <a:p>
            <a:r>
              <a:t>Illustrative data - layout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15</a:t>
            </a:r>
          </a:p>
        </p:txBody>
      </p:sp>
      <p:sp>
        <p:nvSpPr>
          <p:cNvPr id="7" name="Pentagon 6"/>
          <p:cNvSpPr/>
          <p:nvPr/>
        </p:nvSpPr>
        <p:spPr>
          <a:xfrm>
            <a:off x="525780" y="2011680"/>
            <a:ext cx="1898260" cy="706831"/>
          </a:xfrm>
          <a:prstGeom prst="homePlate">
            <a:avLst>
              <a:gd name="adj" fmla="val 44435"/>
            </a:avLst>
          </a:prstGeom>
          <a:solidFill>
            <a:srgbClr val="FFFFFF"/>
          </a:solidFill>
          <a:ln w="28575">
            <a:solidFill>
              <a:srgbClr val="242852"/>
            </a:solidFill>
          </a:ln>
        </p:spPr>
        <p:txBody>
          <a:bodyPr rtlCol="0" anchor="ctr" wrap="square" lIns="137160" rIns="137160" tIns="36576" bIns="36576"/>
          <a:lstStyle/>
          <a:p>
            <a:pPr algn="l"/>
            <a:r>
              <a:rPr sz="1300" b="1" i="0">
                <a:solidFill>
                  <a:srgbClr val="000000"/>
                </a:solidFill>
                <a:latin typeface="Arial"/>
              </a:rPr>
              <a:t>Wafers</a:t>
            </a:r>
          </a:p>
        </p:txBody>
      </p:sp>
      <p:sp>
        <p:nvSpPr>
          <p:cNvPr id="8" name="Pentagon 7"/>
          <p:cNvSpPr/>
          <p:nvPr/>
        </p:nvSpPr>
        <p:spPr>
          <a:xfrm>
            <a:off x="2492620" y="2011680"/>
            <a:ext cx="1267232" cy="706831"/>
          </a:xfrm>
          <a:prstGeom prst="homePlate">
            <a:avLst>
              <a:gd name="adj" fmla="val 44435"/>
            </a:avLst>
          </a:prstGeom>
          <a:solidFill>
            <a:srgbClr val="A6A6A6"/>
          </a:solidFill>
          <a:ln w="28575">
            <a:solidFill>
              <a:srgbClr val="7F7F7F"/>
            </a:solidFill>
          </a:ln>
        </p:spPr>
        <p:txBody>
          <a:bodyPr rtlCol="0" anchor="ctr" wrap="square" lIns="109728" rIns="109728" tIns="36576" bIns="36576"/>
          <a:lstStyle/>
          <a:p>
            <a:pPr algn="l"/>
            <a:r>
              <a:rPr sz="1200" b="1" i="0">
                <a:solidFill>
                  <a:srgbClr val="FFFFFF"/>
                </a:solidFill>
                <a:latin typeface="Arial"/>
              </a:rPr>
              <a:t>Wafer Quality</a:t>
            </a:r>
          </a:p>
        </p:txBody>
      </p:sp>
      <p:sp>
        <p:nvSpPr>
          <p:cNvPr id="9" name="Pentagon 8"/>
          <p:cNvSpPr/>
          <p:nvPr/>
        </p:nvSpPr>
        <p:spPr>
          <a:xfrm>
            <a:off x="3828432" y="2011680"/>
            <a:ext cx="1267232" cy="706831"/>
          </a:xfrm>
          <a:prstGeom prst="homePlate">
            <a:avLst>
              <a:gd name="adj" fmla="val 44435"/>
            </a:avLst>
          </a:prstGeom>
          <a:solidFill>
            <a:srgbClr val="242852">
              <a:alpha val="80000"/>
            </a:srgbClr>
          </a:solidFill>
          <a:ln w="28575">
            <a:solidFill>
              <a:srgbClr val="242852"/>
            </a:solidFill>
          </a:ln>
        </p:spPr>
        <p:txBody>
          <a:bodyPr rtlCol="0" anchor="ctr" wrap="square" lIns="109728" rIns="109728" tIns="36576" bIns="36576"/>
          <a:lstStyle/>
          <a:p>
            <a:pPr algn="l"/>
            <a:r>
              <a:rPr sz="1100" b="1" i="0">
                <a:solidFill>
                  <a:srgbClr val="FFFFFF"/>
                </a:solidFill>
                <a:latin typeface="Arial"/>
              </a:rPr>
              <a:t>Deposition</a:t>
            </a:r>
          </a:p>
        </p:txBody>
      </p:sp>
      <p:sp>
        <p:nvSpPr>
          <p:cNvPr id="10" name="Pentagon 9"/>
          <p:cNvSpPr/>
          <p:nvPr/>
        </p:nvSpPr>
        <p:spPr>
          <a:xfrm>
            <a:off x="5164245" y="2011680"/>
            <a:ext cx="1267232" cy="706831"/>
          </a:xfrm>
          <a:prstGeom prst="homePlate">
            <a:avLst>
              <a:gd name="adj" fmla="val 44435"/>
            </a:avLst>
          </a:prstGeom>
          <a:solidFill>
            <a:srgbClr val="242852">
              <a:alpha val="70000"/>
            </a:srgbClr>
          </a:solidFill>
          <a:ln w="28575">
            <a:solidFill>
              <a:srgbClr val="242852"/>
            </a:solidFill>
          </a:ln>
        </p:spPr>
        <p:txBody>
          <a:bodyPr rtlCol="0" anchor="ctr" wrap="square" lIns="109728" rIns="109728" tIns="36576" bIns="36576"/>
          <a:lstStyle/>
          <a:p>
            <a:pPr algn="l"/>
            <a:r>
              <a:rPr sz="1100" b="1" i="0">
                <a:solidFill>
                  <a:srgbClr val="FFFFFF"/>
                </a:solidFill>
                <a:latin typeface="Arial"/>
              </a:rPr>
              <a:t>Lithography</a:t>
            </a:r>
          </a:p>
        </p:txBody>
      </p:sp>
      <p:sp>
        <p:nvSpPr>
          <p:cNvPr id="11" name="Pentagon 10"/>
          <p:cNvSpPr/>
          <p:nvPr/>
        </p:nvSpPr>
        <p:spPr>
          <a:xfrm>
            <a:off x="6500058" y="2011680"/>
            <a:ext cx="1267232" cy="706831"/>
          </a:xfrm>
          <a:prstGeom prst="homePlate">
            <a:avLst>
              <a:gd name="adj" fmla="val 44435"/>
            </a:avLst>
          </a:prstGeom>
          <a:solidFill>
            <a:srgbClr val="242852">
              <a:alpha val="60000"/>
            </a:srgbClr>
          </a:solidFill>
          <a:ln w="28575">
            <a:solidFill>
              <a:srgbClr val="242852"/>
            </a:solidFill>
          </a:ln>
        </p:spPr>
        <p:txBody>
          <a:bodyPr rtlCol="0" anchor="ctr" wrap="square" lIns="109728" rIns="109728" tIns="36576" bIns="36576"/>
          <a:lstStyle/>
          <a:p>
            <a:pPr algn="l"/>
            <a:r>
              <a:rPr sz="1100" b="1" i="0">
                <a:solidFill>
                  <a:srgbClr val="FFFFFF"/>
                </a:solidFill>
                <a:latin typeface="Arial"/>
              </a:rPr>
              <a:t>Etch</a:t>
            </a:r>
          </a:p>
        </p:txBody>
      </p:sp>
      <p:sp>
        <p:nvSpPr>
          <p:cNvPr id="12" name="Pentagon 11"/>
          <p:cNvSpPr/>
          <p:nvPr/>
        </p:nvSpPr>
        <p:spPr>
          <a:xfrm>
            <a:off x="7835870" y="2011680"/>
            <a:ext cx="1267232" cy="706831"/>
          </a:xfrm>
          <a:prstGeom prst="homePlate">
            <a:avLst>
              <a:gd name="adj" fmla="val 44435"/>
            </a:avLst>
          </a:prstGeom>
          <a:solidFill>
            <a:srgbClr val="242852">
              <a:alpha val="50000"/>
            </a:srgbClr>
          </a:solidFill>
          <a:ln w="28575">
            <a:solidFill>
              <a:srgbClr val="242852"/>
            </a:solidFill>
          </a:ln>
        </p:spPr>
        <p:txBody>
          <a:bodyPr rtlCol="0" anchor="ctr" wrap="square" lIns="109728" rIns="109728" tIns="36576" bIns="36576"/>
          <a:lstStyle/>
          <a:p>
            <a:pPr algn="l"/>
            <a:r>
              <a:rPr sz="1100" b="1" i="0">
                <a:solidFill>
                  <a:srgbClr val="FFFFFF"/>
                </a:solidFill>
                <a:latin typeface="Arial"/>
              </a:rPr>
              <a:t>CMP</a:t>
            </a:r>
          </a:p>
        </p:txBody>
      </p:sp>
      <p:sp>
        <p:nvSpPr>
          <p:cNvPr id="13" name="Pentagon 12"/>
          <p:cNvSpPr/>
          <p:nvPr/>
        </p:nvSpPr>
        <p:spPr>
          <a:xfrm>
            <a:off x="9171683" y="2011680"/>
            <a:ext cx="1267232" cy="706831"/>
          </a:xfrm>
          <a:prstGeom prst="homePlate">
            <a:avLst>
              <a:gd name="adj" fmla="val 44435"/>
            </a:avLst>
          </a:prstGeom>
          <a:solidFill>
            <a:srgbClr val="A6A6A6"/>
          </a:solidFill>
          <a:ln w="28575">
            <a:solidFill>
              <a:srgbClr val="7F7F7F"/>
            </a:solidFill>
          </a:ln>
        </p:spPr>
        <p:txBody>
          <a:bodyPr rtlCol="0" anchor="ctr" wrap="square" lIns="109728" rIns="109728" tIns="36576" bIns="36576"/>
          <a:lstStyle/>
          <a:p>
            <a:pPr algn="l"/>
            <a:r>
              <a:rPr sz="1200" b="1" i="0">
                <a:solidFill>
                  <a:srgbClr val="FFFFFF"/>
                </a:solidFill>
                <a:latin typeface="Arial"/>
              </a:rPr>
              <a:t>Repeat Process</a:t>
            </a:r>
          </a:p>
        </p:txBody>
      </p:sp>
      <p:sp>
        <p:nvSpPr>
          <p:cNvPr id="14" name="Pentagon 13"/>
          <p:cNvSpPr/>
          <p:nvPr/>
        </p:nvSpPr>
        <p:spPr>
          <a:xfrm>
            <a:off x="10507496" y="2011680"/>
            <a:ext cx="1267232" cy="706831"/>
          </a:xfrm>
          <a:prstGeom prst="homePlate">
            <a:avLst>
              <a:gd name="adj" fmla="val 44435"/>
            </a:avLst>
          </a:prstGeom>
          <a:solidFill>
            <a:srgbClr val="7F8FA9"/>
          </a:solidFill>
          <a:ln w="28575">
            <a:solidFill>
              <a:srgbClr val="7F8FA9"/>
            </a:solidFill>
          </a:ln>
        </p:spPr>
        <p:txBody>
          <a:bodyPr rtlCol="0" anchor="ctr" wrap="square" lIns="109728" rIns="109728" tIns="36576" bIns="36576"/>
          <a:lstStyle/>
          <a:p>
            <a:pPr algn="l"/>
            <a:r>
              <a:rPr sz="1100" b="1" i="0">
                <a:solidFill>
                  <a:srgbClr val="FFFFFF"/>
                </a:solidFill>
                <a:latin typeface="Arial"/>
              </a:rPr>
              <a:t>Packaging</a:t>
            </a:r>
          </a:p>
        </p:txBody>
      </p:sp>
      <p:sp>
        <p:nvSpPr>
          <p:cNvPr id="15" name="Rectangle 14"/>
          <p:cNvSpPr/>
          <p:nvPr/>
        </p:nvSpPr>
        <p:spPr>
          <a:xfrm>
            <a:off x="3759852" y="1892808"/>
            <a:ext cx="6747643" cy="917143"/>
          </a:xfrm>
          <a:prstGeom prst="rect">
            <a:avLst/>
          </a:prstGeom>
          <a:noFill/>
          <a:ln w="28575">
            <a:solidFill>
              <a:srgbClr val="E31B23"/>
            </a:solidFill>
            <a:prstDash val="dash"/>
          </a:ln>
        </p:spPr>
        <p:txBody>
          <a:bodyPr rtlCol="0" anchor="ctr"/>
          <a:lstStyle/>
          <a:p>
            <a:pPr algn="ctr"/>
          </a:p>
        </p:txBody>
      </p:sp>
      <p:sp>
        <p:nvSpPr>
          <p:cNvPr id="16" name="TextBox 15"/>
          <p:cNvSpPr txBox="1"/>
          <p:nvPr/>
        </p:nvSpPr>
        <p:spPr>
          <a:xfrm>
            <a:off x="3759852" y="1600200"/>
            <a:ext cx="6747643" cy="292608"/>
          </a:xfrm>
          <a:prstGeom prst="rect">
            <a:avLst/>
          </a:prstGeom>
          <a:noFill/>
        </p:spPr>
        <p:txBody>
          <a:bodyPr wrap="square" lIns="0" rIns="0" tIns="0" bIns="0" anchor="t"/>
          <a:lstStyle/>
          <a:p>
            <a:pPr algn="ctr"/>
            <a:r>
              <a:rPr sz="1400" b="1" i="1">
                <a:solidFill>
                  <a:srgbClr val="221D55"/>
                </a:solidFill>
                <a:latin typeface="Arial"/>
              </a:rPr>
              <a:t>Process Control</a:t>
            </a:r>
          </a:p>
        </p:txBody>
      </p:sp>
      <p:cxnSp>
        <p:nvCxnSpPr>
          <p:cNvPr id="17" name="Connector 16"/>
          <p:cNvCxnSpPr/>
          <p:nvPr/>
        </p:nvCxnSpPr>
        <p:spPr>
          <a:xfrm>
            <a:off x="9741938" y="2718511"/>
            <a:ext cx="0" cy="219456"/>
          </a:xfrm>
          <a:prstGeom prst="line">
            <a:avLst/>
          </a:prstGeom>
          <a:ln w="25400">
            <a:solidFill>
              <a:srgbClr val="221D55"/>
            </a:solidFill>
          </a:ln>
        </p:spPr>
      </p:cxnSp>
      <p:cxnSp>
        <p:nvCxnSpPr>
          <p:cNvPr id="18" name="Connector 17"/>
          <p:cNvCxnSpPr/>
          <p:nvPr/>
        </p:nvCxnSpPr>
        <p:spPr>
          <a:xfrm flipH="1">
            <a:off x="4398687" y="2937967"/>
            <a:ext cx="5343251" cy="0"/>
          </a:xfrm>
          <a:prstGeom prst="line">
            <a:avLst/>
          </a:prstGeom>
          <a:ln w="25400">
            <a:solidFill>
              <a:srgbClr val="221D55"/>
            </a:solidFill>
          </a:ln>
        </p:spPr>
      </p:cxnSp>
      <p:cxnSp>
        <p:nvCxnSpPr>
          <p:cNvPr id="19" name="Connector 18"/>
          <p:cNvCxnSpPr/>
          <p:nvPr/>
        </p:nvCxnSpPr>
        <p:spPr>
          <a:xfrm flipV="1">
            <a:off x="4398687" y="2718511"/>
            <a:ext cx="0" cy="219456"/>
          </a:xfrm>
          <a:prstGeom prst="line">
            <a:avLst/>
          </a:prstGeom>
          <a:ln w="25400">
            <a:solidFill>
              <a:srgbClr val="221D55"/>
            </a:solidFill>
            <a:tailEnd type="triangle" w="med" len="med"/>
          </a:ln>
        </p:spPr>
      </p:cxnSp>
      <p:sp>
        <p:nvSpPr>
          <p:cNvPr id="20" name="Isosceles Triangle 19"/>
          <p:cNvSpPr/>
          <p:nvPr/>
        </p:nvSpPr>
        <p:spPr>
          <a:xfrm rot="10800000">
            <a:off x="525780" y="4032504"/>
            <a:ext cx="11248948" cy="201168"/>
          </a:xfrm>
          <a:prstGeom prst="triangle">
            <a:avLst/>
          </a:prstGeom>
          <a:solidFill>
            <a:srgbClr val="CECECE"/>
          </a:solidFill>
          <a:ln>
            <a:noFill/>
          </a:ln>
        </p:spPr>
        <p:txBody>
          <a:bodyPr rtlCol="0" anchor="ctr"/>
          <a:lstStyle/>
          <a:p>
            <a:pPr algn="ctr"/>
          </a:p>
        </p:txBody>
      </p:sp>
      <p:sp>
        <p:nvSpPr>
          <p:cNvPr id="21" name="Rectangle 20"/>
          <p:cNvSpPr/>
          <p:nvPr/>
        </p:nvSpPr>
        <p:spPr>
          <a:xfrm>
            <a:off x="525780" y="3657600"/>
            <a:ext cx="11248948" cy="384048"/>
          </a:xfrm>
          <a:prstGeom prst="rect">
            <a:avLst/>
          </a:prstGeom>
          <a:solidFill>
            <a:srgbClr val="7F7F7F"/>
          </a:solidFill>
          <a:ln w="12700">
            <a:solidFill>
              <a:srgbClr val="1F2937"/>
            </a:solidFill>
          </a:ln>
        </p:spPr>
        <p:txBody>
          <a:bodyPr rtlCol="0" anchor="ctr" wrap="square" lIns="54864" rIns="54864" tIns="36576" bIns="36576"/>
          <a:lstStyle/>
          <a:p>
            <a:pPr algn="ctr"/>
            <a:r>
              <a:rPr sz="1400" b="1" i="0">
                <a:solidFill>
                  <a:srgbClr val="FFFFFF"/>
                </a:solidFill>
                <a:latin typeface="Arial"/>
              </a:rPr>
              <a:t>What it means for the thesis</a:t>
            </a:r>
          </a:p>
        </p:txBody>
      </p:sp>
      <p:sp>
        <p:nvSpPr>
          <p:cNvPr id="22" name="TextBox 21"/>
          <p:cNvSpPr txBox="1"/>
          <p:nvPr/>
        </p:nvSpPr>
        <p:spPr>
          <a:xfrm>
            <a:off x="617219" y="4379976"/>
            <a:ext cx="3566769" cy="1280160"/>
          </a:xfrm>
          <a:prstGeom prst="rect">
            <a:avLst/>
          </a:prstGeom>
          <a:noFill/>
        </p:spPr>
        <p:txBody>
          <a:bodyPr wrap="square" lIns="54864" rIns="54864" tIns="36576" bIns="36576" anchor="t"/>
          <a:lstStyle/>
          <a:p>
            <a:pPr algn="just" marL="155448" indent="-146304">
              <a:spcBef>
                <a:spcPts val="400"/>
              </a:spcBef>
              <a:buFont typeface="Arial"/>
              <a:buChar char="•"/>
            </a:pPr>
            <a:r>
              <a:rPr sz="1100" b="1" i="0">
                <a:solidFill>
                  <a:srgbClr val="000000"/>
                </a:solidFill>
                <a:latin typeface="Arial"/>
              </a:rPr>
              <a:t>Every new layer adds inspection steps</a:t>
            </a:r>
            <a:r>
              <a:rPr sz="1100" b="0" i="0">
                <a:solidFill>
                  <a:srgbClr val="000000"/>
                </a:solidFill>
                <a:latin typeface="Arial"/>
              </a:rPr>
              <a:t>: demand scales with chip complexity</a:t>
            </a:r>
          </a:p>
        </p:txBody>
      </p:sp>
      <p:sp>
        <p:nvSpPr>
          <p:cNvPr id="23" name="TextBox 22"/>
          <p:cNvSpPr txBox="1"/>
          <p:nvPr/>
        </p:nvSpPr>
        <p:spPr>
          <a:xfrm>
            <a:off x="4366869" y="4379976"/>
            <a:ext cx="3566769" cy="1280160"/>
          </a:xfrm>
          <a:prstGeom prst="rect">
            <a:avLst/>
          </a:prstGeom>
          <a:noFill/>
        </p:spPr>
        <p:txBody>
          <a:bodyPr wrap="square" lIns="54864" rIns="54864" tIns="36576" bIns="36576" anchor="t"/>
          <a:lstStyle/>
          <a:p>
            <a:pPr algn="just" marL="155448" indent="-146304">
              <a:spcBef>
                <a:spcPts val="400"/>
              </a:spcBef>
              <a:buFont typeface="Arial"/>
              <a:buChar char="•"/>
            </a:pPr>
            <a:r>
              <a:rPr sz="1100" b="1" i="0">
                <a:solidFill>
                  <a:srgbClr val="000000"/>
                </a:solidFill>
                <a:latin typeface="Arial"/>
              </a:rPr>
              <a:t>Tools are qualified per process</a:t>
            </a:r>
            <a:r>
              <a:rPr sz="1100" b="0" i="0">
                <a:solidFill>
                  <a:srgbClr val="000000"/>
                </a:solidFill>
                <a:latin typeface="Arial"/>
              </a:rPr>
              <a:t>: switching is slow and risky</a:t>
            </a:r>
          </a:p>
        </p:txBody>
      </p:sp>
      <p:cxnSp>
        <p:nvCxnSpPr>
          <p:cNvPr id="24" name="Connector 23"/>
          <p:cNvCxnSpPr/>
          <p:nvPr/>
        </p:nvCxnSpPr>
        <p:spPr>
          <a:xfrm>
            <a:off x="4275429" y="4379976"/>
            <a:ext cx="0" cy="1280160"/>
          </a:xfrm>
          <a:prstGeom prst="line">
            <a:avLst/>
          </a:prstGeom>
          <a:ln w="9525">
            <a:solidFill>
              <a:srgbClr val="7F7F7F"/>
            </a:solidFill>
          </a:ln>
        </p:spPr>
      </p:cxnSp>
      <p:sp>
        <p:nvSpPr>
          <p:cNvPr id="25" name="TextBox 24"/>
          <p:cNvSpPr txBox="1"/>
          <p:nvPr/>
        </p:nvSpPr>
        <p:spPr>
          <a:xfrm>
            <a:off x="8116519" y="4379976"/>
            <a:ext cx="3566769" cy="1280160"/>
          </a:xfrm>
          <a:prstGeom prst="rect">
            <a:avLst/>
          </a:prstGeom>
          <a:noFill/>
        </p:spPr>
        <p:txBody>
          <a:bodyPr wrap="square" lIns="54864" rIns="54864" tIns="36576" bIns="36576" anchor="t"/>
          <a:lstStyle/>
          <a:p>
            <a:pPr algn="just" marL="155448" indent="-146304">
              <a:spcBef>
                <a:spcPts val="400"/>
              </a:spcBef>
              <a:buFont typeface="Arial"/>
              <a:buChar char="•"/>
            </a:pPr>
            <a:r>
              <a:rPr sz="1100" b="1" i="0">
                <a:solidFill>
                  <a:srgbClr val="000000"/>
                </a:solidFill>
                <a:latin typeface="Arial"/>
              </a:rPr>
              <a:t>Feedback loops create data lock-in</a:t>
            </a:r>
            <a:r>
              <a:rPr sz="1100" b="0" i="0">
                <a:solidFill>
                  <a:srgbClr val="000000"/>
                </a:solidFill>
                <a:latin typeface="Arial"/>
              </a:rPr>
              <a:t> across the fab</a:t>
            </a:r>
          </a:p>
        </p:txBody>
      </p:sp>
      <p:cxnSp>
        <p:nvCxnSpPr>
          <p:cNvPr id="26" name="Connector 25"/>
          <p:cNvCxnSpPr/>
          <p:nvPr/>
        </p:nvCxnSpPr>
        <p:spPr>
          <a:xfrm>
            <a:off x="8025079" y="4379976"/>
            <a:ext cx="0" cy="1280160"/>
          </a:xfrm>
          <a:prstGeom prst="line">
            <a:avLst/>
          </a:prstGeom>
          <a:ln w="9525">
            <a:solidFill>
              <a:srgbClr val="7F7F7F"/>
            </a:solidFill>
          </a:ln>
        </p:spPr>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Weak Sectors: Largest Contributors (1/4)</a:t>
            </a:r>
          </a:p>
        </p:txBody>
      </p:sp>
      <p:sp>
        <p:nvSpPr>
          <p:cNvPr id="4" name="Subtitle 3"/>
          <p:cNvSpPr>
            <a:spLocks noGrp="1"/>
          </p:cNvSpPr>
          <p:nvPr>
            <p:ph type="subTitle" idx="1"/>
          </p:nvPr>
        </p:nvSpPr>
        <p:spPr/>
        <p:txBody>
          <a:bodyPr/>
          <a:lstStyle/>
          <a:p>
            <a:r>
              <a:t>Materials (-5.0pp): mostly selection; Metals &amp; Mining +0.5pp vs +3.9pp for the peers</a:t>
            </a:r>
          </a:p>
        </p:txBody>
      </p:sp>
      <p:sp>
        <p:nvSpPr>
          <p:cNvPr id="5" name="Text Placeholder 4"/>
          <p:cNvSpPr>
            <a:spLocks noGrp="1"/>
          </p:cNvSpPr>
          <p:nvPr>
            <p:ph type="body" idx="14" sz="quarter"/>
          </p:nvPr>
        </p:nvSpPr>
        <p:spPr/>
        <p:txBody>
          <a:bodyPr/>
          <a:lstStyle/>
          <a:p>
            <a:r>
              <a:t>Illustrative data - layout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16</a:t>
            </a:r>
          </a:p>
        </p:txBody>
      </p:sp>
      <p:sp>
        <p:nvSpPr>
          <p:cNvPr id="7" name="Rectangle 6"/>
          <p:cNvSpPr/>
          <p:nvPr/>
        </p:nvSpPr>
        <p:spPr>
          <a:xfrm>
            <a:off x="520293" y="1345996"/>
            <a:ext cx="11248948" cy="3246120"/>
          </a:xfrm>
          <a:prstGeom prst="rect">
            <a:avLst/>
          </a:prstGeom>
          <a:noFill/>
          <a:ln w="12700">
            <a:solidFill>
              <a:srgbClr val="42825D"/>
            </a:solidFill>
            <a:prstDash val="dash"/>
          </a:ln>
        </p:spPr>
        <p:txBody>
          <a:bodyPr rtlCol="0" anchor="ctr"/>
          <a:lstStyle/>
          <a:p>
            <a:pPr algn="ctr"/>
          </a:p>
        </p:txBody>
      </p:sp>
      <p:sp>
        <p:nvSpPr>
          <p:cNvPr id="8" name="TextBox 7"/>
          <p:cNvSpPr txBox="1"/>
          <p:nvPr/>
        </p:nvSpPr>
        <p:spPr>
          <a:xfrm>
            <a:off x="620877" y="1419148"/>
            <a:ext cx="2743200" cy="283464"/>
          </a:xfrm>
          <a:prstGeom prst="rect">
            <a:avLst/>
          </a:prstGeom>
          <a:noFill/>
        </p:spPr>
        <p:txBody>
          <a:bodyPr wrap="square" lIns="0" rIns="0" tIns="0" bIns="0" anchor="t"/>
          <a:lstStyle/>
          <a:p>
            <a:pPr algn="l"/>
            <a:r>
              <a:rPr sz="1600" b="1" i="0">
                <a:solidFill>
                  <a:srgbClr val="42825D"/>
                </a:solidFill>
                <a:latin typeface="Arial"/>
              </a:rPr>
              <a:t>Materials</a:t>
            </a:r>
          </a:p>
        </p:txBody>
      </p:sp>
      <p:sp>
        <p:nvSpPr>
          <p:cNvPr id="9" name="Rectangle 8"/>
          <p:cNvSpPr/>
          <p:nvPr/>
        </p:nvSpPr>
        <p:spPr>
          <a:xfrm>
            <a:off x="3236061" y="1501444"/>
            <a:ext cx="5815584" cy="228600"/>
          </a:xfrm>
          <a:prstGeom prst="rect">
            <a:avLst/>
          </a:prstGeom>
          <a:solidFill>
            <a:srgbClr val="DDE8E2"/>
          </a:solidFill>
          <a:ln w="6350">
            <a:solidFill>
              <a:srgbClr val="42825D"/>
            </a:solidFill>
          </a:ln>
        </p:spPr>
        <p:txBody>
          <a:bodyPr rtlCol="0" anchor="ctr" wrap="square" lIns="54864" rIns="54864" tIns="36576" bIns="36576"/>
          <a:lstStyle/>
          <a:p>
            <a:pPr algn="ctr"/>
            <a:r>
              <a:rPr sz="900" b="1" i="0">
                <a:solidFill>
                  <a:srgbClr val="000000"/>
                </a:solidFill>
                <a:latin typeface="Arial"/>
              </a:rPr>
              <a:t>Fund wt 6.8% vs peers 15.8%  |  Annualized perf. Fund -3% vs peers 30%  |  Gap -5.0pp</a:t>
            </a:r>
          </a:p>
        </p:txBody>
      </p:sp>
      <p:sp>
        <p:nvSpPr>
          <p:cNvPr id="10" name="TextBox 9"/>
          <p:cNvSpPr txBox="1"/>
          <p:nvPr/>
        </p:nvSpPr>
        <p:spPr>
          <a:xfrm>
            <a:off x="580644" y="1856231"/>
            <a:ext cx="5441594" cy="219456"/>
          </a:xfrm>
          <a:prstGeom prst="rect">
            <a:avLst/>
          </a:prstGeom>
          <a:noFill/>
        </p:spPr>
        <p:txBody>
          <a:bodyPr wrap="square" lIns="0" rIns="0" tIns="0" bIns="0" anchor="t"/>
          <a:lstStyle/>
          <a:p>
            <a:pPr algn="l"/>
            <a:r>
              <a:rPr sz="1200" b="1" i="0">
                <a:solidFill>
                  <a:srgbClr val="000000"/>
                </a:solidFill>
                <a:latin typeface="Arial"/>
              </a:rPr>
              <a:t>Fund's largest contributors</a:t>
            </a:r>
          </a:p>
        </p:txBody>
      </p:sp>
      <p:graphicFrame>
        <p:nvGraphicFramePr>
          <p:cNvPr id="11" name="Table 10"/>
          <p:cNvGraphicFramePr>
            <a:graphicFrameLocks noGrp="1"/>
          </p:cNvGraphicFramePr>
          <p:nvPr/>
        </p:nvGraphicFramePr>
        <p:xfrm>
          <a:off x="580644" y="2103120"/>
          <a:ext cx="5441593" cy="1481328"/>
        </p:xfrm>
        <a:graphic>
          <a:graphicData uri="http://schemas.openxmlformats.org/drawingml/2006/table">
            <a:tbl>
              <a:tblPr firstRow="0" bandRow="0">
                <a:tableStyleId>{2D5ABB26-0587-4C30-8999-92F81FD0307C}</a:tableStyleId>
              </a:tblPr>
              <a:tblGrid>
                <a:gridCol w="1523646"/>
                <a:gridCol w="1632478"/>
                <a:gridCol w="761823"/>
                <a:gridCol w="761823"/>
                <a:gridCol w="761823"/>
              </a:tblGrid>
              <a:tr h="246888">
                <a:tc>
                  <a:txBody>
                    <a:bodyPr wrap="square" lIns="36576" rIns="36576" tIns="36576" bIns="36576" anchor="t"/>
                    <a:lstStyle/>
                    <a:p>
                      <a:pPr algn="l"/>
                      <a:r>
                        <a:rPr sz="900" b="1" i="0">
                          <a:solidFill>
                            <a:srgbClr val="FFFFFF"/>
                          </a:solidFill>
                          <a:latin typeface="Arial"/>
                        </a:rPr>
                        <a:t>Name</a:t>
                      </a:r>
                    </a:p>
                  </a:txBody>
                  <a:tcPr marL="45720" marR="45720" marT="9144" marB="9144" anchor="ctr">
                    <a:lnL w="0">
                      <a:noFill/>
                    </a:lnL>
                    <a:lnR w="0">
                      <a:noFill/>
                    </a:lnR>
                    <a:lnT w="9525">
                      <a:solidFill>
                        <a:srgbClr val="000000"/>
                      </a:solidFill>
                    </a:lnT>
                    <a:lnB w="9525">
                      <a:solidFill>
                        <a:srgbClr val="000000"/>
                      </a:solidFill>
                    </a:lnB>
                    <a:solidFill>
                      <a:srgbClr val="404040"/>
                    </a:solidFill>
                  </a:tcPr>
                </a:tc>
                <a:tc>
                  <a:txBody>
                    <a:bodyPr wrap="square" lIns="36576" rIns="36576" tIns="36576" bIns="36576" anchor="t"/>
                    <a:lstStyle/>
                    <a:p>
                      <a:pPr algn="l"/>
                      <a:r>
                        <a:rPr sz="900" b="1" i="0">
                          <a:solidFill>
                            <a:srgbClr val="FFFFFF"/>
                          </a:solidFill>
                          <a:latin typeface="Arial"/>
                        </a:rPr>
                        <a:t>Industry</a:t>
                      </a:r>
                    </a:p>
                  </a:txBody>
                  <a:tcPr marL="45720" marR="45720" marT="9144" marB="9144" anchor="ctr">
                    <a:lnL w="0">
                      <a:noFill/>
                    </a:lnL>
                    <a:lnR w="0">
                      <a:noFill/>
                    </a:lnR>
                    <a:lnT w="9525">
                      <a:solidFill>
                        <a:srgbClr val="000000"/>
                      </a:solidFill>
                    </a:lnT>
                    <a:lnB w="9525">
                      <a:solidFill>
                        <a:srgbClr val="000000"/>
                      </a:solidFill>
                    </a:lnB>
                    <a:solidFill>
                      <a:srgbClr val="404040"/>
                    </a:solidFill>
                  </a:tcPr>
                </a:tc>
                <a:tc>
                  <a:txBody>
                    <a:bodyPr wrap="square" lIns="36576" rIns="36576" tIns="36576" bIns="36576" anchor="t"/>
                    <a:lstStyle/>
                    <a:p>
                      <a:pPr algn="ctr"/>
                      <a:r>
                        <a:rPr sz="900" b="1" i="0">
                          <a:solidFill>
                            <a:srgbClr val="FFFFFF"/>
                          </a:solidFill>
                          <a:latin typeface="Arial"/>
                        </a:rPr>
                        <a:t>Contrib.</a:t>
                      </a:r>
                    </a:p>
                  </a:txBody>
                  <a:tcPr marL="45720" marR="45720" marT="9144" marB="9144" anchor="ctr">
                    <a:lnL w="0">
                      <a:noFill/>
                    </a:lnL>
                    <a:lnR w="0">
                      <a:noFill/>
                    </a:lnR>
                    <a:lnT w="9525">
                      <a:solidFill>
                        <a:srgbClr val="000000"/>
                      </a:solidFill>
                    </a:lnT>
                    <a:lnB w="9525">
                      <a:solidFill>
                        <a:srgbClr val="000000"/>
                      </a:solidFill>
                    </a:lnB>
                    <a:solidFill>
                      <a:srgbClr val="404040"/>
                    </a:solidFill>
                  </a:tcPr>
                </a:tc>
                <a:tc>
                  <a:txBody>
                    <a:bodyPr wrap="square" lIns="36576" rIns="36576" tIns="36576" bIns="36576" anchor="t"/>
                    <a:lstStyle/>
                    <a:p>
                      <a:pPr algn="ctr"/>
                      <a:r>
                        <a:rPr sz="900" b="1" i="0">
                          <a:solidFill>
                            <a:srgbClr val="FFFFFF"/>
                          </a:solidFill>
                          <a:latin typeface="Arial"/>
                        </a:rPr>
                        <a:t>Return</a:t>
                      </a:r>
                    </a:p>
                  </a:txBody>
                  <a:tcPr marL="45720" marR="45720" marT="9144" marB="9144" anchor="ctr">
                    <a:lnL w="0">
                      <a:noFill/>
                    </a:lnL>
                    <a:lnR w="0">
                      <a:noFill/>
                    </a:lnR>
                    <a:lnT w="9525">
                      <a:solidFill>
                        <a:srgbClr val="000000"/>
                      </a:solidFill>
                    </a:lnT>
                    <a:lnB w="9525">
                      <a:solidFill>
                        <a:srgbClr val="000000"/>
                      </a:solidFill>
                    </a:lnB>
                    <a:solidFill>
                      <a:srgbClr val="404040"/>
                    </a:solidFill>
                  </a:tcPr>
                </a:tc>
                <a:tc>
                  <a:txBody>
                    <a:bodyPr wrap="square" lIns="36576" rIns="36576" tIns="36576" bIns="36576" anchor="t"/>
                    <a:lstStyle/>
                    <a:p>
                      <a:pPr algn="ctr"/>
                      <a:r>
                        <a:rPr sz="900" b="1" i="0">
                          <a:solidFill>
                            <a:srgbClr val="FFFFFF"/>
                          </a:solidFill>
                          <a:latin typeface="Arial"/>
                        </a:rPr>
                        <a:t>YTD</a:t>
                      </a:r>
                    </a:p>
                  </a:txBody>
                  <a:tcPr marL="45720" marR="45720" marT="9144" marB="9144" anchor="ctr">
                    <a:lnL w="0">
                      <a:noFill/>
                    </a:lnL>
                    <a:lnR w="0">
                      <a:noFill/>
                    </a:lnR>
                    <a:lnT w="9525">
                      <a:solidFill>
                        <a:srgbClr val="000000"/>
                      </a:solidFill>
                    </a:lnT>
                    <a:lnB w="9525">
                      <a:solidFill>
                        <a:srgbClr val="000000"/>
                      </a:solidFill>
                    </a:lnB>
                    <a:solidFill>
                      <a:srgbClr val="404040"/>
                    </a:solidFill>
                  </a:tcPr>
                </a:tc>
              </a:tr>
              <a:tr h="246888">
                <a:tc>
                  <a:txBody>
                    <a:bodyPr wrap="square" lIns="36576" rIns="36576" tIns="36576" bIns="36576" anchor="t"/>
                    <a:lstStyle/>
                    <a:p>
                      <a:pPr algn="l"/>
                      <a:r>
                        <a:rPr sz="900" b="0" i="0">
                          <a:solidFill>
                            <a:srgbClr val="000000"/>
                          </a:solidFill>
                          <a:latin typeface="Arial"/>
                        </a:rPr>
                        <a:t>Company A</a:t>
                      </a:r>
                    </a:p>
                  </a:txBody>
                  <a:tcPr marL="45720" marR="45720" marT="9144" marB="9144" anchor="ctr">
                    <a:lnL w="0">
                      <a:noFill/>
                    </a:lnL>
                    <a:lnR w="0">
                      <a:noFill/>
                    </a:lnR>
                    <a:lnT w="0">
                      <a:noFill/>
                    </a:lnT>
                    <a:lnB w="0">
                      <a:noFill/>
                    </a:lnB>
                    <a:noFill/>
                  </a:tcPr>
                </a:tc>
                <a:tc>
                  <a:txBody>
                    <a:bodyPr wrap="square" lIns="36576" rIns="36576" tIns="36576" bIns="36576" anchor="t"/>
                    <a:lstStyle/>
                    <a:p>
                      <a:pPr algn="l"/>
                      <a:r>
                        <a:rPr sz="900" b="0" i="0">
                          <a:solidFill>
                            <a:srgbClr val="000000"/>
                          </a:solidFill>
                          <a:latin typeface="Arial"/>
                        </a:rPr>
                        <a:t>Metals &amp; Mining</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+0.28pp</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391%</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-2%</a:t>
                      </a:r>
                    </a:p>
                  </a:txBody>
                  <a:tcPr marL="45720" marR="45720" marT="9144" marB="9144" anchor="ctr">
                    <a:lnL w="0">
                      <a:noFill/>
                    </a:lnL>
                    <a:lnR w="0">
                      <a:noFill/>
                    </a:lnR>
                    <a:lnT w="0">
                      <a:noFill/>
                    </a:lnT>
                    <a:lnB w="0">
                      <a:noFill/>
                    </a:lnB>
                    <a:noFill/>
                  </a:tcPr>
                </a:tc>
              </a:tr>
              <a:tr h="246888">
                <a:tc>
                  <a:txBody>
                    <a:bodyPr wrap="square" lIns="36576" rIns="36576" tIns="36576" bIns="36576" anchor="t"/>
                    <a:lstStyle/>
                    <a:p>
                      <a:pPr algn="l"/>
                      <a:r>
                        <a:rPr sz="900" b="0" i="0">
                          <a:solidFill>
                            <a:srgbClr val="000000"/>
                          </a:solidFill>
                          <a:latin typeface="Arial"/>
                        </a:rPr>
                        <a:t>Company B</a:t>
                      </a:r>
                    </a:p>
                  </a:txBody>
                  <a:tcPr marL="45720" marR="45720" marT="9144" marB="9144" anchor="ctr">
                    <a:lnL w="0">
                      <a:noFill/>
                    </a:lnL>
                    <a:lnR w="0">
                      <a:noFill/>
                    </a:lnR>
                    <a:lnT w="0">
                      <a:noFill/>
                    </a:lnT>
                    <a:lnB w="0">
                      <a:noFill/>
                    </a:lnB>
                    <a:noFill/>
                  </a:tcPr>
                </a:tc>
                <a:tc>
                  <a:txBody>
                    <a:bodyPr wrap="square" lIns="36576" rIns="36576" tIns="36576" bIns="36576" anchor="t"/>
                    <a:lstStyle/>
                    <a:p>
                      <a:pPr algn="l"/>
                      <a:r>
                        <a:rPr sz="900" b="0" i="0">
                          <a:solidFill>
                            <a:srgbClr val="000000"/>
                          </a:solidFill>
                          <a:latin typeface="Arial"/>
                        </a:rPr>
                        <a:t>Chemicals</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+0.22pp</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-12%</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-11%</a:t>
                      </a:r>
                    </a:p>
                  </a:txBody>
                  <a:tcPr marL="45720" marR="45720" marT="9144" marB="9144" anchor="ctr">
                    <a:lnL w="0">
                      <a:noFill/>
                    </a:lnL>
                    <a:lnR w="0">
                      <a:noFill/>
                    </a:lnR>
                    <a:lnT w="0">
                      <a:noFill/>
                    </a:lnT>
                    <a:lnB w="0">
                      <a:noFill/>
                    </a:lnB>
                    <a:noFill/>
                  </a:tcPr>
                </a:tc>
              </a:tr>
              <a:tr h="246888">
                <a:tc>
                  <a:txBody>
                    <a:bodyPr wrap="square" lIns="36576" rIns="36576" tIns="36576" bIns="36576" anchor="t"/>
                    <a:lstStyle/>
                    <a:p>
                      <a:pPr algn="l"/>
                      <a:r>
                        <a:rPr sz="900" b="0" i="0">
                          <a:solidFill>
                            <a:srgbClr val="000000"/>
                          </a:solidFill>
                          <a:latin typeface="Arial"/>
                        </a:rPr>
                        <a:t>Company C</a:t>
                      </a:r>
                    </a:p>
                  </a:txBody>
                  <a:tcPr marL="45720" marR="45720" marT="9144" marB="9144" anchor="ctr">
                    <a:lnL w="0">
                      <a:noFill/>
                    </a:lnL>
                    <a:lnR w="0">
                      <a:noFill/>
                    </a:lnR>
                    <a:lnT w="0">
                      <a:noFill/>
                    </a:lnT>
                    <a:lnB w="0">
                      <a:noFill/>
                    </a:lnB>
                    <a:noFill/>
                  </a:tcPr>
                </a:tc>
                <a:tc>
                  <a:txBody>
                    <a:bodyPr wrap="square" lIns="36576" rIns="36576" tIns="36576" bIns="36576" anchor="t"/>
                    <a:lstStyle/>
                    <a:p>
                      <a:pPr algn="l"/>
                      <a:r>
                        <a:rPr sz="900" b="0" i="0">
                          <a:solidFill>
                            <a:srgbClr val="000000"/>
                          </a:solidFill>
                          <a:latin typeface="Arial"/>
                        </a:rPr>
                        <a:t>Chemicals</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+0.20pp</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397%</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132%</a:t>
                      </a:r>
                    </a:p>
                  </a:txBody>
                  <a:tcPr marL="45720" marR="45720" marT="9144" marB="9144" anchor="ctr">
                    <a:lnL w="0">
                      <a:noFill/>
                    </a:lnL>
                    <a:lnR w="0">
                      <a:noFill/>
                    </a:lnR>
                    <a:lnT w="0">
                      <a:noFill/>
                    </a:lnT>
                    <a:lnB w="0">
                      <a:noFill/>
                    </a:lnB>
                    <a:noFill/>
                  </a:tcPr>
                </a:tc>
              </a:tr>
              <a:tr h="246888">
                <a:tc>
                  <a:txBody>
                    <a:bodyPr wrap="square" lIns="36576" rIns="36576" tIns="36576" bIns="36576" anchor="t"/>
                    <a:lstStyle/>
                    <a:p>
                      <a:pPr algn="l"/>
                      <a:r>
                        <a:rPr sz="900" b="0" i="0">
                          <a:solidFill>
                            <a:srgbClr val="000000"/>
                          </a:solidFill>
                          <a:latin typeface="Arial"/>
                        </a:rPr>
                        <a:t>Company D</a:t>
                      </a:r>
                    </a:p>
                  </a:txBody>
                  <a:tcPr marL="45720" marR="45720" marT="9144" marB="9144" anchor="ctr">
                    <a:lnL w="0">
                      <a:noFill/>
                    </a:lnL>
                    <a:lnR w="0">
                      <a:noFill/>
                    </a:lnR>
                    <a:lnT w="0">
                      <a:noFill/>
                    </a:lnT>
                    <a:lnB w="0">
                      <a:noFill/>
                    </a:lnB>
                    <a:noFill/>
                  </a:tcPr>
                </a:tc>
                <a:tc>
                  <a:txBody>
                    <a:bodyPr wrap="square" lIns="36576" rIns="36576" tIns="36576" bIns="36576" anchor="t"/>
                    <a:lstStyle/>
                    <a:p>
                      <a:pPr algn="l"/>
                      <a:r>
                        <a:rPr sz="900" b="0" i="0">
                          <a:solidFill>
                            <a:srgbClr val="000000"/>
                          </a:solidFill>
                          <a:latin typeface="Arial"/>
                        </a:rPr>
                        <a:t>Metals &amp; Mining</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+0.16pp</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388%</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35%</a:t>
                      </a:r>
                    </a:p>
                  </a:txBody>
                  <a:tcPr marL="45720" marR="45720" marT="9144" marB="9144" anchor="ctr">
                    <a:lnL w="0">
                      <a:noFill/>
                    </a:lnL>
                    <a:lnR w="0">
                      <a:noFill/>
                    </a:lnR>
                    <a:lnT w="0">
                      <a:noFill/>
                    </a:lnT>
                    <a:lnB w="0">
                      <a:noFill/>
                    </a:lnB>
                    <a:noFill/>
                  </a:tcPr>
                </a:tc>
              </a:tr>
              <a:tr h="246888">
                <a:tc>
                  <a:txBody>
                    <a:bodyPr wrap="square" lIns="36576" rIns="36576" tIns="36576" bIns="36576" anchor="t"/>
                    <a:lstStyle/>
                    <a:p>
                      <a:pPr algn="l"/>
                      <a:r>
                        <a:rPr sz="900" b="0" i="0">
                          <a:solidFill>
                            <a:srgbClr val="000000"/>
                          </a:solidFill>
                          <a:latin typeface="Arial"/>
                        </a:rPr>
                        <a:t>Company E</a:t>
                      </a:r>
                    </a:p>
                  </a:txBody>
                  <a:tcPr marL="45720" marR="45720" marT="9144" marB="9144" anchor="ctr">
                    <a:lnL w="0">
                      <a:noFill/>
                    </a:lnL>
                    <a:lnR w="0">
                      <a:noFill/>
                    </a:lnR>
                    <a:lnT w="0">
                      <a:noFill/>
                    </a:lnT>
                    <a:lnB w="9525">
                      <a:solidFill>
                        <a:srgbClr val="000000"/>
                      </a:solidFill>
                    </a:lnB>
                    <a:noFill/>
                  </a:tcPr>
                </a:tc>
                <a:tc>
                  <a:txBody>
                    <a:bodyPr wrap="square" lIns="36576" rIns="36576" tIns="36576" bIns="36576" anchor="t"/>
                    <a:lstStyle/>
                    <a:p>
                      <a:pPr algn="l"/>
                      <a:r>
                        <a:rPr sz="900" b="0" i="0">
                          <a:solidFill>
                            <a:srgbClr val="000000"/>
                          </a:solidFill>
                          <a:latin typeface="Arial"/>
                        </a:rPr>
                        <a:t>Construction Mat.</a:t>
                      </a:r>
                    </a:p>
                  </a:txBody>
                  <a:tcPr marL="45720" marR="45720" marT="9144" marB="9144" anchor="ctr">
                    <a:lnL w="0">
                      <a:noFill/>
                    </a:lnL>
                    <a:lnR w="0">
                      <a:noFill/>
                    </a:lnR>
                    <a:lnT w="0">
                      <a:noFill/>
                    </a:lnT>
                    <a:lnB w="9525">
                      <a:solidFill>
                        <a:srgbClr val="000000"/>
                      </a:solidFill>
                    </a:lnB>
                    <a:noFill/>
                  </a:tcPr>
                </a:tc>
                <a:tc>
                  <a:txBody>
                    <a:bodyPr wrap="square" lIns="36576" rIns="36576" tIns="36576" bIns="36576" anchor="t"/>
                    <a:lstStyle/>
                    <a:p>
                      <a:pPr algn="r"/>
                      <a:r>
                        <a:rPr sz="900" b="0" i="0">
                          <a:solidFill>
                            <a:srgbClr val="000000"/>
                          </a:solidFill>
                          <a:latin typeface="Arial"/>
                        </a:rPr>
                        <a:t>-0.38pp</a:t>
                      </a:r>
                    </a:p>
                  </a:txBody>
                  <a:tcPr marL="45720" marR="45720" marT="9144" marB="9144" anchor="ctr">
                    <a:lnL w="0">
                      <a:noFill/>
                    </a:lnL>
                    <a:lnR w="0">
                      <a:noFill/>
                    </a:lnR>
                    <a:lnT w="0">
                      <a:noFill/>
                    </a:lnT>
                    <a:lnB w="9525">
                      <a:solidFill>
                        <a:srgbClr val="000000"/>
                      </a:solidFill>
                    </a:lnB>
                    <a:noFill/>
                  </a:tcPr>
                </a:tc>
                <a:tc>
                  <a:txBody>
                    <a:bodyPr wrap="square" lIns="36576" rIns="36576" tIns="36576" bIns="36576" anchor="t"/>
                    <a:lstStyle/>
                    <a:p>
                      <a:pPr algn="r"/>
                      <a:r>
                        <a:rPr sz="900" b="0" i="0">
                          <a:solidFill>
                            <a:srgbClr val="000000"/>
                          </a:solidFill>
                          <a:latin typeface="Arial"/>
                        </a:rPr>
                        <a:t>-69%</a:t>
                      </a:r>
                    </a:p>
                  </a:txBody>
                  <a:tcPr marL="45720" marR="45720" marT="9144" marB="9144" anchor="ctr">
                    <a:lnL w="0">
                      <a:noFill/>
                    </a:lnL>
                    <a:lnR w="0">
                      <a:noFill/>
                    </a:lnR>
                    <a:lnT w="0">
                      <a:noFill/>
                    </a:lnT>
                    <a:lnB w="9525">
                      <a:solidFill>
                        <a:srgbClr val="000000"/>
                      </a:solidFill>
                    </a:lnB>
                    <a:noFill/>
                  </a:tcPr>
                </a:tc>
                <a:tc>
                  <a:txBody>
                    <a:bodyPr wrap="square" lIns="36576" rIns="36576" tIns="36576" bIns="36576" anchor="t"/>
                    <a:lstStyle/>
                    <a:p>
                      <a:pPr algn="r"/>
                      <a:r>
                        <a:rPr sz="900" b="0" i="0">
                          <a:solidFill>
                            <a:srgbClr val="000000"/>
                          </a:solidFill>
                          <a:latin typeface="Arial"/>
                        </a:rPr>
                        <a:t>-24%</a:t>
                      </a:r>
                    </a:p>
                  </a:txBody>
                  <a:tcPr marL="45720" marR="45720" marT="9144" marB="9144" anchor="ctr">
                    <a:lnL w="0">
                      <a:noFill/>
                    </a:lnL>
                    <a:lnR w="0">
                      <a:noFill/>
                    </a:lnR>
                    <a:lnT w="0">
                      <a:noFill/>
                    </a:lnT>
                    <a:lnB w="9525">
                      <a:solidFill>
                        <a:srgbClr val="000000"/>
                      </a:solidFill>
                    </a:lnB>
                    <a:noFill/>
                  </a:tcPr>
                </a:tc>
              </a:tr>
            </a:tbl>
          </a:graphicData>
        </a:graphic>
      </p:graphicFrame>
      <p:sp>
        <p:nvSpPr>
          <p:cNvPr id="12" name="TextBox 11"/>
          <p:cNvSpPr txBox="1"/>
          <p:nvPr/>
        </p:nvSpPr>
        <p:spPr>
          <a:xfrm>
            <a:off x="6205118" y="1856231"/>
            <a:ext cx="5441594" cy="219456"/>
          </a:xfrm>
          <a:prstGeom prst="rect">
            <a:avLst/>
          </a:prstGeom>
          <a:noFill/>
        </p:spPr>
        <p:txBody>
          <a:bodyPr wrap="square" lIns="0" rIns="0" tIns="0" bIns="0" anchor="t"/>
          <a:lstStyle/>
          <a:p>
            <a:pPr algn="l"/>
            <a:r>
              <a:rPr sz="1200" b="1" i="0">
                <a:solidFill>
                  <a:srgbClr val="000000"/>
                </a:solidFill>
                <a:latin typeface="Arial"/>
              </a:rPr>
              <a:t>Peers' largest contributors</a:t>
            </a:r>
          </a:p>
        </p:txBody>
      </p:sp>
      <p:graphicFrame>
        <p:nvGraphicFramePr>
          <p:cNvPr id="13" name="Table 12"/>
          <p:cNvGraphicFramePr>
            <a:graphicFrameLocks noGrp="1"/>
          </p:cNvGraphicFramePr>
          <p:nvPr/>
        </p:nvGraphicFramePr>
        <p:xfrm>
          <a:off x="6205118" y="2103120"/>
          <a:ext cx="5441593" cy="1481328"/>
        </p:xfrm>
        <a:graphic>
          <a:graphicData uri="http://schemas.openxmlformats.org/drawingml/2006/table">
            <a:tbl>
              <a:tblPr firstRow="0" bandRow="0">
                <a:tableStyleId>{2D5ABB26-0587-4C30-8999-92F81FD0307C}</a:tableStyleId>
              </a:tblPr>
              <a:tblGrid>
                <a:gridCol w="1523646"/>
                <a:gridCol w="1632478"/>
                <a:gridCol w="761823"/>
                <a:gridCol w="761823"/>
                <a:gridCol w="761823"/>
              </a:tblGrid>
              <a:tr h="246888">
                <a:tc>
                  <a:txBody>
                    <a:bodyPr wrap="square" lIns="36576" rIns="36576" tIns="36576" bIns="36576" anchor="t"/>
                    <a:lstStyle/>
                    <a:p>
                      <a:pPr algn="l"/>
                      <a:r>
                        <a:rPr sz="900" b="1" i="0">
                          <a:solidFill>
                            <a:srgbClr val="FFFFFF"/>
                          </a:solidFill>
                          <a:latin typeface="Arial"/>
                        </a:rPr>
                        <a:t>Name</a:t>
                      </a:r>
                    </a:p>
                  </a:txBody>
                  <a:tcPr marL="45720" marR="45720" marT="9144" marB="9144" anchor="ctr">
                    <a:lnL w="0">
                      <a:noFill/>
                    </a:lnL>
                    <a:lnR w="0">
                      <a:noFill/>
                    </a:lnR>
                    <a:lnT w="9525">
                      <a:solidFill>
                        <a:srgbClr val="000000"/>
                      </a:solidFill>
                    </a:lnT>
                    <a:lnB w="9525">
                      <a:solidFill>
                        <a:srgbClr val="000000"/>
                      </a:solidFill>
                    </a:lnB>
                    <a:solidFill>
                      <a:srgbClr val="404040"/>
                    </a:solidFill>
                  </a:tcPr>
                </a:tc>
                <a:tc>
                  <a:txBody>
                    <a:bodyPr wrap="square" lIns="36576" rIns="36576" tIns="36576" bIns="36576" anchor="t"/>
                    <a:lstStyle/>
                    <a:p>
                      <a:pPr algn="l"/>
                      <a:r>
                        <a:rPr sz="900" b="1" i="0">
                          <a:solidFill>
                            <a:srgbClr val="FFFFFF"/>
                          </a:solidFill>
                          <a:latin typeface="Arial"/>
                        </a:rPr>
                        <a:t>Industry</a:t>
                      </a:r>
                    </a:p>
                  </a:txBody>
                  <a:tcPr marL="45720" marR="45720" marT="9144" marB="9144" anchor="ctr">
                    <a:lnL w="0">
                      <a:noFill/>
                    </a:lnL>
                    <a:lnR w="0">
                      <a:noFill/>
                    </a:lnR>
                    <a:lnT w="9525">
                      <a:solidFill>
                        <a:srgbClr val="000000"/>
                      </a:solidFill>
                    </a:lnT>
                    <a:lnB w="9525">
                      <a:solidFill>
                        <a:srgbClr val="000000"/>
                      </a:solidFill>
                    </a:lnB>
                    <a:solidFill>
                      <a:srgbClr val="404040"/>
                    </a:solidFill>
                  </a:tcPr>
                </a:tc>
                <a:tc>
                  <a:txBody>
                    <a:bodyPr wrap="square" lIns="36576" rIns="36576" tIns="36576" bIns="36576" anchor="t"/>
                    <a:lstStyle/>
                    <a:p>
                      <a:pPr algn="ctr"/>
                      <a:r>
                        <a:rPr sz="900" b="1" i="0">
                          <a:solidFill>
                            <a:srgbClr val="FFFFFF"/>
                          </a:solidFill>
                          <a:latin typeface="Arial"/>
                        </a:rPr>
                        <a:t>Contrib.</a:t>
                      </a:r>
                    </a:p>
                  </a:txBody>
                  <a:tcPr marL="45720" marR="45720" marT="9144" marB="9144" anchor="ctr">
                    <a:lnL w="0">
                      <a:noFill/>
                    </a:lnL>
                    <a:lnR w="0">
                      <a:noFill/>
                    </a:lnR>
                    <a:lnT w="9525">
                      <a:solidFill>
                        <a:srgbClr val="000000"/>
                      </a:solidFill>
                    </a:lnT>
                    <a:lnB w="9525">
                      <a:solidFill>
                        <a:srgbClr val="000000"/>
                      </a:solidFill>
                    </a:lnB>
                    <a:solidFill>
                      <a:srgbClr val="404040"/>
                    </a:solidFill>
                  </a:tcPr>
                </a:tc>
                <a:tc>
                  <a:txBody>
                    <a:bodyPr wrap="square" lIns="36576" rIns="36576" tIns="36576" bIns="36576" anchor="t"/>
                    <a:lstStyle/>
                    <a:p>
                      <a:pPr algn="ctr"/>
                      <a:r>
                        <a:rPr sz="900" b="1" i="0">
                          <a:solidFill>
                            <a:srgbClr val="FFFFFF"/>
                          </a:solidFill>
                          <a:latin typeface="Arial"/>
                        </a:rPr>
                        <a:t>Return</a:t>
                      </a:r>
                    </a:p>
                  </a:txBody>
                  <a:tcPr marL="45720" marR="45720" marT="9144" marB="9144" anchor="ctr">
                    <a:lnL w="0">
                      <a:noFill/>
                    </a:lnL>
                    <a:lnR w="0">
                      <a:noFill/>
                    </a:lnR>
                    <a:lnT w="9525">
                      <a:solidFill>
                        <a:srgbClr val="000000"/>
                      </a:solidFill>
                    </a:lnT>
                    <a:lnB w="9525">
                      <a:solidFill>
                        <a:srgbClr val="000000"/>
                      </a:solidFill>
                    </a:lnB>
                    <a:solidFill>
                      <a:srgbClr val="404040"/>
                    </a:solidFill>
                  </a:tcPr>
                </a:tc>
                <a:tc>
                  <a:txBody>
                    <a:bodyPr wrap="square" lIns="36576" rIns="36576" tIns="36576" bIns="36576" anchor="t"/>
                    <a:lstStyle/>
                    <a:p>
                      <a:pPr algn="ctr"/>
                      <a:r>
                        <a:rPr sz="900" b="1" i="0">
                          <a:solidFill>
                            <a:srgbClr val="FFFFFF"/>
                          </a:solidFill>
                          <a:latin typeface="Arial"/>
                        </a:rPr>
                        <a:t>YTD</a:t>
                      </a:r>
                    </a:p>
                  </a:txBody>
                  <a:tcPr marL="45720" marR="45720" marT="9144" marB="9144" anchor="ctr">
                    <a:lnL w="0">
                      <a:noFill/>
                    </a:lnL>
                    <a:lnR w="0">
                      <a:noFill/>
                    </a:lnR>
                    <a:lnT w="9525">
                      <a:solidFill>
                        <a:srgbClr val="000000"/>
                      </a:solidFill>
                    </a:lnT>
                    <a:lnB w="9525">
                      <a:solidFill>
                        <a:srgbClr val="000000"/>
                      </a:solidFill>
                    </a:lnB>
                    <a:solidFill>
                      <a:srgbClr val="404040"/>
                    </a:solidFill>
                  </a:tcPr>
                </a:tc>
              </a:tr>
              <a:tr h="246888">
                <a:tc>
                  <a:txBody>
                    <a:bodyPr wrap="square" lIns="36576" rIns="36576" tIns="36576" bIns="36576" anchor="t"/>
                    <a:lstStyle/>
                    <a:p>
                      <a:pPr algn="l"/>
                      <a:r>
                        <a:rPr sz="900" b="0" i="0">
                          <a:solidFill>
                            <a:srgbClr val="000000"/>
                          </a:solidFill>
                          <a:latin typeface="Arial"/>
                        </a:rPr>
                        <a:t>Company A</a:t>
                      </a:r>
                    </a:p>
                  </a:txBody>
                  <a:tcPr marL="45720" marR="45720" marT="9144" marB="9144" anchor="ctr">
                    <a:lnL w="0">
                      <a:noFill/>
                    </a:lnL>
                    <a:lnR w="0">
                      <a:noFill/>
                    </a:lnR>
                    <a:lnT w="0">
                      <a:noFill/>
                    </a:lnT>
                    <a:lnB w="0">
                      <a:noFill/>
                    </a:lnB>
                    <a:noFill/>
                  </a:tcPr>
                </a:tc>
                <a:tc>
                  <a:txBody>
                    <a:bodyPr wrap="square" lIns="36576" rIns="36576" tIns="36576" bIns="36576" anchor="t"/>
                    <a:lstStyle/>
                    <a:p>
                      <a:pPr algn="l"/>
                      <a:r>
                        <a:rPr sz="900" b="0" i="0">
                          <a:solidFill>
                            <a:srgbClr val="000000"/>
                          </a:solidFill>
                          <a:latin typeface="Arial"/>
                        </a:rPr>
                        <a:t>Metals &amp; Mining</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+0.28pp</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391%</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-2%</a:t>
                      </a:r>
                    </a:p>
                  </a:txBody>
                  <a:tcPr marL="45720" marR="45720" marT="9144" marB="9144" anchor="ctr">
                    <a:lnL w="0">
                      <a:noFill/>
                    </a:lnL>
                    <a:lnR w="0">
                      <a:noFill/>
                    </a:lnR>
                    <a:lnT w="0">
                      <a:noFill/>
                    </a:lnT>
                    <a:lnB w="0">
                      <a:noFill/>
                    </a:lnB>
                    <a:noFill/>
                  </a:tcPr>
                </a:tc>
              </a:tr>
              <a:tr h="246888">
                <a:tc>
                  <a:txBody>
                    <a:bodyPr wrap="square" lIns="36576" rIns="36576" tIns="36576" bIns="36576" anchor="t"/>
                    <a:lstStyle/>
                    <a:p>
                      <a:pPr algn="l"/>
                      <a:r>
                        <a:rPr sz="900" b="0" i="0">
                          <a:solidFill>
                            <a:srgbClr val="000000"/>
                          </a:solidFill>
                          <a:latin typeface="Arial"/>
                        </a:rPr>
                        <a:t>Company B</a:t>
                      </a:r>
                    </a:p>
                  </a:txBody>
                  <a:tcPr marL="45720" marR="45720" marT="9144" marB="9144" anchor="ctr">
                    <a:lnL w="0">
                      <a:noFill/>
                    </a:lnL>
                    <a:lnR w="0">
                      <a:noFill/>
                    </a:lnR>
                    <a:lnT w="0">
                      <a:noFill/>
                    </a:lnT>
                    <a:lnB w="0">
                      <a:noFill/>
                    </a:lnB>
                    <a:noFill/>
                  </a:tcPr>
                </a:tc>
                <a:tc>
                  <a:txBody>
                    <a:bodyPr wrap="square" lIns="36576" rIns="36576" tIns="36576" bIns="36576" anchor="t"/>
                    <a:lstStyle/>
                    <a:p>
                      <a:pPr algn="l"/>
                      <a:r>
                        <a:rPr sz="900" b="0" i="0">
                          <a:solidFill>
                            <a:srgbClr val="000000"/>
                          </a:solidFill>
                          <a:latin typeface="Arial"/>
                        </a:rPr>
                        <a:t>Chemicals</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+0.22pp</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-12%</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-11%</a:t>
                      </a:r>
                    </a:p>
                  </a:txBody>
                  <a:tcPr marL="45720" marR="45720" marT="9144" marB="9144" anchor="ctr">
                    <a:lnL w="0">
                      <a:noFill/>
                    </a:lnL>
                    <a:lnR w="0">
                      <a:noFill/>
                    </a:lnR>
                    <a:lnT w="0">
                      <a:noFill/>
                    </a:lnT>
                    <a:lnB w="0">
                      <a:noFill/>
                    </a:lnB>
                    <a:noFill/>
                  </a:tcPr>
                </a:tc>
              </a:tr>
              <a:tr h="246888">
                <a:tc>
                  <a:txBody>
                    <a:bodyPr wrap="square" lIns="36576" rIns="36576" tIns="36576" bIns="36576" anchor="t"/>
                    <a:lstStyle/>
                    <a:p>
                      <a:pPr algn="l"/>
                      <a:r>
                        <a:rPr sz="900" b="0" i="0">
                          <a:solidFill>
                            <a:srgbClr val="000000"/>
                          </a:solidFill>
                          <a:latin typeface="Arial"/>
                        </a:rPr>
                        <a:t>Company C</a:t>
                      </a:r>
                    </a:p>
                  </a:txBody>
                  <a:tcPr marL="45720" marR="45720" marT="9144" marB="9144" anchor="ctr">
                    <a:lnL w="0">
                      <a:noFill/>
                    </a:lnL>
                    <a:lnR w="0">
                      <a:noFill/>
                    </a:lnR>
                    <a:lnT w="0">
                      <a:noFill/>
                    </a:lnT>
                    <a:lnB w="0">
                      <a:noFill/>
                    </a:lnB>
                    <a:noFill/>
                  </a:tcPr>
                </a:tc>
                <a:tc>
                  <a:txBody>
                    <a:bodyPr wrap="square" lIns="36576" rIns="36576" tIns="36576" bIns="36576" anchor="t"/>
                    <a:lstStyle/>
                    <a:p>
                      <a:pPr algn="l"/>
                      <a:r>
                        <a:rPr sz="900" b="0" i="0">
                          <a:solidFill>
                            <a:srgbClr val="000000"/>
                          </a:solidFill>
                          <a:latin typeface="Arial"/>
                        </a:rPr>
                        <a:t>Chemicals</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+0.20pp</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397%</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132%</a:t>
                      </a:r>
                    </a:p>
                  </a:txBody>
                  <a:tcPr marL="45720" marR="45720" marT="9144" marB="9144" anchor="ctr">
                    <a:lnL w="0">
                      <a:noFill/>
                    </a:lnL>
                    <a:lnR w="0">
                      <a:noFill/>
                    </a:lnR>
                    <a:lnT w="0">
                      <a:noFill/>
                    </a:lnT>
                    <a:lnB w="0">
                      <a:noFill/>
                    </a:lnB>
                    <a:noFill/>
                  </a:tcPr>
                </a:tc>
              </a:tr>
              <a:tr h="246888">
                <a:tc>
                  <a:txBody>
                    <a:bodyPr wrap="square" lIns="36576" rIns="36576" tIns="36576" bIns="36576" anchor="t"/>
                    <a:lstStyle/>
                    <a:p>
                      <a:pPr algn="l"/>
                      <a:r>
                        <a:rPr sz="900" b="0" i="0">
                          <a:solidFill>
                            <a:srgbClr val="000000"/>
                          </a:solidFill>
                          <a:latin typeface="Arial"/>
                        </a:rPr>
                        <a:t>Company D</a:t>
                      </a:r>
                    </a:p>
                  </a:txBody>
                  <a:tcPr marL="45720" marR="45720" marT="9144" marB="9144" anchor="ctr">
                    <a:lnL w="0">
                      <a:noFill/>
                    </a:lnL>
                    <a:lnR w="0">
                      <a:noFill/>
                    </a:lnR>
                    <a:lnT w="0">
                      <a:noFill/>
                    </a:lnT>
                    <a:lnB w="0">
                      <a:noFill/>
                    </a:lnB>
                    <a:noFill/>
                  </a:tcPr>
                </a:tc>
                <a:tc>
                  <a:txBody>
                    <a:bodyPr wrap="square" lIns="36576" rIns="36576" tIns="36576" bIns="36576" anchor="t"/>
                    <a:lstStyle/>
                    <a:p>
                      <a:pPr algn="l"/>
                      <a:r>
                        <a:rPr sz="900" b="0" i="0">
                          <a:solidFill>
                            <a:srgbClr val="000000"/>
                          </a:solidFill>
                          <a:latin typeface="Arial"/>
                        </a:rPr>
                        <a:t>Metals &amp; Mining</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+0.16pp</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388%</a:t>
                      </a:r>
                    </a:p>
                  </a:txBody>
                  <a:tcPr marL="45720" marR="45720" marT="9144" marB="9144" anchor="ctr">
                    <a:lnL w="0">
                      <a:noFill/>
                    </a:lnL>
                    <a:lnR w="0">
                      <a:noFill/>
                    </a:lnR>
                    <a:lnT w="0">
                      <a:noFill/>
                    </a:lnT>
                    <a:lnB w="0">
                      <a:noFill/>
                    </a:lnB>
                    <a:noFill/>
                  </a:tcPr>
                </a:tc>
                <a:tc>
                  <a:txBody>
                    <a:bodyPr wrap="square" lIns="36576" rIns="36576" tIns="36576" bIns="36576" anchor="t"/>
                    <a:lstStyle/>
                    <a:p>
                      <a:pPr algn="r"/>
                      <a:r>
                        <a:rPr sz="900" b="0" i="0">
                          <a:solidFill>
                            <a:srgbClr val="000000"/>
                          </a:solidFill>
                          <a:latin typeface="Arial"/>
                        </a:rPr>
                        <a:t>35%</a:t>
                      </a:r>
                    </a:p>
                  </a:txBody>
                  <a:tcPr marL="45720" marR="45720" marT="9144" marB="9144" anchor="ctr">
                    <a:lnL w="0">
                      <a:noFill/>
                    </a:lnL>
                    <a:lnR w="0">
                      <a:noFill/>
                    </a:lnR>
                    <a:lnT w="0">
                      <a:noFill/>
                    </a:lnT>
                    <a:lnB w="0">
                      <a:noFill/>
                    </a:lnB>
                    <a:noFill/>
                  </a:tcPr>
                </a:tc>
              </a:tr>
              <a:tr h="246888">
                <a:tc>
                  <a:txBody>
                    <a:bodyPr wrap="square" lIns="36576" rIns="36576" tIns="36576" bIns="36576" anchor="t"/>
                    <a:lstStyle/>
                    <a:p>
                      <a:pPr algn="l"/>
                      <a:r>
                        <a:rPr sz="900" b="0" i="0">
                          <a:solidFill>
                            <a:srgbClr val="000000"/>
                          </a:solidFill>
                          <a:latin typeface="Arial"/>
                        </a:rPr>
                        <a:t>Company E</a:t>
                      </a:r>
                    </a:p>
                  </a:txBody>
                  <a:tcPr marL="45720" marR="45720" marT="9144" marB="9144" anchor="ctr">
                    <a:lnL w="0">
                      <a:noFill/>
                    </a:lnL>
                    <a:lnR w="0">
                      <a:noFill/>
                    </a:lnR>
                    <a:lnT w="0">
                      <a:noFill/>
                    </a:lnT>
                    <a:lnB w="9525">
                      <a:solidFill>
                        <a:srgbClr val="000000"/>
                      </a:solidFill>
                    </a:lnB>
                    <a:noFill/>
                  </a:tcPr>
                </a:tc>
                <a:tc>
                  <a:txBody>
                    <a:bodyPr wrap="square" lIns="36576" rIns="36576" tIns="36576" bIns="36576" anchor="t"/>
                    <a:lstStyle/>
                    <a:p>
                      <a:pPr algn="l"/>
                      <a:r>
                        <a:rPr sz="900" b="0" i="0">
                          <a:solidFill>
                            <a:srgbClr val="000000"/>
                          </a:solidFill>
                          <a:latin typeface="Arial"/>
                        </a:rPr>
                        <a:t>Construction Mat.</a:t>
                      </a:r>
                    </a:p>
                  </a:txBody>
                  <a:tcPr marL="45720" marR="45720" marT="9144" marB="9144" anchor="ctr">
                    <a:lnL w="0">
                      <a:noFill/>
                    </a:lnL>
                    <a:lnR w="0">
                      <a:noFill/>
                    </a:lnR>
                    <a:lnT w="0">
                      <a:noFill/>
                    </a:lnT>
                    <a:lnB w="9525">
                      <a:solidFill>
                        <a:srgbClr val="000000"/>
                      </a:solidFill>
                    </a:lnB>
                    <a:noFill/>
                  </a:tcPr>
                </a:tc>
                <a:tc>
                  <a:txBody>
                    <a:bodyPr wrap="square" lIns="36576" rIns="36576" tIns="36576" bIns="36576" anchor="t"/>
                    <a:lstStyle/>
                    <a:p>
                      <a:pPr algn="r"/>
                      <a:r>
                        <a:rPr sz="900" b="0" i="0">
                          <a:solidFill>
                            <a:srgbClr val="000000"/>
                          </a:solidFill>
                          <a:latin typeface="Arial"/>
                        </a:rPr>
                        <a:t>-0.38pp</a:t>
                      </a:r>
                    </a:p>
                  </a:txBody>
                  <a:tcPr marL="45720" marR="45720" marT="9144" marB="9144" anchor="ctr">
                    <a:lnL w="0">
                      <a:noFill/>
                    </a:lnL>
                    <a:lnR w="0">
                      <a:noFill/>
                    </a:lnR>
                    <a:lnT w="0">
                      <a:noFill/>
                    </a:lnT>
                    <a:lnB w="9525">
                      <a:solidFill>
                        <a:srgbClr val="000000"/>
                      </a:solidFill>
                    </a:lnB>
                    <a:noFill/>
                  </a:tcPr>
                </a:tc>
                <a:tc>
                  <a:txBody>
                    <a:bodyPr wrap="square" lIns="36576" rIns="36576" tIns="36576" bIns="36576" anchor="t"/>
                    <a:lstStyle/>
                    <a:p>
                      <a:pPr algn="r"/>
                      <a:r>
                        <a:rPr sz="900" b="0" i="0">
                          <a:solidFill>
                            <a:srgbClr val="000000"/>
                          </a:solidFill>
                          <a:latin typeface="Arial"/>
                        </a:rPr>
                        <a:t>-69%</a:t>
                      </a:r>
                    </a:p>
                  </a:txBody>
                  <a:tcPr marL="45720" marR="45720" marT="9144" marB="9144" anchor="ctr">
                    <a:lnL w="0">
                      <a:noFill/>
                    </a:lnL>
                    <a:lnR w="0">
                      <a:noFill/>
                    </a:lnR>
                    <a:lnT w="0">
                      <a:noFill/>
                    </a:lnT>
                    <a:lnB w="9525">
                      <a:solidFill>
                        <a:srgbClr val="000000"/>
                      </a:solidFill>
                    </a:lnB>
                    <a:noFill/>
                  </a:tcPr>
                </a:tc>
                <a:tc>
                  <a:txBody>
                    <a:bodyPr wrap="square" lIns="36576" rIns="36576" tIns="36576" bIns="36576" anchor="t"/>
                    <a:lstStyle/>
                    <a:p>
                      <a:pPr algn="r"/>
                      <a:r>
                        <a:rPr sz="900" b="0" i="0">
                          <a:solidFill>
                            <a:srgbClr val="000000"/>
                          </a:solidFill>
                          <a:latin typeface="Arial"/>
                        </a:rPr>
                        <a:t>-24%</a:t>
                      </a:r>
                    </a:p>
                  </a:txBody>
                  <a:tcPr marL="45720" marR="45720" marT="9144" marB="9144" anchor="ctr">
                    <a:lnL w="0">
                      <a:noFill/>
                    </a:lnL>
                    <a:lnR w="0">
                      <a:noFill/>
                    </a:lnR>
                    <a:lnT w="0">
                      <a:noFill/>
                    </a:lnT>
                    <a:lnB w="9525">
                      <a:solidFill>
                        <a:srgbClr val="000000"/>
                      </a:solidFill>
                    </a:lnB>
                    <a:noFill/>
                  </a:tcPr>
                </a:tc>
              </a:tr>
            </a:tbl>
          </a:graphicData>
        </a:graphic>
      </p:graphicFrame>
      <p:sp>
        <p:nvSpPr>
          <p:cNvPr id="14" name="Rectangle 13"/>
          <p:cNvSpPr/>
          <p:nvPr/>
        </p:nvSpPr>
        <p:spPr>
          <a:xfrm>
            <a:off x="525780" y="4709160"/>
            <a:ext cx="11248948" cy="457200"/>
          </a:xfrm>
          <a:prstGeom prst="rect">
            <a:avLst/>
          </a:prstGeom>
          <a:noFill/>
          <a:ln w="6350">
            <a:solidFill>
              <a:srgbClr val="000000"/>
            </a:solidFill>
          </a:ln>
        </p:spPr>
        <p:txBody>
          <a:bodyPr rtlCol="0" anchor="ctr" wrap="square" lIns="54864" rIns="54864" tIns="36576" bIns="36576"/>
          <a:lstStyle/>
          <a:p>
            <a:pPr algn="l" marL="155448" indent="-146304">
              <a:spcBef>
                <a:spcPts val="400"/>
              </a:spcBef>
              <a:buFont typeface="Arial"/>
              <a:buChar char="•"/>
            </a:pPr>
            <a:r>
              <a:rPr sz="900" b="1" i="0">
                <a:solidFill>
                  <a:srgbClr val="242852"/>
                </a:solidFill>
                <a:latin typeface="Arial"/>
              </a:rPr>
              <a:t>Allocation vs selection:</a:t>
            </a:r>
            <a:r>
              <a:rPr sz="900" b="0" i="0">
                <a:solidFill>
                  <a:srgbClr val="000000"/>
                </a:solidFill>
                <a:latin typeface="Arial"/>
              </a:rPr>
              <a:t> allocation -0.7pp, selection -2.3pp; fund held 6.8% vs 15.8%.</a:t>
            </a:r>
          </a:p>
          <a:p>
            <a:pPr algn="l" marL="155448" indent="-146304">
              <a:spcBef>
                <a:spcPts val="400"/>
              </a:spcBef>
              <a:buFont typeface="Arial"/>
              <a:buChar char="•"/>
            </a:pPr>
            <a:r>
              <a:rPr sz="900" b="1" i="0">
                <a:solidFill>
                  <a:srgbClr val="242852"/>
                </a:solidFill>
                <a:latin typeface="Arial"/>
              </a:rPr>
              <a:t>By industry:</a:t>
            </a:r>
            <a:r>
              <a:rPr sz="900" b="0" i="0">
                <a:solidFill>
                  <a:srgbClr val="000000"/>
                </a:solidFill>
                <a:latin typeface="Arial"/>
              </a:rPr>
              <a:t> Metals &amp; Mining +0.5pp vs +3.9pp; Chemicals -0.6pp vs +0.7pp.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Balanced Mix and Leverage Below Policy</a:t>
            </a:r>
          </a:p>
        </p:txBody>
      </p:sp>
      <p:sp>
        <p:nvSpPr>
          <p:cNvPr id="4" name="Subtitle 3"/>
          <p:cNvSpPr>
            <a:spLocks noGrp="1"/>
          </p:cNvSpPr>
          <p:nvPr>
            <p:ph type="subTitle" idx="1"/>
          </p:nvPr>
        </p:nvSpPr>
        <p:spPr/>
        <p:txBody>
          <a:bodyPr/>
          <a:lstStyle/>
          <a:p>
            <a:r>
              <a:t>Three segments of similar size; net debt / EBITDA of 1.0x vs the 2.0x policy</a:t>
            </a:r>
          </a:p>
        </p:txBody>
      </p:sp>
      <p:sp>
        <p:nvSpPr>
          <p:cNvPr id="5" name="Text Placeholder 4"/>
          <p:cNvSpPr>
            <a:spLocks noGrp="1"/>
          </p:cNvSpPr>
          <p:nvPr>
            <p:ph type="body" idx="14" sz="quarter"/>
          </p:nvPr>
        </p:nvSpPr>
        <p:spPr/>
        <p:txBody>
          <a:bodyPr/>
          <a:lstStyle/>
          <a:p>
            <a:r>
              <a:t>Illustrative data - layout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17</a:t>
            </a:r>
          </a:p>
        </p:txBody>
      </p:sp>
      <p:sp>
        <p:nvSpPr>
          <p:cNvPr id="7" name="TextBox 6"/>
          <p:cNvSpPr txBox="1"/>
          <p:nvPr/>
        </p:nvSpPr>
        <p:spPr>
          <a:xfrm>
            <a:off x="525780" y="1345996"/>
            <a:ext cx="5303520" cy="317296"/>
          </a:xfrm>
          <a:prstGeom prst="rect">
            <a:avLst/>
          </a:prstGeom>
          <a:noFill/>
        </p:spPr>
        <p:txBody>
          <a:bodyPr wrap="square" lIns="0" rIns="0" tIns="0" bIns="0" anchor="b"/>
          <a:lstStyle/>
          <a:p>
            <a:pPr algn="l"/>
            <a:r>
              <a:rPr sz="1600" b="1" i="0">
                <a:solidFill>
                  <a:srgbClr val="404040"/>
                </a:solidFill>
                <a:latin typeface="Arial"/>
              </a:rPr>
              <a:t>Revenue Mix</a:t>
            </a:r>
          </a:p>
        </p:txBody>
      </p:sp>
      <p:cxnSp>
        <p:nvCxnSpPr>
          <p:cNvPr id="8" name="Connector 7"/>
          <p:cNvCxnSpPr/>
          <p:nvPr/>
        </p:nvCxnSpPr>
        <p:spPr>
          <a:xfrm>
            <a:off x="525780" y="1701698"/>
            <a:ext cx="5303520" cy="0"/>
          </a:xfrm>
          <a:prstGeom prst="line">
            <a:avLst/>
          </a:prstGeom>
          <a:ln w="12700">
            <a:solidFill>
              <a:srgbClr val="000000"/>
            </a:solidFill>
          </a:ln>
        </p:spPr>
      </p:cxnSp>
      <p:sp>
        <p:nvSpPr>
          <p:cNvPr id="9" name="TextBox 8"/>
          <p:cNvSpPr txBox="1"/>
          <p:nvPr/>
        </p:nvSpPr>
        <p:spPr>
          <a:xfrm>
            <a:off x="525780" y="1740103"/>
            <a:ext cx="5303520" cy="228600"/>
          </a:xfrm>
          <a:prstGeom prst="rect">
            <a:avLst/>
          </a:prstGeom>
          <a:noFill/>
        </p:spPr>
        <p:txBody>
          <a:bodyPr wrap="square" lIns="0" rIns="0" tIns="0" bIns="0" anchor="t"/>
          <a:lstStyle/>
          <a:p>
            <a:pPr algn="l"/>
            <a:r>
              <a:rPr sz="1200" b="0" i="1">
                <a:solidFill>
                  <a:srgbClr val="000000"/>
                </a:solidFill>
                <a:latin typeface="Arial"/>
              </a:rPr>
              <a:t>FY25, % of revenue</a:t>
            </a:r>
          </a:p>
        </p:txBody>
      </p:sp>
      <p:graphicFrame>
        <p:nvGraphicFramePr>
          <p:cNvPr id="10" name="Chart 9"/>
          <p:cNvGraphicFramePr>
            <a:graphicFrameLocks noGrp="1"/>
          </p:cNvGraphicFramePr>
          <p:nvPr/>
        </p:nvGraphicFramePr>
        <p:xfrm>
          <a:off x="800100" y="2051913"/>
          <a:ext cx="3017520" cy="3017520"/>
        </p:xfrm>
        <a:graphic>
          <a:graphicData uri="http://schemas.openxmlformats.org/drawingml/2006/chart">
            <c:chart xmlns:c="http://schemas.openxmlformats.org/drawingml/2006/chart" r:id="rId2"/>
          </a:graphicData>
        </a:graphic>
      </p:graphicFrame>
      <p:sp>
        <p:nvSpPr>
          <p:cNvPr id="11" name="TextBox 10"/>
          <p:cNvSpPr txBox="1"/>
          <p:nvPr/>
        </p:nvSpPr>
        <p:spPr>
          <a:xfrm>
            <a:off x="800100" y="2996488"/>
            <a:ext cx="3017520" cy="365760"/>
          </a:xfrm>
          <a:prstGeom prst="rect">
            <a:avLst/>
          </a:prstGeom>
          <a:noFill/>
        </p:spPr>
        <p:txBody>
          <a:bodyPr wrap="square" lIns="0" rIns="0" tIns="0" bIns="0" anchor="b"/>
          <a:lstStyle/>
          <a:p>
            <a:pPr algn="ctr"/>
            <a:r>
              <a:rPr sz="2000" b="1" i="0">
                <a:solidFill>
                  <a:srgbClr val="242852"/>
                </a:solidFill>
                <a:latin typeface="Arial"/>
              </a:rPr>
              <a:t>$32bn</a:t>
            </a:r>
          </a:p>
        </p:txBody>
      </p:sp>
      <p:sp>
        <p:nvSpPr>
          <p:cNvPr id="12" name="TextBox 11"/>
          <p:cNvSpPr txBox="1"/>
          <p:nvPr/>
        </p:nvSpPr>
        <p:spPr>
          <a:xfrm>
            <a:off x="1554480" y="3362248"/>
            <a:ext cx="1508760" cy="274320"/>
          </a:xfrm>
          <a:prstGeom prst="rect">
            <a:avLst/>
          </a:prstGeom>
          <a:noFill/>
        </p:spPr>
        <p:txBody>
          <a:bodyPr wrap="square" lIns="0" rIns="0" tIns="0" bIns="0" anchor="t"/>
          <a:lstStyle/>
          <a:p>
            <a:pPr algn="ctr"/>
            <a:r>
              <a:rPr sz="900" b="0" i="0">
                <a:solidFill>
                  <a:srgbClr val="000000"/>
                </a:solidFill>
                <a:latin typeface="Arial"/>
              </a:rPr>
              <a:t>FY25 revenue</a:t>
            </a:r>
          </a:p>
        </p:txBody>
      </p:sp>
      <p:sp>
        <p:nvSpPr>
          <p:cNvPr id="13" name="Rectangle 12"/>
          <p:cNvSpPr/>
          <p:nvPr/>
        </p:nvSpPr>
        <p:spPr>
          <a:xfrm>
            <a:off x="4137660" y="2051913"/>
            <a:ext cx="1691640" cy="1005840"/>
          </a:xfrm>
          <a:prstGeom prst="rect">
            <a:avLst/>
          </a:prstGeom>
          <a:solidFill>
            <a:srgbClr val="F2F2F2"/>
          </a:solidFill>
          <a:ln>
            <a:noFill/>
          </a:ln>
        </p:spPr>
        <p:txBody>
          <a:bodyPr rtlCol="0" anchor="ctr"/>
          <a:lstStyle/>
          <a:p>
            <a:pPr algn="ctr"/>
          </a:p>
        </p:txBody>
      </p:sp>
      <p:sp>
        <p:nvSpPr>
          <p:cNvPr id="14" name="TextBox 13"/>
          <p:cNvSpPr txBox="1"/>
          <p:nvPr/>
        </p:nvSpPr>
        <p:spPr>
          <a:xfrm>
            <a:off x="4137660" y="2232964"/>
            <a:ext cx="1691640" cy="452628"/>
          </a:xfrm>
          <a:prstGeom prst="rect">
            <a:avLst/>
          </a:prstGeom>
          <a:noFill/>
        </p:spPr>
        <p:txBody>
          <a:bodyPr wrap="square" lIns="54864" rIns="54864" tIns="36576" bIns="36576" anchor="b"/>
          <a:lstStyle/>
          <a:p>
            <a:pPr algn="ctr"/>
            <a:r>
              <a:rPr sz="2000" b="1" i="0">
                <a:solidFill>
                  <a:srgbClr val="242852"/>
                </a:solidFill>
                <a:latin typeface="Arial"/>
              </a:rPr>
              <a:t>45%</a:t>
            </a:r>
          </a:p>
        </p:txBody>
      </p:sp>
      <p:sp>
        <p:nvSpPr>
          <p:cNvPr id="15" name="TextBox 14"/>
          <p:cNvSpPr txBox="1"/>
          <p:nvPr/>
        </p:nvSpPr>
        <p:spPr>
          <a:xfrm>
            <a:off x="4229100" y="2685592"/>
            <a:ext cx="1508760" cy="321868"/>
          </a:xfrm>
          <a:prstGeom prst="rect">
            <a:avLst/>
          </a:prstGeom>
          <a:noFill/>
        </p:spPr>
        <p:txBody>
          <a:bodyPr wrap="square" lIns="54864" rIns="54864" tIns="36576" bIns="36576" anchor="t"/>
          <a:lstStyle/>
          <a:p>
            <a:pPr algn="ctr"/>
            <a:r>
              <a:rPr sz="1200" b="0" i="0">
                <a:solidFill>
                  <a:srgbClr val="242852"/>
                </a:solidFill>
                <a:latin typeface="Arial"/>
              </a:rPr>
              <a:t>Retail</a:t>
            </a:r>
          </a:p>
        </p:txBody>
      </p:sp>
      <p:sp>
        <p:nvSpPr>
          <p:cNvPr id="16" name="Rectangle 15"/>
          <p:cNvSpPr/>
          <p:nvPr/>
        </p:nvSpPr>
        <p:spPr>
          <a:xfrm>
            <a:off x="4137660" y="3194913"/>
            <a:ext cx="1691640" cy="1005840"/>
          </a:xfrm>
          <a:prstGeom prst="rect">
            <a:avLst/>
          </a:prstGeom>
          <a:solidFill>
            <a:srgbClr val="F2F2F2"/>
          </a:solidFill>
          <a:ln>
            <a:noFill/>
          </a:ln>
        </p:spPr>
        <p:txBody>
          <a:bodyPr rtlCol="0" anchor="ctr"/>
          <a:lstStyle/>
          <a:p>
            <a:pPr algn="ctr"/>
          </a:p>
        </p:txBody>
      </p:sp>
      <p:sp>
        <p:nvSpPr>
          <p:cNvPr id="17" name="TextBox 16"/>
          <p:cNvSpPr txBox="1"/>
          <p:nvPr/>
        </p:nvSpPr>
        <p:spPr>
          <a:xfrm>
            <a:off x="4137660" y="3375964"/>
            <a:ext cx="1691640" cy="452628"/>
          </a:xfrm>
          <a:prstGeom prst="rect">
            <a:avLst/>
          </a:prstGeom>
          <a:noFill/>
        </p:spPr>
        <p:txBody>
          <a:bodyPr wrap="square" lIns="54864" rIns="54864" tIns="36576" bIns="36576" anchor="b"/>
          <a:lstStyle/>
          <a:p>
            <a:pPr algn="ctr"/>
            <a:r>
              <a:rPr sz="2000" b="1" i="0">
                <a:solidFill>
                  <a:srgbClr val="242852"/>
                </a:solidFill>
                <a:latin typeface="Arial"/>
              </a:rPr>
              <a:t>+9%</a:t>
            </a:r>
          </a:p>
        </p:txBody>
      </p:sp>
      <p:sp>
        <p:nvSpPr>
          <p:cNvPr id="18" name="TextBox 17"/>
          <p:cNvSpPr txBox="1"/>
          <p:nvPr/>
        </p:nvSpPr>
        <p:spPr>
          <a:xfrm>
            <a:off x="4229100" y="3828592"/>
            <a:ext cx="1508760" cy="321868"/>
          </a:xfrm>
          <a:prstGeom prst="rect">
            <a:avLst/>
          </a:prstGeom>
          <a:noFill/>
        </p:spPr>
        <p:txBody>
          <a:bodyPr wrap="square" lIns="54864" rIns="54864" tIns="36576" bIns="36576" anchor="t"/>
          <a:lstStyle/>
          <a:p>
            <a:pPr algn="ctr"/>
            <a:r>
              <a:rPr sz="1200" b="0" i="0">
                <a:solidFill>
                  <a:srgbClr val="242852"/>
                </a:solidFill>
                <a:latin typeface="Arial"/>
              </a:rPr>
              <a:t>Revenue YoY</a:t>
            </a:r>
          </a:p>
        </p:txBody>
      </p:sp>
      <p:sp>
        <p:nvSpPr>
          <p:cNvPr id="19" name="Rectangle 18"/>
          <p:cNvSpPr/>
          <p:nvPr/>
        </p:nvSpPr>
        <p:spPr>
          <a:xfrm>
            <a:off x="4137660" y="4337913"/>
            <a:ext cx="1691640" cy="1005840"/>
          </a:xfrm>
          <a:prstGeom prst="rect">
            <a:avLst/>
          </a:prstGeom>
          <a:solidFill>
            <a:srgbClr val="F2F2F2"/>
          </a:solidFill>
          <a:ln>
            <a:noFill/>
          </a:ln>
        </p:spPr>
        <p:txBody>
          <a:bodyPr rtlCol="0" anchor="ctr"/>
          <a:lstStyle/>
          <a:p>
            <a:pPr algn="ctr"/>
          </a:p>
        </p:txBody>
      </p:sp>
      <p:sp>
        <p:nvSpPr>
          <p:cNvPr id="20" name="TextBox 19"/>
          <p:cNvSpPr txBox="1"/>
          <p:nvPr/>
        </p:nvSpPr>
        <p:spPr>
          <a:xfrm>
            <a:off x="4137660" y="4518964"/>
            <a:ext cx="1691640" cy="452628"/>
          </a:xfrm>
          <a:prstGeom prst="rect">
            <a:avLst/>
          </a:prstGeom>
          <a:noFill/>
        </p:spPr>
        <p:txBody>
          <a:bodyPr wrap="square" lIns="54864" rIns="54864" tIns="36576" bIns="36576" anchor="b"/>
          <a:lstStyle/>
          <a:p>
            <a:pPr algn="ctr"/>
            <a:r>
              <a:rPr sz="2000" b="1" i="0">
                <a:solidFill>
                  <a:srgbClr val="242852"/>
                </a:solidFill>
                <a:latin typeface="Arial"/>
              </a:rPr>
              <a:t>14%</a:t>
            </a:r>
          </a:p>
        </p:txBody>
      </p:sp>
      <p:sp>
        <p:nvSpPr>
          <p:cNvPr id="21" name="TextBox 20"/>
          <p:cNvSpPr txBox="1"/>
          <p:nvPr/>
        </p:nvSpPr>
        <p:spPr>
          <a:xfrm>
            <a:off x="4229100" y="4971592"/>
            <a:ext cx="1508760" cy="321868"/>
          </a:xfrm>
          <a:prstGeom prst="rect">
            <a:avLst/>
          </a:prstGeom>
          <a:noFill/>
        </p:spPr>
        <p:txBody>
          <a:bodyPr wrap="square" lIns="54864" rIns="54864" tIns="36576" bIns="36576" anchor="t"/>
          <a:lstStyle/>
          <a:p>
            <a:pPr algn="ctr"/>
            <a:r>
              <a:rPr sz="1200" b="0" i="0">
                <a:solidFill>
                  <a:srgbClr val="242852"/>
                </a:solidFill>
                <a:latin typeface="Arial"/>
              </a:rPr>
              <a:t>EBITDA margin</a:t>
            </a:r>
          </a:p>
        </p:txBody>
      </p:sp>
      <p:sp>
        <p:nvSpPr>
          <p:cNvPr id="22" name="TextBox 21"/>
          <p:cNvSpPr txBox="1"/>
          <p:nvPr/>
        </p:nvSpPr>
        <p:spPr>
          <a:xfrm>
            <a:off x="6309360" y="1345996"/>
            <a:ext cx="5465368" cy="317296"/>
          </a:xfrm>
          <a:prstGeom prst="rect">
            <a:avLst/>
          </a:prstGeom>
          <a:noFill/>
        </p:spPr>
        <p:txBody>
          <a:bodyPr wrap="square" lIns="0" rIns="0" tIns="0" bIns="0" anchor="b"/>
          <a:lstStyle/>
          <a:p>
            <a:pPr algn="l"/>
            <a:r>
              <a:rPr sz="1600" b="1" i="0">
                <a:solidFill>
                  <a:srgbClr val="404040"/>
                </a:solidFill>
                <a:latin typeface="Arial"/>
              </a:rPr>
              <a:t>Net Debt / EBITDA vs Peers</a:t>
            </a:r>
          </a:p>
        </p:txBody>
      </p:sp>
      <p:cxnSp>
        <p:nvCxnSpPr>
          <p:cNvPr id="23" name="Connector 22"/>
          <p:cNvCxnSpPr/>
          <p:nvPr/>
        </p:nvCxnSpPr>
        <p:spPr>
          <a:xfrm>
            <a:off x="6309360" y="1701698"/>
            <a:ext cx="5465368" cy="0"/>
          </a:xfrm>
          <a:prstGeom prst="line">
            <a:avLst/>
          </a:prstGeom>
          <a:ln w="12700">
            <a:solidFill>
              <a:srgbClr val="000000"/>
            </a:solidFill>
          </a:ln>
        </p:spPr>
      </p:cxnSp>
      <p:sp>
        <p:nvSpPr>
          <p:cNvPr id="24" name="TextBox 23"/>
          <p:cNvSpPr txBox="1"/>
          <p:nvPr/>
        </p:nvSpPr>
        <p:spPr>
          <a:xfrm>
            <a:off x="6309360" y="1740103"/>
            <a:ext cx="5465368" cy="228600"/>
          </a:xfrm>
          <a:prstGeom prst="rect">
            <a:avLst/>
          </a:prstGeom>
          <a:noFill/>
        </p:spPr>
        <p:txBody>
          <a:bodyPr wrap="square" lIns="0" rIns="0" tIns="0" bIns="0" anchor="t"/>
          <a:lstStyle/>
          <a:p>
            <a:pPr algn="l"/>
            <a:r>
              <a:rPr sz="1200" b="0" i="1">
                <a:solidFill>
                  <a:srgbClr val="000000"/>
                </a:solidFill>
                <a:latin typeface="Arial"/>
              </a:rPr>
              <a:t>x, LTM</a:t>
            </a:r>
          </a:p>
        </p:txBody>
      </p:sp>
      <p:graphicFrame>
        <p:nvGraphicFramePr>
          <p:cNvPr id="25" name="Chart 24"/>
          <p:cNvGraphicFramePr>
            <a:graphicFrameLocks noGrp="1"/>
          </p:cNvGraphicFramePr>
          <p:nvPr/>
        </p:nvGraphicFramePr>
        <p:xfrm>
          <a:off x="6309360" y="2006193"/>
          <a:ext cx="5465368" cy="4120286"/>
        </p:xfrm>
        <a:graphic>
          <a:graphicData uri="http://schemas.openxmlformats.org/drawingml/2006/chart">
            <c:chart xmlns:c="http://schemas.openxmlformats.org/drawingml/2006/chart" r:id="rId3"/>
          </a:graphicData>
        </a:graphic>
      </p:graphicFrame>
      <p:cxnSp>
        <p:nvCxnSpPr>
          <p:cNvPr id="26" name="Connector 25"/>
          <p:cNvCxnSpPr/>
          <p:nvPr/>
        </p:nvCxnSpPr>
        <p:spPr>
          <a:xfrm>
            <a:off x="6418667" y="3782828"/>
            <a:ext cx="5246754" cy="0"/>
          </a:xfrm>
          <a:prstGeom prst="line">
            <a:avLst/>
          </a:prstGeom>
          <a:ln w="15875">
            <a:solidFill>
              <a:srgbClr val="E31B23"/>
            </a:solidFill>
            <a:prstDash val="dash"/>
          </a:ln>
        </p:spPr>
      </p:cxnSp>
      <p:sp>
        <p:nvSpPr>
          <p:cNvPr id="27" name="TextBox 26"/>
          <p:cNvSpPr txBox="1"/>
          <p:nvPr/>
        </p:nvSpPr>
        <p:spPr>
          <a:xfrm>
            <a:off x="6418667" y="3545084"/>
            <a:ext cx="1828800" cy="201168"/>
          </a:xfrm>
          <a:prstGeom prst="rect">
            <a:avLst/>
          </a:prstGeom>
          <a:noFill/>
        </p:spPr>
        <p:txBody>
          <a:bodyPr wrap="square" lIns="0" rIns="0" tIns="0" bIns="0" anchor="t"/>
          <a:lstStyle/>
          <a:p>
            <a:pPr algn="l"/>
            <a:r>
              <a:rPr sz="900" b="0" i="1">
                <a:solidFill>
                  <a:srgbClr val="E31B23"/>
                </a:solidFill>
                <a:latin typeface="Arial"/>
              </a:rPr>
              <a:t>Policy 2.0x</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05  Appendix</a:t>
            </a:r>
          </a:p>
        </p:txBody>
      </p:sp>
      <p:sp>
        <p:nvSpPr>
          <p:cNvPr id="3" name="Text Placeholder 2"/>
          <p:cNvSpPr>
            <a:spLocks noGrp="1"/>
          </p:cNvSpPr>
          <p:nvPr>
            <p:ph type="body" idx="12" sz="quarter"/>
          </p:nvPr>
        </p:nvSpPr>
        <p:spPr/>
        <p:txBody>
          <a:bodyPr/>
          <a:lstStyle/>
          <a:p>
            <a:r>
              <a:t>Financial statements and sensitivity tables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Tema de Office">
  <a:themeElements>
    <a:clrScheme name="Aztlan">
      <a:dk1>
        <a:sysClr val="windowText" lastClr="000000"/>
      </a:dk1>
      <a:lt1>
        <a:sysClr val="window" lastClr="FFFFFF"/>
      </a:lt1>
      <a:dk2>
        <a:srgbClr val="242852"/>
      </a:dk2>
      <a:lt2>
        <a:srgbClr val="ACCBF9"/>
      </a:lt2>
      <a:accent1>
        <a:srgbClr val="221D55"/>
      </a:accent1>
      <a:accent2>
        <a:srgbClr val="F5C400"/>
      </a:accent2>
      <a:accent3>
        <a:srgbClr val="7F8FA9"/>
      </a:accent3>
      <a:accent4>
        <a:srgbClr val="42825D"/>
      </a:accent4>
      <a:accent5>
        <a:srgbClr val="404040"/>
      </a:accent5>
      <a:accent6>
        <a:srgbClr val="7F7F7F"/>
      </a:accent6>
      <a:hlink>
        <a:srgbClr val="0000FF"/>
      </a:hlink>
      <a:folHlink>
        <a:srgbClr val="3F3F3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ztlanV6" id="{12A82A49-48A3-459C-BA26-F54EF57095E8}" vid="{3680EF8D-1A33-4A93-9750-3ECD5AA7E2D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6E0720D-9B13-4707-B972-A791A589D32E}">
  <we:reference id="WA200010001" version="1.0.0.1" store="Omex" storeType="OMEX"/>
  <we:alternateReferences>
    <we:reference id="WA200010001" version="1.0.0.1" store="WA200010001" storeType="OMEX"/>
  </we:alternateReferences>
  <we:properties>
    <we:property name="claude.fileId" value="&quot;f2a85071-7e58-4b1f-b185-9010b07f0c8d&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8fccf58b-a573-4d2b-996f-1c706d669db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72736255F8947488A9FD7649BF53D97" ma:contentTypeVersion="15" ma:contentTypeDescription="Create a new document." ma:contentTypeScope="" ma:versionID="24d6b2fe36500122d90e091d9d71ce37">
  <xsd:schema xmlns:xsd="http://www.w3.org/2001/XMLSchema" xmlns:xs="http://www.w3.org/2001/XMLSchema" xmlns:p="http://schemas.microsoft.com/office/2006/metadata/properties" xmlns:ns3="8fccf58b-a573-4d2b-996f-1c706d669db6" xmlns:ns4="585ed2ce-6475-4aa4-ae7d-5b0a21b2865e" targetNamespace="http://schemas.microsoft.com/office/2006/metadata/properties" ma:root="true" ma:fieldsID="7f7801a20f627626ad565b8978166bb2" ns3:_="" ns4:_="">
    <xsd:import namespace="8fccf58b-a573-4d2b-996f-1c706d669db6"/>
    <xsd:import namespace="585ed2ce-6475-4aa4-ae7d-5b0a21b2865e"/>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LengthInSeconds" minOccurs="0"/>
                <xsd:element ref="ns3:MediaServiceDateTaken" minOccurs="0"/>
                <xsd:element ref="ns3:MediaServiceSystemTag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ccf58b-a573-4d2b-996f-1c706d669d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85ed2ce-6475-4aa4-ae7d-5b0a21b2865e"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DCF2B0-FF36-4106-86DE-8E64ECE3CBFE}">
  <ds:schemaRefs>
    <ds:schemaRef ds:uri="http://schemas.microsoft.com/sharepoint/v3/contenttype/forms"/>
  </ds:schemaRefs>
</ds:datastoreItem>
</file>

<file path=customXml/itemProps2.xml><?xml version="1.0" encoding="utf-8"?>
<ds:datastoreItem xmlns:ds="http://schemas.openxmlformats.org/officeDocument/2006/customXml" ds:itemID="{8A6E9D4B-20B8-4F07-95E7-2F6E396BB166}">
  <ds:schemaRefs>
    <ds:schemaRef ds:uri="http://schemas.microsoft.com/office/2006/metadata/properties"/>
    <ds:schemaRef ds:uri="http://www.w3.org/XML/1998/namespace"/>
    <ds:schemaRef ds:uri="8fccf58b-a573-4d2b-996f-1c706d669db6"/>
    <ds:schemaRef ds:uri="http://purl.org/dc/dcmitype/"/>
    <ds:schemaRef ds:uri="http://purl.org/dc/elements/1.1/"/>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585ed2ce-6475-4aa4-ae7d-5b0a21b2865e"/>
  </ds:schemaRefs>
</ds:datastoreItem>
</file>

<file path=customXml/itemProps3.xml><?xml version="1.0" encoding="utf-8"?>
<ds:datastoreItem xmlns:ds="http://schemas.openxmlformats.org/officeDocument/2006/customXml" ds:itemID="{380BE871-289E-48E6-8BF0-1B08BE58FA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ccf58b-a573-4d2b-996f-1c706d669db6"/>
    <ds:schemaRef ds:uri="585ed2ce-6475-4aa4-ae7d-5b0a21b286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AztlanTemplate</Template>
  <TotalTime>2727</TotalTime>
  <Words>9035</Words>
  <Application>Microsoft Office PowerPoint</Application>
  <PresentationFormat>Widescreen</PresentationFormat>
  <Paragraphs>3422</Paragraphs>
  <Slides>39</Slides>
  <Notes>1</Notes>
  <HiddenSlides>19</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43" baseType="lpstr">
      <vt:lpstr>Arial</vt:lpstr>
      <vt:lpstr>Calibri</vt:lpstr>
      <vt:lpstr>Tema de Office</vt:lpstr>
      <vt:lpstr>thinkcell Slide</vt:lpstr>
      <vt:lpstr>PowerPoint Presentation</vt:lpstr>
      <vt:lpstr>PowerPoint Presentation</vt:lpstr>
      <vt:lpstr>AZTD vs Peers: Performance 2024 to 2026</vt:lpstr>
      <vt:lpstr>Returns by Year</vt:lpstr>
      <vt:lpstr>ETF Composition</vt:lpstr>
      <vt:lpstr>ETF Sector Annualized Performance</vt:lpstr>
      <vt:lpstr>Sectors 2024-26: Materials Lagged, Industrials Led</vt:lpstr>
      <vt:lpstr>Allocation: Materials Weight Cost the Most</vt:lpstr>
      <vt:lpstr>Selection: Industrials Strong, Financials Weak</vt:lpstr>
      <vt:lpstr>Weak Sectors 2024-26: Largest Contributors (1/4)</vt:lpstr>
      <vt:lpstr>Top Holdings by ETF: Materials</vt:lpstr>
      <vt:lpstr>Weak Sectors 2024-26: Largest Contributors (2/4)</vt:lpstr>
      <vt:lpstr>Top Holdings by ETF: Financials</vt:lpstr>
      <vt:lpstr>Weak Sectors 2024-26: Largest Contributors (3/4)</vt:lpstr>
      <vt:lpstr>Top Holdings by ETF: Consumer Discretionary</vt:lpstr>
      <vt:lpstr>Weak Sectors 2024-26: Largest Contributors (4/4)</vt:lpstr>
      <vt:lpstr>Top Holdings by ETF: Utilities</vt:lpstr>
      <vt:lpstr>ETF By Region Annualized Performance</vt:lpstr>
      <vt:lpstr>Europe and Japan 2024-26: Largest Positions</vt:lpstr>
      <vt:lpstr>PowerPoint Presentation</vt:lpstr>
      <vt:lpstr>Sectors 2025: Materials Lagged, Industrials Led</vt:lpstr>
      <vt:lpstr>Regions 2025: Japan and Europe Lagged</vt:lpstr>
      <vt:lpstr>Weak Sectors 2025: Largest Contributors (1/4)</vt:lpstr>
      <vt:lpstr>Weak Sectors 2025: Largest Contributors (2/4)</vt:lpstr>
      <vt:lpstr>Weak Sectors 2025: Largest Contributors (3/4)</vt:lpstr>
      <vt:lpstr>Weak Sectors 2025: Largest Contributors (4/4)</vt:lpstr>
      <vt:lpstr>Europe and Japan 2025: Largest Positions</vt:lpstr>
      <vt:lpstr>PowerPoint Presentation</vt:lpstr>
      <vt:lpstr>2026 YTD: AZTD vs Peers</vt:lpstr>
      <vt:lpstr>Sectors 2026 YTD: Materials Lagged, Tech Led</vt:lpstr>
      <vt:lpstr>Regions 2026 YTD: Europe and Japan Lagged</vt:lpstr>
      <vt:lpstr>YTD Allocation: Health Care Weight Cost the Most</vt:lpstr>
      <vt:lpstr>YTD Selection: Health Care Strong, Financials Weak</vt:lpstr>
      <vt:lpstr>Weak Sectors 2026 YTD: Largest Contributors (1/4)</vt:lpstr>
      <vt:lpstr>Weak Sectors 2026 YTD: Largest Contributors (2/4)</vt:lpstr>
      <vt:lpstr>Weak Sectors 2026 YTD: Largest Contributors (3/4)</vt:lpstr>
      <vt:lpstr>Weak Sectors 2026 YTD: Largest Contributors (4/4)</vt:lpstr>
      <vt:lpstr>Europe and Japan 2026 YTD: Largest Positions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Julio César Silva De la Rosa</dc:creator>
  <cp:lastModifiedBy>Julio César Silva de la Rosa</cp:lastModifiedBy>
  <cp:revision>19</cp:revision>
  <cp:lastPrinted>2020-02-25T18:41:39Z</cp:lastPrinted>
  <dcterms:created xsi:type="dcterms:W3CDTF">2026-06-11T14:56:20Z</dcterms:created>
  <dcterms:modified xsi:type="dcterms:W3CDTF">2026-10-02T04:52:32Z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0x010100F72736255F8947488A9FD7649BF53D97</vt:lpwstr>
  </property>
</Properties>
</file>