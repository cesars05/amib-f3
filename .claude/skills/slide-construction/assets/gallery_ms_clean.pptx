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2"/>
          <c:y val="0.12"/>
          <c:w val="0.96"/>
          <c:h val="0.74"/>
        </c:manualLayout>
      </c:layout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Products</c:v>
                </c:pt>
              </c:strCache>
            </c:strRef>
          </c:tx>
          <c:spPr>
            <a:solidFill>
              <a:srgbClr val="0A5AA6"/>
            </a:solidFill>
            <a:ln>
              <a:noFill/>
            </a:ln>
          </c:spPr>
          <c:invertIfNegative val="0"/>
          <c:dPt>
            <c:idx val="5"/>
            <c:invertIfNegative val="0"/>
            <c:spPr>
              <a:solidFill>
                <a:srgbClr val="78A4CE"/>
              </a:solidFill>
              <a:ln>
                <a:noFill/>
              </a:ln>
            </c:spPr>
          </c:dPt>
          <c:dPt>
            <c:idx val="6"/>
            <c:invertIfNegative val="0"/>
            <c:spPr>
              <a:solidFill>
                <a:srgbClr val="78A4CE"/>
              </a:solidFill>
              <a:ln>
                <a:noFill/>
              </a:ln>
            </c:spPr>
          </c:dPt>
          <c:dLbls>
            <c:numFmt formatCode="#,##0" sourceLinked="0"/>
            <c:txPr>
              <a:bodyPr/>
              <a:lstStyle/>
              <a:p>
                <a:pPr>
                  <a:defRPr sz="900" b="0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FY21</c:v>
                </c:pt>
                <c:pt idx="1">
                  <c:v>FY22</c:v>
                </c:pt>
                <c:pt idx="2">
                  <c:v>FY23</c:v>
                </c:pt>
                <c:pt idx="3">
                  <c:v>FY24</c:v>
                </c:pt>
                <c:pt idx="4">
                  <c:v>FY25</c:v>
                </c:pt>
                <c:pt idx="5">
                  <c:v>FY26E</c:v>
                </c:pt>
                <c:pt idx="6">
                  <c:v>FY27E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5200</c:v>
                </c:pt>
                <c:pt idx="1">
                  <c:v>5900</c:v>
                </c:pt>
                <c:pt idx="2">
                  <c:v>6300</c:v>
                </c:pt>
                <c:pt idx="3">
                  <c:v>6400</c:v>
                </c:pt>
                <c:pt idx="4">
                  <c:v>7100</c:v>
                </c:pt>
                <c:pt idx="5">
                  <c:v>7700</c:v>
                </c:pt>
                <c:pt idx="6">
                  <c:v>8300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Services</c:v>
                </c:pt>
              </c:strCache>
            </c:strRef>
          </c:tx>
          <c:spPr>
            <a:solidFill>
              <a:srgbClr val="A9D2FB"/>
            </a:solidFill>
            <a:ln>
              <a:noFill/>
            </a:ln>
          </c:spPr>
          <c:invertIfNegative val="0"/>
          <c:dPt>
            <c:idx val="5"/>
            <c:invertIfNegative val="0"/>
            <c:spPr>
              <a:solidFill>
                <a:srgbClr val="D0E6FD"/>
              </a:solidFill>
              <a:ln>
                <a:noFill/>
              </a:ln>
            </c:spPr>
          </c:dPt>
          <c:dPt>
            <c:idx val="6"/>
            <c:invertIfNegative val="0"/>
            <c:spPr>
              <a:solidFill>
                <a:srgbClr val="D0E6FD"/>
              </a:solidFill>
              <a:ln>
                <a:noFill/>
              </a:ln>
            </c:spPr>
          </c:dPt>
          <c:dLbls>
            <c:numFmt formatCode="#,##0" sourceLinked="0"/>
            <c:txPr>
              <a:bodyPr/>
              <a:lstStyle/>
              <a:p>
                <a:pPr>
                  <a:defRPr sz="900" b="0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FY21</c:v>
                </c:pt>
                <c:pt idx="1">
                  <c:v>FY22</c:v>
                </c:pt>
                <c:pt idx="2">
                  <c:v>FY23</c:v>
                </c:pt>
                <c:pt idx="3">
                  <c:v>FY24</c:v>
                </c:pt>
                <c:pt idx="4">
                  <c:v>FY25</c:v>
                </c:pt>
                <c:pt idx="5">
                  <c:v>FY26E</c:v>
                </c:pt>
                <c:pt idx="6">
                  <c:v>FY27E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1650</c:v>
                </c:pt>
                <c:pt idx="1">
                  <c:v>1950</c:v>
                </c:pt>
                <c:pt idx="2">
                  <c:v>2300</c:v>
                </c:pt>
                <c:pt idx="3">
                  <c:v>2700</c:v>
                </c:pt>
                <c:pt idx="4">
                  <c:v>3300</c:v>
                </c:pt>
                <c:pt idx="5">
                  <c:v>4100</c:v>
                </c:pt>
                <c:pt idx="6">
                  <c:v>5100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_total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000000"/>
                        </a:solidFill>
                        <a:latin typeface="Arial"/>
                      </a:rPr>
                      <a:t>6,850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000000"/>
                        </a:solidFill>
                        <a:latin typeface="Arial"/>
                      </a:rPr>
                      <a:t>7,850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000000"/>
                        </a:solidFill>
                        <a:latin typeface="Arial"/>
                      </a:rPr>
                      <a:t>8,600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000000"/>
                        </a:solidFill>
                        <a:latin typeface="Arial"/>
                      </a:rPr>
                      <a:t>9,100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000000"/>
                        </a:solidFill>
                        <a:latin typeface="Arial"/>
                      </a:rPr>
                      <a:t>10,400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000000"/>
                        </a:solidFill>
                        <a:latin typeface="Arial"/>
                      </a:rPr>
                      <a:t>11,800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rPr sz="1000" b="1">
                        <a:solidFill>
                          <a:srgbClr val="000000"/>
                        </a:solidFill>
                        <a:latin typeface="Arial"/>
                      </a:rPr>
                      <a:t>13,400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FY21</c:v>
                </c:pt>
                <c:pt idx="1">
                  <c:v>FY22</c:v>
                </c:pt>
                <c:pt idx="2">
                  <c:v>FY23</c:v>
                </c:pt>
                <c:pt idx="3">
                  <c:v>FY24</c:v>
                </c:pt>
                <c:pt idx="4">
                  <c:v>FY25</c:v>
                </c:pt>
                <c:pt idx="5">
                  <c:v>FY26E</c:v>
                </c:pt>
                <c:pt idx="6">
                  <c:v>FY27E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</c:ser>
        <c:gapWidth val="8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7F7F7F"/>
            </a:solidFill>
          </a:ln>
        </c:spPr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7420.0"/>
          <c:min val="0.0"/>
        </c:scaling>
        <c:delete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  <c:spPr>
        <a:noFill/>
        <a:ln>
          <a:noFill/>
        </a:ln>
      </c:spPr>
    </c:plotArea>
    <c:legend>
      <c:legendPos val="b"/>
      <c:legendEntry>
        <c:idx val="2"/>
        <c:delete val="1"/>
      </c:legendEntry>
      <c:overlay val="0"/>
      <c:txPr>
        <a:bodyPr/>
        <a:lstStyle/>
        <a:p>
          <a:pPr>
            <a:defRPr sz="900">
              <a:latin typeface="Arial"/>
            </a:defRPr>
          </a:pPr>
        </a:p>
      </c:txPr>
    </c:legend>
    <c:dispBlanksAs val="gap"/>
  </c:chart>
  <c:spPr>
    <a:noFill/>
    <a:ln>
      <a:noFill/>
    </a:ln>
  </c:spPr>
  <c:txPr>
    <a:bodyPr/>
    <a:lstStyle/>
    <a:p>
      <a:pPr>
        <a:defRPr sz="9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22"/>
          <c:y val="0.01"/>
          <c:w val="0.7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Peer avg</c:v>
                </c:pt>
              </c:strCache>
            </c:strRef>
          </c:tx>
          <c:spPr>
            <a:solidFill>
              <a:srgbClr val="0A5AA6"/>
            </a:solidFill>
            <a:ln>
              <a:noFill/>
            </a:ln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sz="900" b="0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Materials</c:v>
                </c:pt>
                <c:pt idx="1">
                  <c:v>Energy</c:v>
                </c:pt>
                <c:pt idx="2">
                  <c:v>Industrials</c:v>
                </c:pt>
                <c:pt idx="3">
                  <c:v>Financials</c:v>
                </c:pt>
                <c:pt idx="4">
                  <c:v>Utilities</c:v>
                </c:pt>
                <c:pt idx="5">
                  <c:v>Comm. Services</c:v>
                </c:pt>
                <c:pt idx="6">
                  <c:v>Health Care</c:v>
                </c:pt>
                <c:pt idx="7">
                  <c:v>Info. Technology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15.8</c:v>
                </c:pt>
                <c:pt idx="1">
                  <c:v>6.5</c:v>
                </c:pt>
                <c:pt idx="2">
                  <c:v>21.3</c:v>
                </c:pt>
                <c:pt idx="3">
                  <c:v>15.8</c:v>
                </c:pt>
                <c:pt idx="4">
                  <c:v>2.5</c:v>
                </c:pt>
                <c:pt idx="5">
                  <c:v>3.1</c:v>
                </c:pt>
                <c:pt idx="6">
                  <c:v>3.6</c:v>
                </c:pt>
                <c:pt idx="7">
                  <c:v>6.8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Fund</c:v>
                </c:pt>
              </c:strCache>
            </c:strRef>
          </c:tx>
          <c:spPr>
            <a:solidFill>
              <a:srgbClr val="6633CC"/>
            </a:solidFill>
            <a:ln>
              <a:noFill/>
            </a:ln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sz="900" b="1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Materials</c:v>
                </c:pt>
                <c:pt idx="1">
                  <c:v>Energy</c:v>
                </c:pt>
                <c:pt idx="2">
                  <c:v>Industrials</c:v>
                </c:pt>
                <c:pt idx="3">
                  <c:v>Financials</c:v>
                </c:pt>
                <c:pt idx="4">
                  <c:v>Utilities</c:v>
                </c:pt>
                <c:pt idx="5">
                  <c:v>Comm. Services</c:v>
                </c:pt>
                <c:pt idx="6">
                  <c:v>Health Care</c:v>
                </c:pt>
                <c:pt idx="7">
                  <c:v>Info. Technology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6.8</c:v>
                </c:pt>
                <c:pt idx="1">
                  <c:v>1.8</c:v>
                </c:pt>
                <c:pt idx="2">
                  <c:v>18.6</c:v>
                </c:pt>
                <c:pt idx="3">
                  <c:v>17.6</c:v>
                </c:pt>
                <c:pt idx="4">
                  <c:v>5.5</c:v>
                </c:pt>
                <c:pt idx="5">
                  <c:v>6.3</c:v>
                </c:pt>
                <c:pt idx="6">
                  <c:v>7.9</c:v>
                </c:pt>
                <c:pt idx="7">
                  <c:v>13.1</c:v>
                </c:pt>
              </c:numCache>
            </c:numRef>
          </c:val>
        </c:ser>
        <c:gapWidth val="60"/>
        <c:overlap val="-1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 w="9525">
            <a:solidFill>
              <a:srgbClr val="7F7F7F"/>
            </a:solidFill>
          </a:ln>
        </c:spPr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5.134"/>
          <c:min val="0.0"/>
        </c:scaling>
        <c:delete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  <c:spPr>
        <a:noFill/>
        <a:ln>
          <a:noFill/>
        </a:ln>
      </c:spPr>
    </c:plotArea>
    <c:legend>
      <c:legendPos val="b"/>
      <c:overlay val="0"/>
      <c:txPr>
        <a:bodyPr/>
        <a:lstStyle/>
        <a:p>
          <a:pPr>
            <a:defRPr sz="900">
              <a:latin typeface="Arial"/>
            </a:defRPr>
          </a:pPr>
        </a:p>
      </c:txPr>
    </c:legend>
    <c:dispBlanksAs val="gap"/>
  </c:chart>
  <c:spPr>
    <a:noFill/>
    <a:ln>
      <a:noFill/>
    </a:ln>
  </c:spPr>
  <c:txPr>
    <a:bodyPr/>
    <a:lstStyle/>
    <a:p>
      <a:pPr>
        <a:defRPr sz="9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25"/>
          <c:y val="0.01"/>
          <c:w val="0.73"/>
          <c:h val="0.9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Gap</c:v>
                </c:pt>
              </c:strCache>
            </c:strRef>
          </c:tx>
          <c:invertIfNegative val="0"/>
          <c:dPt>
            <c:idx val="0"/>
            <c:invertIfNegative val="0"/>
            <c:spPr>
              <a:solidFill>
                <a:srgbClr val="A9D2FB"/>
              </a:solidFill>
              <a:ln>
                <a:noFill/>
              </a:ln>
            </c:spPr>
          </c:dPt>
          <c:dPt>
            <c:idx val="1"/>
            <c:invertIfNegative val="0"/>
            <c:spPr>
              <a:solidFill>
                <a:srgbClr val="A9D2FB"/>
              </a:solidFill>
              <a:ln>
                <a:noFill/>
              </a:ln>
            </c:spPr>
          </c:dPt>
          <c:dPt>
            <c:idx val="2"/>
            <c:invertIfNegative val="0"/>
            <c:spPr>
              <a:solidFill>
                <a:srgbClr val="A9D2FB"/>
              </a:solidFill>
              <a:ln>
                <a:noFill/>
              </a:ln>
            </c:spPr>
          </c:dPt>
          <c:dPt>
            <c:idx val="3"/>
            <c:invertIfNegative val="0"/>
            <c:spPr>
              <a:solidFill>
                <a:srgbClr val="0A5AA6"/>
              </a:solidFill>
              <a:ln>
                <a:noFill/>
              </a:ln>
            </c:spPr>
          </c:dPt>
          <c:dPt>
            <c:idx val="4"/>
            <c:invertIfNegative val="0"/>
            <c:spPr>
              <a:solidFill>
                <a:srgbClr val="0A5AA6"/>
              </a:solidFill>
              <a:ln>
                <a:noFill/>
              </a:ln>
            </c:spPr>
          </c:dPt>
          <c:dPt>
            <c:idx val="5"/>
            <c:invertIfNegative val="0"/>
            <c:spPr>
              <a:solidFill>
                <a:srgbClr val="0A5AA6"/>
              </a:solidFill>
              <a:ln>
                <a:noFill/>
              </a:ln>
            </c:spPr>
          </c:dPt>
          <c:dPt>
            <c:idx val="6"/>
            <c:invertIfNegative val="0"/>
            <c:spPr>
              <a:solidFill>
                <a:srgbClr val="0A5AA6"/>
              </a:solidFill>
              <a:ln>
                <a:noFill/>
              </a:ln>
            </c:spPr>
          </c:dPt>
          <c:dPt>
            <c:idx val="7"/>
            <c:invertIfNegative val="0"/>
            <c:spPr>
              <a:solidFill>
                <a:srgbClr val="0A5AA6"/>
              </a:solidFill>
              <a:ln>
                <a:noFill/>
              </a:ln>
            </c:spPr>
          </c:dPt>
          <c:dLbls>
            <c:numFmt formatCode="+0.0&quot;pp&quot;;-0.0&quot;pp&quot;;0.0&quot;pp&quot;" sourceLinked="0"/>
            <c:txPr>
              <a:bodyPr/>
              <a:lstStyle/>
              <a:p>
                <a:pPr>
                  <a:defRPr sz="1000" b="0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Materials</c:v>
                </c:pt>
                <c:pt idx="1">
                  <c:v>Energy</c:v>
                </c:pt>
                <c:pt idx="2">
                  <c:v>Industrials</c:v>
                </c:pt>
                <c:pt idx="3">
                  <c:v>Financials</c:v>
                </c:pt>
                <c:pt idx="4">
                  <c:v>Utilities</c:v>
                </c:pt>
                <c:pt idx="5">
                  <c:v>Comm. Services</c:v>
                </c:pt>
                <c:pt idx="6">
                  <c:v>Health Care</c:v>
                </c:pt>
                <c:pt idx="7">
                  <c:v>Info. Technology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-9.0</c:v>
                </c:pt>
                <c:pt idx="1">
                  <c:v>-4.7</c:v>
                </c:pt>
                <c:pt idx="2">
                  <c:v>-2.6999999999999993</c:v>
                </c:pt>
                <c:pt idx="3">
                  <c:v>1.8000000000000007</c:v>
                </c:pt>
                <c:pt idx="4">
                  <c:v>3.0</c:v>
                </c:pt>
                <c:pt idx="5">
                  <c:v>3.1999999999999997</c:v>
                </c:pt>
                <c:pt idx="6">
                  <c:v>4.300000000000001</c:v>
                </c:pt>
                <c:pt idx="7">
                  <c:v>6.3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low"/>
        <c:spPr>
          <a:ln w="9525">
            <a:solidFill>
              <a:srgbClr val="7F7F7F"/>
            </a:solidFill>
          </a:ln>
        </c:spPr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.45"/>
          <c:min val="-12.15"/>
        </c:scaling>
        <c:delete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9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7"/>
          <c:y val="0.04"/>
          <c:w val="0.78"/>
          <c:h val="0.86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Fund</c:v>
                </c:pt>
              </c:strCache>
            </c:strRef>
          </c:tx>
          <c:spPr>
            <a:ln w="31750">
              <a:solidFill>
                <a:srgbClr val="6633CC"/>
              </a:solidFill>
            </a:ln>
          </c:spPr>
          <c:marker>
            <c:symbol val="none"/>
          </c:marker>
          <c:dLbls>
            <c:dLbl>
              <c:idx val="11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6633CC"/>
                        </a:solidFill>
                        <a:latin typeface="Arial"/>
                      </a:rPr>
                      <a:t>Fund 144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Dec-23</c:v>
                </c:pt>
                <c:pt idx="1">
                  <c:v>Mar-24</c:v>
                </c:pt>
                <c:pt idx="2">
                  <c:v>Jun-24</c:v>
                </c:pt>
                <c:pt idx="3">
                  <c:v>Sep-24</c:v>
                </c:pt>
                <c:pt idx="4">
                  <c:v>Dec-24</c:v>
                </c:pt>
                <c:pt idx="5">
                  <c:v>Mar-25</c:v>
                </c:pt>
                <c:pt idx="6">
                  <c:v>Jun-25</c:v>
                </c:pt>
                <c:pt idx="7">
                  <c:v>Sep-25</c:v>
                </c:pt>
                <c:pt idx="8">
                  <c:v>Dec-25</c:v>
                </c:pt>
                <c:pt idx="9">
                  <c:v>Mar-26</c:v>
                </c:pt>
                <c:pt idx="10">
                  <c:v>Jun-26</c:v>
                </c:pt>
                <c:pt idx="11">
                  <c:v>Sep-26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100</c:v>
                </c:pt>
                <c:pt idx="1">
                  <c:v>104</c:v>
                </c:pt>
                <c:pt idx="2">
                  <c:v>103</c:v>
                </c:pt>
                <c:pt idx="3">
                  <c:v>110</c:v>
                </c:pt>
                <c:pt idx="4">
                  <c:v>108</c:v>
                </c:pt>
                <c:pt idx="5">
                  <c:v>115</c:v>
                </c:pt>
                <c:pt idx="6">
                  <c:v>121</c:v>
                </c:pt>
                <c:pt idx="7">
                  <c:v>129</c:v>
                </c:pt>
                <c:pt idx="8">
                  <c:v>133</c:v>
                </c:pt>
                <c:pt idx="9">
                  <c:v>138</c:v>
                </c:pt>
                <c:pt idx="10">
                  <c:v>145</c:v>
                </c:pt>
                <c:pt idx="11">
                  <c:v>144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Peer A</c:v>
                </c:pt>
              </c:strCache>
            </c:strRef>
          </c:tx>
          <c:spPr>
            <a:ln w="19050">
              <a:solidFill>
                <a:srgbClr val="A6A6A6"/>
              </a:solidFill>
            </a:ln>
          </c:spPr>
          <c:marker>
            <c:symbol val="none"/>
          </c:marker>
          <c:dLbls>
            <c:dLbl>
              <c:idx val="11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A6A6A6"/>
                        </a:solidFill>
                        <a:latin typeface="Arial"/>
                      </a:rPr>
                      <a:t>Peer A 178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Dec-23</c:v>
                </c:pt>
                <c:pt idx="1">
                  <c:v>Mar-24</c:v>
                </c:pt>
                <c:pt idx="2">
                  <c:v>Jun-24</c:v>
                </c:pt>
                <c:pt idx="3">
                  <c:v>Sep-24</c:v>
                </c:pt>
                <c:pt idx="4">
                  <c:v>Dec-24</c:v>
                </c:pt>
                <c:pt idx="5">
                  <c:v>Mar-25</c:v>
                </c:pt>
                <c:pt idx="6">
                  <c:v>Jun-25</c:v>
                </c:pt>
                <c:pt idx="7">
                  <c:v>Sep-25</c:v>
                </c:pt>
                <c:pt idx="8">
                  <c:v>Dec-25</c:v>
                </c:pt>
                <c:pt idx="9">
                  <c:v>Mar-26</c:v>
                </c:pt>
                <c:pt idx="10">
                  <c:v>Jun-26</c:v>
                </c:pt>
                <c:pt idx="11">
                  <c:v>Sep-26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100</c:v>
                </c:pt>
                <c:pt idx="1">
                  <c:v>106</c:v>
                </c:pt>
                <c:pt idx="2">
                  <c:v>108</c:v>
                </c:pt>
                <c:pt idx="3">
                  <c:v>115</c:v>
                </c:pt>
                <c:pt idx="4">
                  <c:v>116</c:v>
                </c:pt>
                <c:pt idx="5">
                  <c:v>126</c:v>
                </c:pt>
                <c:pt idx="6">
                  <c:v>135</c:v>
                </c:pt>
                <c:pt idx="7">
                  <c:v>147</c:v>
                </c:pt>
                <c:pt idx="8">
                  <c:v>155</c:v>
                </c:pt>
                <c:pt idx="9">
                  <c:v>163</c:v>
                </c:pt>
                <c:pt idx="10">
                  <c:v>176</c:v>
                </c:pt>
                <c:pt idx="11">
                  <c:v>178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Peer B</c:v>
                </c:pt>
              </c:strCache>
            </c:strRef>
          </c:tx>
          <c:spPr>
            <a:ln w="19050">
              <a:solidFill>
                <a:srgbClr val="A9D2FB"/>
              </a:solidFill>
            </a:ln>
          </c:spPr>
          <c:marker>
            <c:symbol val="none"/>
          </c:marker>
          <c:dLbls>
            <c:dLbl>
              <c:idx val="11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A9D2FB"/>
                        </a:solidFill>
                        <a:latin typeface="Arial"/>
                      </a:rPr>
                      <a:t>Peer B 161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Dec-23</c:v>
                </c:pt>
                <c:pt idx="1">
                  <c:v>Mar-24</c:v>
                </c:pt>
                <c:pt idx="2">
                  <c:v>Jun-24</c:v>
                </c:pt>
                <c:pt idx="3">
                  <c:v>Sep-24</c:v>
                </c:pt>
                <c:pt idx="4">
                  <c:v>Dec-24</c:v>
                </c:pt>
                <c:pt idx="5">
                  <c:v>Mar-25</c:v>
                </c:pt>
                <c:pt idx="6">
                  <c:v>Jun-25</c:v>
                </c:pt>
                <c:pt idx="7">
                  <c:v>Sep-25</c:v>
                </c:pt>
                <c:pt idx="8">
                  <c:v>Dec-25</c:v>
                </c:pt>
                <c:pt idx="9">
                  <c:v>Mar-26</c:v>
                </c:pt>
                <c:pt idx="10">
                  <c:v>Jun-26</c:v>
                </c:pt>
                <c:pt idx="11">
                  <c:v>Sep-26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100</c:v>
                </c:pt>
                <c:pt idx="1">
                  <c:v>103</c:v>
                </c:pt>
                <c:pt idx="2">
                  <c:v>107</c:v>
                </c:pt>
                <c:pt idx="3">
                  <c:v>111</c:v>
                </c:pt>
                <c:pt idx="4">
                  <c:v>112</c:v>
                </c:pt>
                <c:pt idx="5">
                  <c:v>120</c:v>
                </c:pt>
                <c:pt idx="6">
                  <c:v>128</c:v>
                </c:pt>
                <c:pt idx="7">
                  <c:v>136</c:v>
                </c:pt>
                <c:pt idx="8">
                  <c:v>141</c:v>
                </c:pt>
                <c:pt idx="9">
                  <c:v>149</c:v>
                </c:pt>
                <c:pt idx="10">
                  <c:v>158</c:v>
                </c:pt>
                <c:pt idx="11">
                  <c:v>161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Peer avg</c:v>
                </c:pt>
              </c:strCache>
            </c:strRef>
          </c:tx>
          <c:spPr>
            <a:ln w="25400">
              <a:solidFill>
                <a:srgbClr val="0A5AA6"/>
              </a:solidFill>
              <a:prstDash val="dash"/>
            </a:ln>
          </c:spPr>
          <c:marker>
            <c:symbol val="none"/>
          </c:marker>
          <c:dLbls>
            <c:dLbl>
              <c:idx val="11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0A5AA6"/>
                        </a:solidFill>
                        <a:latin typeface="Arial"/>
                      </a:rPr>
                      <a:t>Peer avg 170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Sheet1!$A$2:$A$13</c:f>
              <c:strCache>
                <c:ptCount val="12"/>
                <c:pt idx="0">
                  <c:v>Dec-23</c:v>
                </c:pt>
                <c:pt idx="1">
                  <c:v>Mar-24</c:v>
                </c:pt>
                <c:pt idx="2">
                  <c:v>Jun-24</c:v>
                </c:pt>
                <c:pt idx="3">
                  <c:v>Sep-24</c:v>
                </c:pt>
                <c:pt idx="4">
                  <c:v>Dec-24</c:v>
                </c:pt>
                <c:pt idx="5">
                  <c:v>Mar-25</c:v>
                </c:pt>
                <c:pt idx="6">
                  <c:v>Jun-25</c:v>
                </c:pt>
                <c:pt idx="7">
                  <c:v>Sep-25</c:v>
                </c:pt>
                <c:pt idx="8">
                  <c:v>Dec-25</c:v>
                </c:pt>
                <c:pt idx="9">
                  <c:v>Mar-26</c:v>
                </c:pt>
                <c:pt idx="10">
                  <c:v>Jun-26</c:v>
                </c:pt>
                <c:pt idx="11">
                  <c:v>Sep-26</c:v>
                </c:pt>
              </c:strCache>
            </c:strRef>
          </c:cat>
          <c:val>
            <c:numRef>
              <c:f>Sheet1!$E$2:$E$13</c:f>
              <c:numCache>
                <c:formatCode>General</c:formatCode>
                <c:ptCount val="12"/>
                <c:pt idx="0">
                  <c:v>100</c:v>
                </c:pt>
                <c:pt idx="1">
                  <c:v>105</c:v>
                </c:pt>
                <c:pt idx="2">
                  <c:v>107</c:v>
                </c:pt>
                <c:pt idx="3">
                  <c:v>113</c:v>
                </c:pt>
                <c:pt idx="4">
                  <c:v>114</c:v>
                </c:pt>
                <c:pt idx="5">
                  <c:v>123</c:v>
                </c:pt>
                <c:pt idx="6">
                  <c:v>131</c:v>
                </c:pt>
                <c:pt idx="7">
                  <c:v>141</c:v>
                </c:pt>
                <c:pt idx="8">
                  <c:v>148</c:v>
                </c:pt>
                <c:pt idx="9">
                  <c:v>156</c:v>
                </c:pt>
                <c:pt idx="10">
                  <c:v>167</c:v>
                </c:pt>
                <c:pt idx="11">
                  <c:v>170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7F7F7F"/>
            </a:solidFill>
          </a:ln>
        </c:spPr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90.0"/>
          <c:min val="90.0"/>
        </c:scaling>
        <c:delete val="0"/>
        <c:axPos val="l"/>
        <c:majorGridlines>
          <c:spPr>
            <a:ln w="6350">
              <a:solidFill>
                <a:srgbClr val="E6E6E6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  <c:spPr>
        <a:noFill/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9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2"/>
          <c:y val="0.04"/>
          <c:w val="0.96"/>
          <c:h val="0.84"/>
        </c:manualLayout>
      </c:layout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_base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cat>
            <c:strRef>
              <c:f>Sheet1!$A$2:$A$7</c:f>
              <c:strCache>
                <c:ptCount val="6"/>
                <c:pt idx="0">
                  <c:v>Excess cash</c:v>
                </c:pt>
                <c:pt idx="1">
                  <c:v>Ordinary div.</c:v>
                </c:pt>
                <c:pt idx="2">
                  <c:v>Extraord. div.</c:v>
                </c:pt>
                <c:pt idx="3">
                  <c:v>Buybacks</c:v>
                </c:pt>
                <c:pt idx="4">
                  <c:v>New debt</c:v>
                </c:pt>
                <c:pt idx="5">
                  <c:v>Remaining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63.8</c:v>
                </c:pt>
                <c:pt idx="2">
                  <c:v>38.0</c:v>
                </c:pt>
                <c:pt idx="3">
                  <c:v>32.4</c:v>
                </c:pt>
                <c:pt idx="4">
                  <c:v>32.4</c:v>
                </c:pt>
                <c:pt idx="5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42825D"/>
            </a:solidFill>
            <a:ln>
              <a:noFill/>
            </a:ln>
          </c:spPr>
          <c:invertIfNegative val="0"/>
          <c:cat>
            <c:strRef>
              <c:f>Sheet1!$A$2:$A$7</c:f>
              <c:strCache>
                <c:ptCount val="6"/>
                <c:pt idx="0">
                  <c:v>Excess cash</c:v>
                </c:pt>
                <c:pt idx="1">
                  <c:v>Ordinary div.</c:v>
                </c:pt>
                <c:pt idx="2">
                  <c:v>Extraord. div.</c:v>
                </c:pt>
                <c:pt idx="3">
                  <c:v>Buybacks</c:v>
                </c:pt>
                <c:pt idx="4">
                  <c:v>New debt</c:v>
                </c:pt>
                <c:pt idx="5">
                  <c:v>Remaining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9.7</c:v>
                </c:pt>
                <c:pt idx="5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</c:spPr>
          <c:invertIfNegative val="0"/>
          <c:cat>
            <c:strRef>
              <c:f>Sheet1!$A$2:$A$7</c:f>
              <c:strCache>
                <c:ptCount val="6"/>
                <c:pt idx="0">
                  <c:v>Excess cash</c:v>
                </c:pt>
                <c:pt idx="1">
                  <c:v>Ordinary div.</c:v>
                </c:pt>
                <c:pt idx="2">
                  <c:v>Extraord. div.</c:v>
                </c:pt>
                <c:pt idx="3">
                  <c:v>Buybacks</c:v>
                </c:pt>
                <c:pt idx="4">
                  <c:v>New debt</c:v>
                </c:pt>
                <c:pt idx="5">
                  <c:v>Remaining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15.2</c:v>
                </c:pt>
                <c:pt idx="2">
                  <c:v>25.8</c:v>
                </c:pt>
                <c:pt idx="3">
                  <c:v>5.6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A5AA6"/>
            </a:solidFill>
            <a:ln>
              <a:noFill/>
            </a:ln>
          </c:spPr>
          <c:invertIfNegative val="0"/>
          <c:cat>
            <c:strRef>
              <c:f>Sheet1!$A$2:$A$7</c:f>
              <c:strCache>
                <c:ptCount val="6"/>
                <c:pt idx="0">
                  <c:v>Excess cash</c:v>
                </c:pt>
                <c:pt idx="1">
                  <c:v>Ordinary div.</c:v>
                </c:pt>
                <c:pt idx="2">
                  <c:v>Extraord. div.</c:v>
                </c:pt>
                <c:pt idx="3">
                  <c:v>Buybacks</c:v>
                </c:pt>
                <c:pt idx="4">
                  <c:v>New debt</c:v>
                </c:pt>
                <c:pt idx="5">
                  <c:v>Remaining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79.0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42.1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_lab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000000"/>
                        </a:solidFill>
                        <a:latin typeface="Arial"/>
                      </a:rPr>
                      <a:t>79.0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000000"/>
                        </a:solidFill>
                        <a:latin typeface="Arial"/>
                      </a:rPr>
                      <a:t>(15.2)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000000"/>
                        </a:solidFill>
                        <a:latin typeface="Arial"/>
                      </a:rPr>
                      <a:t>(25.8)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000000"/>
                        </a:solidFill>
                        <a:latin typeface="Arial"/>
                      </a:rPr>
                      <a:t>(5.6)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000000"/>
                        </a:solidFill>
                        <a:latin typeface="Arial"/>
                      </a:rPr>
                      <a:t>+9.7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000000"/>
                        </a:solidFill>
                        <a:latin typeface="Arial"/>
                      </a:rPr>
                      <a:t>42.1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Excess cash</c:v>
                </c:pt>
                <c:pt idx="1">
                  <c:v>Ordinary div.</c:v>
                </c:pt>
                <c:pt idx="2">
                  <c:v>Extraord. div.</c:v>
                </c:pt>
                <c:pt idx="3">
                  <c:v>Buybacks</c:v>
                </c:pt>
                <c:pt idx="4">
                  <c:v>New debt</c:v>
                </c:pt>
                <c:pt idx="5">
                  <c:v>Remaining</c:v>
                </c:pt>
              </c:strCache>
            </c: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gapWidth val="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7F7F7F"/>
            </a:solidFill>
          </a:ln>
        </c:spPr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0.85"/>
          <c:min val="0.0"/>
        </c:scaling>
        <c:delete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9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6"/>
          <c:y val="0.08"/>
          <c:w val="0.6"/>
          <c:h val="0.8"/>
        </c:manualLayout>
      </c:layout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_off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000000"/>
                        </a:solidFill>
                        <a:latin typeface="Arial"/>
                      </a:rPr>
                      <a:t>$23.00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000000"/>
                        </a:solidFill>
                        <a:latin typeface="Arial"/>
                      </a:rPr>
                      <a:t>$31.50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000000"/>
                        </a:solidFill>
                        <a:latin typeface="Arial"/>
                      </a:rPr>
                      <a:t>$37.80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000000"/>
                        </a:solidFill>
                        <a:latin typeface="Arial"/>
                      </a:rPr>
                      <a:t>$34.95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000000"/>
                        </a:solidFill>
                        <a:latin typeface="Arial"/>
                      </a:rPr>
                      <a:t>$36.75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000000"/>
                        </a:solidFill>
                        <a:latin typeface="Arial"/>
                      </a:rPr>
                      <a:t>$33.50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52-week trading range</c:v>
                </c:pt>
                <c:pt idx="1">
                  <c:v>Analyst price targets</c:v>
                </c:pt>
                <c:pt idx="2">
                  <c:v>DCF (WACC 10-12%, g 1-2%)</c:v>
                </c:pt>
                <c:pt idx="3">
                  <c:v>Precedents (8x-12x)</c:v>
                </c:pt>
                <c:pt idx="4">
                  <c:v>P / E '25E (14x-19x)</c:v>
                </c:pt>
                <c:pt idx="5">
                  <c:v>EV / EBITDA '25E (7.6x-13.5x)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3.0</c:v>
                </c:pt>
                <c:pt idx="1">
                  <c:v>11.5</c:v>
                </c:pt>
                <c:pt idx="2">
                  <c:v>17.799999999999997</c:v>
                </c:pt>
                <c:pt idx="3">
                  <c:v>14.950000000000003</c:v>
                </c:pt>
                <c:pt idx="4">
                  <c:v>16.75</c:v>
                </c:pt>
                <c:pt idx="5">
                  <c:v>13.5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Range</c:v>
                </c:pt>
              </c:strCache>
            </c:strRef>
          </c:tx>
          <c:invertIfNegative val="0"/>
          <c:dPt>
            <c:idx val="0"/>
            <c:invertIfNegative val="0"/>
            <c:spPr>
              <a:solidFill>
                <a:srgbClr val="A6A6A6"/>
              </a:solidFill>
              <a:ln>
                <a:noFill/>
              </a:ln>
            </c:spPr>
          </c:dPt>
          <c:dPt>
            <c:idx val="1"/>
            <c:invertIfNegative val="0"/>
            <c:spPr>
              <a:solidFill>
                <a:srgbClr val="A6A6A6"/>
              </a:solidFill>
              <a:ln>
                <a:noFill/>
              </a:ln>
            </c:spPr>
          </c:dPt>
          <c:dPt>
            <c:idx val="2"/>
            <c:invertIfNegative val="0"/>
            <c:spPr>
              <a:solidFill>
                <a:srgbClr val="A9D2FB"/>
              </a:solidFill>
              <a:ln>
                <a:noFill/>
              </a:ln>
            </c:spPr>
          </c:dPt>
          <c:dPt>
            <c:idx val="3"/>
            <c:invertIfNegative val="0"/>
            <c:spPr>
              <a:solidFill>
                <a:srgbClr val="A9D2FB"/>
              </a:solidFill>
              <a:ln>
                <a:noFill/>
              </a:ln>
            </c:spPr>
          </c:dPt>
          <c:dPt>
            <c:idx val="4"/>
            <c:invertIfNegative val="0"/>
            <c:spPr>
              <a:solidFill>
                <a:srgbClr val="0A5AA6"/>
              </a:solidFill>
              <a:ln>
                <a:noFill/>
              </a:ln>
            </c:spPr>
          </c:dPt>
          <c:dPt>
            <c:idx val="5"/>
            <c:invertIfNegative val="0"/>
            <c:spPr>
              <a:solidFill>
                <a:srgbClr val="0A5AA6"/>
              </a:solidFill>
              <a:ln>
                <a:noFill/>
              </a:ln>
            </c:spPr>
          </c:dPt>
          <c:cat>
            <c:strRef>
              <c:f>Sheet1!$A$2:$A$7</c:f>
              <c:strCache>
                <c:ptCount val="6"/>
                <c:pt idx="0">
                  <c:v>52-week trading range</c:v>
                </c:pt>
                <c:pt idx="1">
                  <c:v>Analyst price targets</c:v>
                </c:pt>
                <c:pt idx="2">
                  <c:v>DCF (WACC 10-12%, g 1-2%)</c:v>
                </c:pt>
                <c:pt idx="3">
                  <c:v>Precedents (8x-12x)</c:v>
                </c:pt>
                <c:pt idx="4">
                  <c:v>P / E '25E (14x-19x)</c:v>
                </c:pt>
                <c:pt idx="5">
                  <c:v>EV / EBITDA '25E (7.6x-13.5x)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16.9</c:v>
                </c:pt>
                <c:pt idx="1">
                  <c:v>13.5</c:v>
                </c:pt>
                <c:pt idx="2">
                  <c:v>7.800000000000004</c:v>
                </c:pt>
                <c:pt idx="3">
                  <c:v>11.25</c:v>
                </c:pt>
                <c:pt idx="4">
                  <c:v>7.549999999999997</c:v>
                </c:pt>
                <c:pt idx="5">
                  <c:v>11.600000000000001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_hi</c:v>
                </c:pt>
              </c:strCache>
            </c:strRef>
          </c:tx>
          <c:spPr>
            <a:noFill/>
            <a:ln>
              <a:noFill/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000000"/>
                        </a:solidFill>
                        <a:latin typeface="Arial"/>
                      </a:rPr>
                      <a:t>$39.90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000000"/>
                        </a:solidFill>
                        <a:latin typeface="Arial"/>
                      </a:rPr>
                      <a:t>$45.00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000000"/>
                        </a:solidFill>
                        <a:latin typeface="Arial"/>
                      </a:rPr>
                      <a:t>$45.60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000000"/>
                        </a:solidFill>
                        <a:latin typeface="Arial"/>
                      </a:rPr>
                      <a:t>$46.20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000000"/>
                        </a:solidFill>
                        <a:latin typeface="Arial"/>
                      </a:rPr>
                      <a:t>$44.30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rPr sz="900" b="0">
                        <a:solidFill>
                          <a:srgbClr val="000000"/>
                        </a:solidFill>
                        <a:latin typeface="Arial"/>
                      </a:rPr>
                      <a:t>$45.10</a:t>
                    </a:r>
                  </a:p>
                </c:rich>
              </c:tx>
              <c:dLblPos val="inBase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52-week trading range</c:v>
                </c:pt>
                <c:pt idx="1">
                  <c:v>Analyst price targets</c:v>
                </c:pt>
                <c:pt idx="2">
                  <c:v>DCF (WACC 10-12%, g 1-2%)</c:v>
                </c:pt>
                <c:pt idx="3">
                  <c:v>Precedents (8x-12x)</c:v>
                </c:pt>
                <c:pt idx="4">
                  <c:v>P / E '25E (14x-19x)</c:v>
                </c:pt>
                <c:pt idx="5">
                  <c:v>EV / EBITDA '25E (7.6x-13.5x)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</c:ser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 w="9525">
            <a:solidFill>
              <a:srgbClr val="7F7F7F"/>
            </a:solidFill>
          </a:ln>
        </c:spPr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0.0"/>
          <c:min val="0.0"/>
        </c:scaling>
        <c:delete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9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68"/>
          <c:h val="0.94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Downside</c:v>
                </c:pt>
              </c:strCache>
            </c:strRef>
          </c:tx>
          <c:spPr>
            <a:solidFill>
              <a:srgbClr val="A9D2FB"/>
            </a:solidFill>
            <a:ln>
              <a:noFill/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000000"/>
                        </a:solidFill>
                        <a:latin typeface="Arial"/>
                      </a:rPr>
                      <a:t>($0.55)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000000"/>
                        </a:solidFill>
                        <a:latin typeface="Arial"/>
                      </a:rPr>
                      <a:t>($0.65)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000000"/>
                        </a:solidFill>
                        <a:latin typeface="Arial"/>
                      </a:rPr>
                      <a:t>($1.25)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000000"/>
                        </a:solidFill>
                        <a:latin typeface="Arial"/>
                      </a:rPr>
                      <a:t>($1.65)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000000"/>
                        </a:solidFill>
                        <a:latin typeface="Arial"/>
                      </a:rPr>
                      <a:t>($3.75)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Perpetuity growth +/-1.0%</c:v>
                </c:pt>
                <c:pt idx="1">
                  <c:v>Revenue growth +/-1.0%</c:v>
                </c:pt>
                <c:pt idx="2">
                  <c:v>WACC +/-1.0%</c:v>
                </c:pt>
                <c:pt idx="3">
                  <c:v>EBITDA margin +/-1.0%</c:v>
                </c:pt>
                <c:pt idx="4">
                  <c:v>Litigation accrual $141m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-0.55</c:v>
                </c:pt>
                <c:pt idx="1">
                  <c:v>-0.65</c:v>
                </c:pt>
                <c:pt idx="2">
                  <c:v>-1.25</c:v>
                </c:pt>
                <c:pt idx="3">
                  <c:v>-1.65</c:v>
                </c:pt>
                <c:pt idx="4">
                  <c:v>-3.75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Upside</c:v>
                </c:pt>
              </c:strCache>
            </c:strRef>
          </c:tx>
          <c:spPr>
            <a:solidFill>
              <a:srgbClr val="0A5AA6"/>
            </a:solidFill>
            <a:ln>
              <a:noFill/>
            </a:ln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000000"/>
                        </a:solidFill>
                        <a:latin typeface="Arial"/>
                      </a:rPr>
                      <a:t>$0.65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000000"/>
                        </a:solidFill>
                        <a:latin typeface="Arial"/>
                      </a:rPr>
                      <a:t>$0.70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000000"/>
                        </a:solidFill>
                        <a:latin typeface="Arial"/>
                      </a:rPr>
                      <a:t>$1.50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000000"/>
                        </a:solidFill>
                        <a:latin typeface="Arial"/>
                      </a:rPr>
                      <a:t>$1.65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000000"/>
                        </a:solidFill>
                        <a:latin typeface="Arial"/>
                      </a:rPr>
                      <a:t> 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Perpetuity growth +/-1.0%</c:v>
                </c:pt>
                <c:pt idx="1">
                  <c:v>Revenue growth +/-1.0%</c:v>
                </c:pt>
                <c:pt idx="2">
                  <c:v>WACC +/-1.0%</c:v>
                </c:pt>
                <c:pt idx="3">
                  <c:v>EBITDA margin +/-1.0%</c:v>
                </c:pt>
                <c:pt idx="4">
                  <c:v>Litigation accrual $141m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0.65</c:v>
                </c:pt>
                <c:pt idx="1">
                  <c:v>0.7</c:v>
                </c:pt>
                <c:pt idx="2">
                  <c:v>1.5</c:v>
                </c:pt>
                <c:pt idx="3">
                  <c:v>1.65</c:v>
                </c:pt>
                <c:pt idx="4">
                  <c:v>0.0</c:v>
                </c:pt>
              </c:numCache>
            </c:numRef>
          </c:val>
        </c:ser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low"/>
        <c:spPr>
          <a:ln w="9525">
            <a:solidFill>
              <a:srgbClr val="FFFFFF"/>
            </a:solidFill>
          </a:ln>
        </c:spPr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4375"/>
          <c:min val="-5.4375"/>
        </c:scaling>
        <c:delete/>
        <c:axPos val="b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9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84"/>
          <c:h val="0.74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Mix</c:v>
                </c:pt>
              </c:strCache>
            </c:strRef>
          </c:tx>
          <c:dPt>
            <c:idx val="0"/>
            <c:spPr>
              <a:solidFill>
                <a:srgbClr val="0A5AA6"/>
              </a:solidFill>
              <a:ln w="19050">
                <a:solidFill>
                  <a:srgbClr val="FFFFFF"/>
                </a:solidFill>
              </a:ln>
            </c:spPr>
          </c:dPt>
          <c:dPt>
            <c:idx val="1"/>
            <c:spPr>
              <a:solidFill>
                <a:srgbClr val="A9D2FB"/>
              </a:solidFill>
              <a:ln w="19050">
                <a:solidFill>
                  <a:srgbClr val="FFFFFF"/>
                </a:solidFill>
              </a:ln>
            </c:spPr>
          </c:dPt>
          <c:dPt>
            <c:idx val="2"/>
            <c:spPr>
              <a:solidFill>
                <a:srgbClr val="6633CC"/>
              </a:solidFill>
              <a:ln w="19050">
                <a:solidFill>
                  <a:srgbClr val="FFFFFF"/>
                </a:solidFill>
              </a:ln>
            </c:spPr>
          </c:dPt>
          <c:dPt>
            <c:idx val="3"/>
            <c:spPr>
              <a:solidFill>
                <a:srgbClr val="86E5C1"/>
              </a:solidFill>
              <a:ln w="19050">
                <a:solidFill>
                  <a:srgbClr val="FFFFFF"/>
                </a:solidFill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45%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000000"/>
                        </a:solidFill>
                        <a:latin typeface="Arial"/>
                      </a:rPr>
                      <a:t>30%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15%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900" b="1">
                        <a:solidFill>
                          <a:srgbClr val="FFFFFF"/>
                        </a:solidFill>
                        <a:latin typeface="Arial"/>
                      </a:rPr>
                      <a:t>10%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Retail</c:v>
                </c:pt>
                <c:pt idx="1">
                  <c:v>Beverages</c:v>
                </c:pt>
                <c:pt idx="2">
                  <c:v>Health</c:v>
                </c:pt>
                <c:pt idx="3">
                  <c:v>Other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30</c:v>
                </c:pt>
                <c:pt idx="2">
                  <c:v>15</c:v>
                </c:pt>
                <c:pt idx="3">
                  <c:v>10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0"/>
      </c:doughnutChart>
      <c:spPr>
        <a:noFill/>
        <a:ln>
          <a:noFill/>
        </a:ln>
      </c:spPr>
    </c:plotArea>
    <c:legend>
      <c:legendPos val="b"/>
      <c:layout/>
      <c:overlay val="0"/>
      <c:txPr>
        <a:bodyPr/>
        <a:lstStyle/>
        <a:p>
          <a:pPr>
            <a:defRPr sz="900">
              <a:latin typeface="Arial"/>
            </a:defRPr>
          </a:pPr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900">
          <a:solidFill>
            <a:srgbClr val="000000"/>
          </a:solidFill>
          <a:latin typeface="Arial"/>
        </a:defRPr>
      </a:pPr>
      <a:endParaRPr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2"/>
          <c:y val="0.08"/>
          <c:w val="0.96"/>
          <c:h val="0.8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</c:spPr>
          <c:invertIfNegative val="0"/>
          <c:dPt>
            <c:idx val="0"/>
            <c:invertIfNegative val="0"/>
            <c:spPr>
              <a:solidFill>
                <a:srgbClr val="0A5AA6"/>
              </a:solidFill>
              <a:ln>
                <a:noFill/>
              </a:ln>
            </c:spPr>
          </c:dPt>
          <c:dLbls>
            <c:numFmt formatCode="0.0&quot;x&quot;" sourceLinked="0"/>
            <c:txPr>
              <a:bodyPr/>
              <a:lstStyle/>
              <a:p>
                <a:pPr>
                  <a:defRPr sz="1000" b="0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Company</c:v>
                </c:pt>
                <c:pt idx="1">
                  <c:v>Peer A</c:v>
                </c:pt>
                <c:pt idx="2">
                  <c:v>Peer B</c:v>
                </c:pt>
                <c:pt idx="3">
                  <c:v>Peer C</c:v>
                </c:pt>
                <c:pt idx="4">
                  <c:v>Peer 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1.02</c:v>
                </c:pt>
                <c:pt idx="1">
                  <c:v>2.4</c:v>
                </c:pt>
                <c:pt idx="2">
                  <c:v>1.8</c:v>
                </c:pt>
                <c:pt idx="3">
                  <c:v>3.1</c:v>
                </c:pt>
                <c:pt idx="4">
                  <c:v>2.2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>
            <a:solidFill>
              <a:srgbClr val="7F7F7F"/>
            </a:solidFill>
          </a:ln>
        </c:spPr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.565"/>
          <c:min val="0.0"/>
        </c:scaling>
        <c:delete/>
        <c:axPos val="l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  <c:spPr>
        <a:noFill/>
        <a:ln>
          <a:noFill/>
        </a:ln>
      </c:spPr>
    </c:plotArea>
    <c:dispBlanksAs val="gap"/>
  </c:chart>
  <c:spPr>
    <a:noFill/>
    <a:ln>
      <a:noFill/>
    </a:ln>
  </c:spPr>
  <c:txPr>
    <a:bodyPr/>
    <a:lstStyle/>
    <a:p>
      <a:pPr>
        <a:defRPr sz="900">
          <a:solidFill>
            <a:srgbClr val="000000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Relationship Id="rId3" Type="http://schemas.openxmlformats.org/officeDocument/2006/relationships/chart" Target="../charts/chart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377440"/>
            <a:ext cx="8686800" cy="1188720"/>
          </a:xfrm>
          <a:prstGeom prst="rect">
            <a:avLst/>
          </a:prstGeom>
          <a:noFill/>
        </p:spPr>
        <p:txBody>
          <a:bodyPr wrap="square" lIns="54864" rIns="54864" tIns="36576" bIns="36576" anchor="b"/>
          <a:lstStyle/>
          <a:p>
            <a:pPr algn="l"/>
            <a:r>
              <a:rPr sz="4000" b="0" i="0">
                <a:solidFill>
                  <a:srgbClr val="000000"/>
                </a:solidFill>
                <a:latin typeface="Arial"/>
              </a:rPr>
              <a:t>Layout Gallery: Slide Archetypes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611880"/>
            <a:ext cx="8686800" cy="457200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l"/>
            <a:r>
              <a:rPr sz="2400" b="0" i="0">
                <a:solidFill>
                  <a:srgbClr val="000000"/>
                </a:solidFill>
                <a:latin typeface="Arial"/>
              </a:rPr>
              <a:t>House style · native shapes &amp; charts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114800"/>
            <a:ext cx="8686800" cy="411480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l"/>
            <a:r>
              <a:rPr sz="1800" b="0" i="0">
                <a:solidFill>
                  <a:srgbClr val="000000"/>
                </a:solidFill>
                <a:latin typeface="Arial"/>
              </a:rP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5780" y="411480"/>
            <a:ext cx="11247120" cy="502920"/>
          </a:xfrm>
          <a:prstGeom prst="rect">
            <a:avLst/>
          </a:prstGeom>
          <a:noFill/>
        </p:spPr>
        <p:txBody>
          <a:bodyPr wrap="none" lIns="0" rIns="0" tIns="0" bIns="0" anchor="b"/>
          <a:lstStyle/>
          <a:p>
            <a:pPr algn="l"/>
            <a:r>
              <a:rPr sz="2400" b="0" i="0">
                <a:solidFill>
                  <a:srgbClr val="000000"/>
                </a:solidFill>
                <a:latin typeface="Arial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53190" y="6446520"/>
            <a:ext cx="421538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8426" y="1417320"/>
            <a:ext cx="568756" cy="347472"/>
          </a:xfrm>
          <a:prstGeom prst="roundRect">
            <a:avLst>
              <a:gd name="adj" fmla="val 12000"/>
            </a:avLst>
          </a:prstGeom>
          <a:solidFill>
            <a:srgbClr val="0A5AA6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I</a:t>
            </a:r>
          </a:p>
        </p:txBody>
      </p:sp>
      <p:sp>
        <p:nvSpPr>
          <p:cNvPr id="5" name="Rectangle 4"/>
          <p:cNvSpPr/>
          <p:nvPr/>
        </p:nvSpPr>
        <p:spPr>
          <a:xfrm>
            <a:off x="1535277" y="1417320"/>
            <a:ext cx="10049256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wrap="square" lIns="109728" rIns="109728" tIns="36576" bIns="36576"/>
          <a:lstStyle/>
          <a:p>
            <a:pPr algn="l"/>
            <a:r>
              <a:rPr sz="1400" b="0" i="1">
                <a:solidFill>
                  <a:srgbClr val="000000"/>
                </a:solidFill>
                <a:latin typeface="Arial"/>
              </a:rPr>
              <a:t>Executive summary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8426" y="1941271"/>
            <a:ext cx="568756" cy="347472"/>
          </a:xfrm>
          <a:prstGeom prst="roundRect">
            <a:avLst>
              <a:gd name="adj" fmla="val 12000"/>
            </a:avLst>
          </a:prstGeom>
          <a:solidFill>
            <a:srgbClr val="0A5AA6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II</a:t>
            </a:r>
          </a:p>
        </p:txBody>
      </p:sp>
      <p:sp>
        <p:nvSpPr>
          <p:cNvPr id="7" name="Rectangle 6"/>
          <p:cNvSpPr/>
          <p:nvPr/>
        </p:nvSpPr>
        <p:spPr>
          <a:xfrm>
            <a:off x="1535277" y="1941271"/>
            <a:ext cx="10049256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wrap="square" lIns="109728" rIns="109728" tIns="36576" bIns="36576"/>
          <a:lstStyle/>
          <a:p>
            <a:pPr algn="l"/>
            <a:r>
              <a:rPr sz="1400" b="0" i="1">
                <a:solidFill>
                  <a:srgbClr val="000000"/>
                </a:solidFill>
                <a:latin typeface="Arial"/>
              </a:rPr>
              <a:t>Company overview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8426" y="2465222"/>
            <a:ext cx="568756" cy="347472"/>
          </a:xfrm>
          <a:prstGeom prst="roundRect">
            <a:avLst>
              <a:gd name="adj" fmla="val 12000"/>
            </a:avLst>
          </a:prstGeom>
          <a:solidFill>
            <a:srgbClr val="0A5AA6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III</a:t>
            </a:r>
          </a:p>
        </p:txBody>
      </p:sp>
      <p:sp>
        <p:nvSpPr>
          <p:cNvPr id="9" name="Rectangle 8"/>
          <p:cNvSpPr/>
          <p:nvPr/>
        </p:nvSpPr>
        <p:spPr>
          <a:xfrm>
            <a:off x="1535277" y="2465222"/>
            <a:ext cx="10049256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wrap="square" lIns="109728" rIns="109728" tIns="36576" bIns="36576"/>
          <a:lstStyle/>
          <a:p>
            <a:pPr algn="l"/>
            <a:r>
              <a:rPr sz="1400" b="0" i="1">
                <a:solidFill>
                  <a:srgbClr val="000000"/>
                </a:solidFill>
                <a:latin typeface="Arial"/>
              </a:rPr>
              <a:t>Financial performance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8426" y="2989173"/>
            <a:ext cx="568756" cy="347472"/>
          </a:xfrm>
          <a:prstGeom prst="roundRect">
            <a:avLst>
              <a:gd name="adj" fmla="val 12000"/>
            </a:avLst>
          </a:prstGeom>
          <a:solidFill>
            <a:srgbClr val="0A5AA6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IV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5277" y="2989173"/>
            <a:ext cx="10049256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wrap="square" lIns="109728" rIns="109728" tIns="36576" bIns="36576"/>
          <a:lstStyle/>
          <a:p>
            <a:pPr algn="l"/>
            <a:r>
              <a:rPr sz="1400" b="0" i="1">
                <a:solidFill>
                  <a:srgbClr val="000000"/>
                </a:solidFill>
                <a:latin typeface="Arial"/>
              </a:rPr>
              <a:t>Peers &amp; positioning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8426" y="3513124"/>
            <a:ext cx="568756" cy="347472"/>
          </a:xfrm>
          <a:prstGeom prst="roundRect">
            <a:avLst>
              <a:gd name="adj" fmla="val 12000"/>
            </a:avLst>
          </a:prstGeom>
          <a:solidFill>
            <a:srgbClr val="0A5AA6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35277" y="3513124"/>
            <a:ext cx="10049256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wrap="square" lIns="109728" rIns="109728" tIns="36576" bIns="36576"/>
          <a:lstStyle/>
          <a:p>
            <a:pPr algn="l"/>
            <a:r>
              <a:rPr sz="1400" b="0" i="1">
                <a:solidFill>
                  <a:srgbClr val="000000"/>
                </a:solidFill>
                <a:latin typeface="Arial"/>
              </a:rPr>
              <a:t>Valuation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8426" y="4037076"/>
            <a:ext cx="568756" cy="347472"/>
          </a:xfrm>
          <a:prstGeom prst="roundRect">
            <a:avLst>
              <a:gd name="adj" fmla="val 12000"/>
            </a:avLst>
          </a:prstGeom>
          <a:solidFill>
            <a:srgbClr val="0A5AA6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VI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535277" y="4037076"/>
            <a:ext cx="10049256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wrap="square" lIns="109728" rIns="109728" tIns="36576" bIns="36576"/>
          <a:lstStyle/>
          <a:p>
            <a:pPr algn="l"/>
            <a:r>
              <a:rPr sz="1400" b="0" i="1">
                <a:solidFill>
                  <a:srgbClr val="000000"/>
                </a:solidFill>
                <a:latin typeface="Arial"/>
              </a:rPr>
              <a:t>Capital allocation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8426" y="4561027"/>
            <a:ext cx="568756" cy="347472"/>
          </a:xfrm>
          <a:prstGeom prst="roundRect">
            <a:avLst>
              <a:gd name="adj" fmla="val 12000"/>
            </a:avLst>
          </a:prstGeom>
          <a:solidFill>
            <a:srgbClr val="0A5AA6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Arial"/>
              </a:rPr>
              <a:t>VII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35277" y="4561027"/>
            <a:ext cx="10049256" cy="34747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wrap="square" lIns="109728" rIns="109728" tIns="36576" bIns="36576"/>
          <a:lstStyle/>
          <a:p>
            <a:pPr algn="l"/>
            <a:r>
              <a:rPr sz="1400" b="0" i="1">
                <a:solidFill>
                  <a:srgbClr val="000000"/>
                </a:solidFill>
                <a:latin typeface="Arial"/>
              </a:rPr>
              <a:t>Recommendation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5780" y="411480"/>
            <a:ext cx="11247120" cy="502920"/>
          </a:xfrm>
          <a:prstGeom prst="rect">
            <a:avLst/>
          </a:prstGeom>
          <a:noFill/>
        </p:spPr>
        <p:txBody>
          <a:bodyPr wrap="none" lIns="0" rIns="0" tIns="0" bIns="0" anchor="b"/>
          <a:lstStyle/>
          <a:p>
            <a:pPr algn="l"/>
            <a:r>
              <a:rPr sz="2400" b="0" i="0">
                <a:solidFill>
                  <a:srgbClr val="000000"/>
                </a:solidFill>
                <a:latin typeface="Arial"/>
              </a:rPr>
              <a:t>Investment Call: Leader Compounding Into a Capex Upcycle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5780" y="914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595959"/>
                </a:solidFill>
                <a:latin typeface="Arial"/>
              </a:rPr>
              <a:t>Backlog of $12.6bn (+60% YoY) covers ~1.1x next-year revenue; valuation still 15% below peers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5780" y="6272784"/>
            <a:ext cx="1124712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700" b="0" i="0">
                <a:solidFill>
                  <a:srgbClr val="595959"/>
                </a:solidFill>
                <a:latin typeface="Arial"/>
              </a:rPr>
              <a:t>Illustrative data - layout gallery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53190" y="6446520"/>
            <a:ext cx="421538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5780" y="1280160"/>
            <a:ext cx="11248948" cy="4754880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just" marL="155448" indent="-146304">
              <a:spcBef>
                <a:spcPts val="400"/>
              </a:spcBef>
              <a:buFont typeface="Arial"/>
              <a:buChar char="•"/>
            </a:pPr>
            <a:r>
              <a:rPr sz="1400" b="0" i="0">
                <a:solidFill>
                  <a:srgbClr val="000000"/>
                </a:solidFill>
                <a:latin typeface="Arial"/>
              </a:rPr>
              <a:t>Company X is the </a:t>
            </a:r>
            <a:r>
              <a:rPr sz="1400" b="1" i="0">
                <a:solidFill>
                  <a:srgbClr val="000000"/>
                </a:solidFill>
                <a:latin typeface="Arial"/>
              </a:rPr>
              <a:t>global leader in process control</a:t>
            </a:r>
            <a:r>
              <a:rPr sz="1400" b="0" i="0">
                <a:solidFill>
                  <a:srgbClr val="000000"/>
                </a:solidFill>
                <a:latin typeface="Arial"/>
              </a:rPr>
              <a:t>, capturing rising complexity with </a:t>
            </a:r>
            <a:r>
              <a:rPr sz="1400" b="1" i="0">
                <a:solidFill>
                  <a:srgbClr val="0A5AA6"/>
                </a:solidFill>
                <a:latin typeface="Arial"/>
              </a:rPr>
              <a:t>~56% market share</a:t>
            </a:r>
            <a:r>
              <a:rPr sz="1400" b="0" i="0">
                <a:solidFill>
                  <a:srgbClr val="000000"/>
                </a:solidFill>
                <a:latin typeface="Arial"/>
              </a:rPr>
              <a:t> and 6.5x the share of its nearest competitor.</a:t>
            </a:r>
          </a:p>
          <a:p>
            <a:pPr algn="just">
              <a:spcBef>
                <a:spcPts val="800"/>
              </a:spcBef>
            </a:pPr>
            <a:r>
              <a:rPr sz="1400" b="1" i="0">
                <a:solidFill>
                  <a:srgbClr val="000000"/>
                </a:solidFill>
                <a:latin typeface="Arial"/>
              </a:rPr>
              <a:t>Catalysts</a:t>
            </a:r>
          </a:p>
          <a:p>
            <a:pPr algn="just" marL="155448" indent="-146304">
              <a:spcBef>
                <a:spcPts val="400"/>
              </a:spcBef>
              <a:buFont typeface="Arial"/>
              <a:buChar char="•"/>
            </a:pPr>
            <a:r>
              <a:rPr sz="1400" b="1" i="0">
                <a:solidFill>
                  <a:srgbClr val="000000"/>
                </a:solidFill>
                <a:latin typeface="Arial"/>
              </a:rPr>
              <a:t>Order momentum:</a:t>
            </a:r>
            <a:r>
              <a:rPr sz="1400" b="0" i="0">
                <a:solidFill>
                  <a:srgbClr val="000000"/>
                </a:solidFill>
                <a:latin typeface="Arial"/>
              </a:rPr>
              <a:t> bookings of </a:t>
            </a:r>
            <a:r>
              <a:rPr sz="1400" b="1" i="0">
                <a:solidFill>
                  <a:srgbClr val="0A5AA6"/>
                </a:solidFill>
                <a:latin typeface="Arial"/>
              </a:rPr>
              <a:t>$3.2bn in Q2</a:t>
            </a:r>
            <a:r>
              <a:rPr sz="1400" b="0" i="0">
                <a:solidFill>
                  <a:srgbClr val="000000"/>
                </a:solidFill>
                <a:latin typeface="Arial"/>
              </a:rPr>
              <a:t> (+25% YoY) and a backlog that already covers 82% of guided revenue.</a:t>
            </a:r>
          </a:p>
          <a:p>
            <a:pPr algn="just" marL="155448" indent="-146304">
              <a:spcBef>
                <a:spcPts val="400"/>
              </a:spcBef>
              <a:buFont typeface="Arial"/>
              <a:buChar char="•"/>
            </a:pPr>
            <a:r>
              <a:rPr sz="1400" b="1" i="0">
                <a:solidFill>
                  <a:srgbClr val="000000"/>
                </a:solidFill>
                <a:latin typeface="Arial"/>
              </a:rPr>
              <a:t>Mix shift:</a:t>
            </a:r>
            <a:r>
              <a:rPr sz="1400" b="0" i="0">
                <a:solidFill>
                  <a:srgbClr val="000000"/>
                </a:solidFill>
                <a:latin typeface="Arial"/>
              </a:rPr>
              <a:t> services grow to 38% of revenue by FY27E, lifting gross margin by ~150 bps.</a:t>
            </a:r>
          </a:p>
          <a:p>
            <a:pPr algn="just" marL="155448" indent="-146304">
              <a:spcBef>
                <a:spcPts val="400"/>
              </a:spcBef>
              <a:buFont typeface="Arial"/>
              <a:buChar char="•"/>
            </a:pPr>
            <a:r>
              <a:rPr sz="1400" b="1" i="0">
                <a:solidFill>
                  <a:srgbClr val="000000"/>
                </a:solidFill>
                <a:latin typeface="Arial"/>
              </a:rPr>
              <a:t>Capital returns:</a:t>
            </a:r>
            <a:r>
              <a:rPr sz="1400" b="0" i="0">
                <a:solidFill>
                  <a:srgbClr val="000000"/>
                </a:solidFill>
                <a:latin typeface="Arial"/>
              </a:rPr>
              <a:t> $3.4bn returned in FY26 with $9.7bn of authorisation still available.</a:t>
            </a:r>
          </a:p>
          <a:p>
            <a:pPr algn="just">
              <a:spcBef>
                <a:spcPts val="800"/>
              </a:spcBef>
            </a:pPr>
            <a:r>
              <a:rPr sz="1400" b="1" i="0">
                <a:solidFill>
                  <a:srgbClr val="000000"/>
                </a:solidFill>
                <a:latin typeface="Arial"/>
              </a:rPr>
              <a:t>Key Risks to Monitor</a:t>
            </a:r>
          </a:p>
          <a:p>
            <a:pPr algn="just" marL="155448" indent="-146304">
              <a:spcBef>
                <a:spcPts val="400"/>
              </a:spcBef>
              <a:buFont typeface="Arial"/>
              <a:buChar char="•"/>
            </a:pPr>
            <a:r>
              <a:rPr sz="1400" b="1" i="0">
                <a:solidFill>
                  <a:srgbClr val="C00000"/>
                </a:solidFill>
                <a:latin typeface="Arial"/>
              </a:rPr>
              <a:t>Customer concentration:</a:t>
            </a:r>
            <a:r>
              <a:rPr sz="1400" b="0" i="0">
                <a:solidFill>
                  <a:srgbClr val="000000"/>
                </a:solidFill>
                <a:latin typeface="Arial"/>
              </a:rPr>
              <a:t> top-3 customers represent 41% of revenue; a capex pause hits orders first.</a:t>
            </a:r>
          </a:p>
          <a:p>
            <a:pPr algn="just" marL="155448" indent="-146304">
              <a:spcBef>
                <a:spcPts val="400"/>
              </a:spcBef>
              <a:buFont typeface="Arial"/>
              <a:buChar char="•"/>
            </a:pPr>
            <a:r>
              <a:rPr sz="1400" b="1" i="0">
                <a:solidFill>
                  <a:srgbClr val="C00000"/>
                </a:solidFill>
                <a:latin typeface="Arial"/>
              </a:rPr>
              <a:t>Valuation:</a:t>
            </a:r>
            <a:r>
              <a:rPr sz="1400" b="0" i="0">
                <a:solidFill>
                  <a:srgbClr val="000000"/>
                </a:solidFill>
                <a:latin typeface="Arial"/>
              </a:rPr>
              <a:t> at 32x forward P/E any miss compresses the multiple before earnings catch up.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5780" y="411480"/>
            <a:ext cx="11247120" cy="502920"/>
          </a:xfrm>
          <a:prstGeom prst="rect">
            <a:avLst/>
          </a:prstGeom>
          <a:noFill/>
        </p:spPr>
        <p:txBody>
          <a:bodyPr wrap="none" lIns="0" rIns="0" tIns="0" bIns="0" anchor="b"/>
          <a:lstStyle/>
          <a:p>
            <a:pPr algn="l"/>
            <a:r>
              <a:rPr sz="2400" b="0" i="0">
                <a:solidFill>
                  <a:srgbClr val="000000"/>
                </a:solidFill>
                <a:latin typeface="Arial"/>
              </a:rPr>
              <a:t>Company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5780" y="914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595959"/>
                </a:solidFill>
                <a:latin typeface="Arial"/>
              </a:rPr>
              <a:t>Global leader in process control for semiconductor manufacturing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5780" y="6272784"/>
            <a:ext cx="1124712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700" b="0" i="0">
                <a:solidFill>
                  <a:srgbClr val="595959"/>
                </a:solidFill>
                <a:latin typeface="Arial"/>
              </a:rPr>
              <a:t>Illustrative data - layout gallery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53190" y="6446520"/>
            <a:ext cx="421538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5780" y="1280160"/>
            <a:ext cx="7863840" cy="1371600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just" marL="155448" indent="-146304">
              <a:spcBef>
                <a:spcPts val="400"/>
              </a:spcBef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Arial"/>
              </a:rPr>
              <a:t>Dominant provider of inspection and metrology systems</a:t>
            </a:r>
            <a:r>
              <a:rPr sz="1200" b="0" i="0">
                <a:solidFill>
                  <a:srgbClr val="000000"/>
                </a:solidFill>
                <a:latin typeface="Arial"/>
              </a:rPr>
              <a:t> that detect defects at every step of chip manufacturing, serving foundry, logic and memory makers.</a:t>
            </a:r>
          </a:p>
          <a:p>
            <a:pPr algn="just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Arial"/>
              </a:rPr>
              <a:t>Competes through </a:t>
            </a:r>
            <a:r>
              <a:rPr sz="1200" b="1" i="0">
                <a:solidFill>
                  <a:srgbClr val="000000"/>
                </a:solidFill>
                <a:latin typeface="Arial"/>
              </a:rPr>
              <a:t>R&amp;D scale and IP</a:t>
            </a:r>
            <a:r>
              <a:rPr sz="1200" b="0" i="0">
                <a:solidFill>
                  <a:srgbClr val="000000"/>
                </a:solidFill>
                <a:latin typeface="Arial"/>
              </a:rPr>
              <a:t>: 9,100 patents and $1.5bn of annual R&amp;D (11% of revenue).</a:t>
            </a:r>
          </a:p>
        </p:txBody>
      </p:sp>
      <p:sp>
        <p:nvSpPr>
          <p:cNvPr id="7" name="Rectangle 6"/>
          <p:cNvSpPr/>
          <p:nvPr/>
        </p:nvSpPr>
        <p:spPr>
          <a:xfrm>
            <a:off x="8778240" y="1325880"/>
            <a:ext cx="2743200" cy="914400"/>
          </a:xfrm>
          <a:prstGeom prst="rect">
            <a:avLst/>
          </a:prstGeom>
          <a:noFill/>
          <a:ln w="9525">
            <a:solidFill>
              <a:srgbClr val="A6A6A6"/>
            </a:solidFill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000" b="0" i="0">
                <a:solidFill>
                  <a:srgbClr val="7F7F7F"/>
                </a:solidFill>
                <a:latin typeface="Arial"/>
              </a:rPr>
              <a:t>[ company logo ]</a:t>
            </a:r>
          </a:p>
        </p:txBody>
      </p:sp>
      <p:sp>
        <p:nvSpPr>
          <p:cNvPr id="8" name="Rectangle 7"/>
          <p:cNvSpPr/>
          <p:nvPr/>
        </p:nvSpPr>
        <p:spPr>
          <a:xfrm>
            <a:off x="525780" y="2880360"/>
            <a:ext cx="3627729" cy="329184"/>
          </a:xfrm>
          <a:prstGeom prst="rect">
            <a:avLst/>
          </a:prstGeom>
          <a:solidFill>
            <a:srgbClr val="0A5AA6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Process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" y="3227832"/>
            <a:ext cx="3627729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0" i="1">
                <a:solidFill>
                  <a:srgbClr val="000000"/>
                </a:solidFill>
                <a:latin typeface="Arial"/>
              </a:rPr>
              <a:t>90% of revenue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5780" y="3493008"/>
            <a:ext cx="3627729" cy="1417320"/>
          </a:xfrm>
          <a:prstGeom prst="rect">
            <a:avLst/>
          </a:prstGeom>
          <a:noFill/>
          <a:ln w="9525">
            <a:solidFill>
              <a:srgbClr val="A6A6A6"/>
            </a:solidFill>
          </a:ln>
        </p:spPr>
        <p:txBody>
          <a:bodyPr rtlCol="0" anchor="t" wrap="square" lIns="73152" rIns="73152" tIns="36576" bIns="36576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000" b="0" i="0">
                <a:solidFill>
                  <a:srgbClr val="000000"/>
                </a:solidFill>
                <a:latin typeface="Arial"/>
              </a:rPr>
              <a:t>Inspection &amp; metrology for wafers and reticles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000" b="0" i="0">
                <a:solidFill>
                  <a:srgbClr val="000000"/>
                </a:solidFill>
                <a:latin typeface="Arial"/>
              </a:rPr>
              <a:t>Revenue </a:t>
            </a:r>
            <a:r>
              <a:rPr sz="1000" b="1" i="0">
                <a:solidFill>
                  <a:srgbClr val="000000"/>
                </a:solidFill>
                <a:latin typeface="Arial"/>
              </a:rPr>
              <a:t>+12% YoY</a:t>
            </a:r>
            <a:r>
              <a:rPr sz="1000" b="0" i="0">
                <a:solidFill>
                  <a:srgbClr val="000000"/>
                </a:solidFill>
                <a:latin typeface="Arial"/>
              </a:rPr>
              <a:t> on AI/HBM demand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000" b="0" i="0">
                <a:solidFill>
                  <a:srgbClr val="000000"/>
                </a:solidFill>
                <a:latin typeface="Arial"/>
              </a:rPr>
              <a:t>Mix: foundry/logic 79%, memory 21%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6389" y="2880360"/>
            <a:ext cx="3627729" cy="329184"/>
          </a:xfrm>
          <a:prstGeom prst="rect">
            <a:avLst/>
          </a:prstGeom>
          <a:solidFill>
            <a:srgbClr val="A9D2FB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PCB &amp; Components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36389" y="3227832"/>
            <a:ext cx="3627729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0" i="1">
                <a:solidFill>
                  <a:srgbClr val="000000"/>
                </a:solidFill>
                <a:latin typeface="Arial"/>
              </a:rPr>
              <a:t>6% of revenue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36389" y="3493008"/>
            <a:ext cx="3627729" cy="1417320"/>
          </a:xfrm>
          <a:prstGeom prst="rect">
            <a:avLst/>
          </a:prstGeom>
          <a:noFill/>
          <a:ln w="9525">
            <a:solidFill>
              <a:srgbClr val="A6A6A6"/>
            </a:solidFill>
          </a:ln>
        </p:spPr>
        <p:txBody>
          <a:bodyPr rtlCol="0" anchor="t" wrap="square" lIns="73152" rIns="73152" tIns="36576" bIns="36576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000" b="0" i="0">
                <a:solidFill>
                  <a:srgbClr val="000000"/>
                </a:solidFill>
                <a:latin typeface="Arial"/>
              </a:rPr>
              <a:t>Inspection &amp; metrology for wafers and reticles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000" b="0" i="0">
                <a:solidFill>
                  <a:srgbClr val="000000"/>
                </a:solidFill>
                <a:latin typeface="Arial"/>
              </a:rPr>
              <a:t>Revenue </a:t>
            </a:r>
            <a:r>
              <a:rPr sz="1000" b="1" i="0">
                <a:solidFill>
                  <a:srgbClr val="000000"/>
                </a:solidFill>
                <a:latin typeface="Arial"/>
              </a:rPr>
              <a:t>+12% YoY</a:t>
            </a:r>
            <a:r>
              <a:rPr sz="1000" b="0" i="0">
                <a:solidFill>
                  <a:srgbClr val="000000"/>
                </a:solidFill>
                <a:latin typeface="Arial"/>
              </a:rPr>
              <a:t> on AI/HBM demand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000" b="0" i="0">
                <a:solidFill>
                  <a:srgbClr val="000000"/>
                </a:solidFill>
                <a:latin typeface="Arial"/>
              </a:rPr>
              <a:t>Mix: foundry/logic 79%, memory 21%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46999" y="2880360"/>
            <a:ext cx="3627729" cy="329184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Specialty Process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46999" y="3227832"/>
            <a:ext cx="3627729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1000" b="0" i="1">
                <a:solidFill>
                  <a:srgbClr val="000000"/>
                </a:solidFill>
                <a:latin typeface="Arial"/>
              </a:rPr>
              <a:t>4% of revenue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46999" y="3493008"/>
            <a:ext cx="3627729" cy="1417320"/>
          </a:xfrm>
          <a:prstGeom prst="rect">
            <a:avLst/>
          </a:prstGeom>
          <a:noFill/>
          <a:ln w="9525">
            <a:solidFill>
              <a:srgbClr val="A6A6A6"/>
            </a:solidFill>
          </a:ln>
        </p:spPr>
        <p:txBody>
          <a:bodyPr rtlCol="0" anchor="t" wrap="square" lIns="73152" rIns="73152" tIns="36576" bIns="36576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000" b="0" i="0">
                <a:solidFill>
                  <a:srgbClr val="000000"/>
                </a:solidFill>
                <a:latin typeface="Arial"/>
              </a:rPr>
              <a:t>Inspection &amp; metrology for wafers and reticles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000" b="0" i="0">
                <a:solidFill>
                  <a:srgbClr val="000000"/>
                </a:solidFill>
                <a:latin typeface="Arial"/>
              </a:rPr>
              <a:t>Revenue </a:t>
            </a:r>
            <a:r>
              <a:rPr sz="1000" b="1" i="0">
                <a:solidFill>
                  <a:srgbClr val="000000"/>
                </a:solidFill>
                <a:latin typeface="Arial"/>
              </a:rPr>
              <a:t>+12% YoY</a:t>
            </a:r>
            <a:r>
              <a:rPr sz="1000" b="0" i="0">
                <a:solidFill>
                  <a:srgbClr val="000000"/>
                </a:solidFill>
                <a:latin typeface="Arial"/>
              </a:rPr>
              <a:t> on AI/HBM demand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000" b="0" i="0">
                <a:solidFill>
                  <a:srgbClr val="000000"/>
                </a:solidFill>
                <a:latin typeface="Arial"/>
              </a:rPr>
              <a:t>Mix: foundry/logic 79%, memory 21%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5780" y="5120640"/>
            <a:ext cx="11248948" cy="502920"/>
          </a:xfrm>
          <a:prstGeom prst="roundRect">
            <a:avLst>
              <a:gd name="adj" fmla="val 15000"/>
            </a:avLst>
          </a:prstGeom>
          <a:solidFill>
            <a:srgbClr val="0A5AA6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Takeaway: one segment drives 90% of revenue - the thesis is a process-control thesis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5780" y="411480"/>
            <a:ext cx="11247120" cy="502920"/>
          </a:xfrm>
          <a:prstGeom prst="rect">
            <a:avLst/>
          </a:prstGeom>
          <a:noFill/>
        </p:spPr>
        <p:txBody>
          <a:bodyPr wrap="none" lIns="0" rIns="0" tIns="0" bIns="0" anchor="b"/>
          <a:lstStyle/>
          <a:p>
            <a:pPr algn="l"/>
            <a:r>
              <a:rPr sz="2400" b="0" i="0">
                <a:solidFill>
                  <a:srgbClr val="000000"/>
                </a:solidFill>
                <a:latin typeface="Arial"/>
              </a:rPr>
              <a:t>Revenue Compounds at 12% as Services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5780" y="914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595959"/>
                </a:solidFill>
                <a:latin typeface="Arial"/>
              </a:rPr>
              <a:t>FY21-FY27E CAGR 11.8%; services rise from 24% to 38% of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5780" y="6272784"/>
            <a:ext cx="1124712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700" b="0" i="0">
                <a:solidFill>
                  <a:srgbClr val="595959"/>
                </a:solidFill>
                <a:latin typeface="Arial"/>
              </a:rPr>
              <a:t>Illustrative data - layout gallery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53190" y="6446520"/>
            <a:ext cx="421538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6" name="Rectangle 5"/>
          <p:cNvSpPr/>
          <p:nvPr/>
        </p:nvSpPr>
        <p:spPr>
          <a:xfrm>
            <a:off x="525780" y="1345996"/>
            <a:ext cx="6949440" cy="292608"/>
          </a:xfrm>
          <a:prstGeom prst="rect">
            <a:avLst/>
          </a:prstGeom>
          <a:solidFill>
            <a:srgbClr val="0A5AA6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Revenue by Segment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5780" y="1675180"/>
            <a:ext cx="6949440" cy="219456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/>
            <a:r>
              <a:rPr sz="900" b="0" i="1">
                <a:solidFill>
                  <a:srgbClr val="595959"/>
                </a:solidFill>
                <a:latin typeface="Arial"/>
              </a:rPr>
              <a:t>Amounts in USD millions; FY26E-FY27E consensus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30099" y="1931212"/>
            <a:ext cx="1906132" cy="364468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30099" y="1931212"/>
            <a:ext cx="1906132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00" b="0" i="1">
                <a:solidFill>
                  <a:srgbClr val="7F7F7F"/>
                </a:solidFill>
                <a:latin typeface="Arial"/>
              </a:rPr>
              <a:t>Consensus forecast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25780" y="1912924"/>
          <a:ext cx="6949440" cy="425927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11" name="Connector 10"/>
          <p:cNvCxnSpPr/>
          <p:nvPr/>
        </p:nvCxnSpPr>
        <p:spPr>
          <a:xfrm flipV="1">
            <a:off x="1141301" y="2849638"/>
            <a:ext cx="5718397" cy="1185116"/>
          </a:xfrm>
          <a:prstGeom prst="line">
            <a:avLst/>
          </a:prstGeom>
          <a:ln w="12700">
            <a:solidFill>
              <a:srgbClr val="7F7F7F"/>
            </a:solidFill>
            <a:tailEnd type="triangle" w="med" len="med"/>
          </a:ln>
        </p:spPr>
      </p:cxnSp>
      <p:sp>
        <p:nvSpPr>
          <p:cNvPr id="12" name="Oval 11"/>
          <p:cNvSpPr/>
          <p:nvPr/>
        </p:nvSpPr>
        <p:spPr>
          <a:xfrm>
            <a:off x="3451860" y="3085580"/>
            <a:ext cx="109728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</p:spPr>
        <p:txBody>
          <a:bodyPr rtlCol="0" anchor="ctr" wrap="square" lIns="0" rIns="0" tIns="0" bIns="0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CAGR: 11.8%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26679" y="1345996"/>
            <a:ext cx="4048048" cy="292608"/>
          </a:xfrm>
          <a:prstGeom prst="rect">
            <a:avLst/>
          </a:prstGeom>
          <a:solidFill>
            <a:srgbClr val="0A5AA6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Key Takeaways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1775764"/>
            <a:ext cx="4048048" cy="4206240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Arial"/>
              </a:rPr>
              <a:t>Services +21% CAGR:</a:t>
            </a:r>
            <a:r>
              <a:rPr sz="1200" b="0" i="0">
                <a:solidFill>
                  <a:srgbClr val="000000"/>
                </a:solidFill>
                <a:latin typeface="Arial"/>
              </a:rPr>
              <a:t> installed base of 17,000 tools converts into recurring revenue.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Arial"/>
              </a:rPr>
              <a:t>Products cyclical:</a:t>
            </a:r>
            <a:r>
              <a:rPr sz="1200" b="0" i="0">
                <a:solidFill>
                  <a:srgbClr val="000000"/>
                </a:solidFill>
                <a:latin typeface="Arial"/>
              </a:rPr>
              <a:t> FY24 flat as memory capex paused.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Arial"/>
              </a:rPr>
              <a:t>Estimate risk:</a:t>
            </a:r>
            <a:r>
              <a:rPr sz="1200" b="0" i="0">
                <a:solidFill>
                  <a:srgbClr val="000000"/>
                </a:solidFill>
                <a:latin typeface="Arial"/>
              </a:rPr>
              <a:t> FY27E assumes WFE of $150bn; </a:t>
            </a:r>
            <a:r>
              <a:rPr sz="1200" b="1" i="0">
                <a:solidFill>
                  <a:srgbClr val="C00000"/>
                </a:solidFill>
                <a:latin typeface="Arial"/>
              </a:rPr>
              <a:t>a 10% miss cuts revenue ~6%</a:t>
            </a:r>
            <a:r>
              <a:rPr sz="1200" b="0" i="0">
                <a:solidFill>
                  <a:srgbClr val="000000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5780" y="411480"/>
            <a:ext cx="11247120" cy="502920"/>
          </a:xfrm>
          <a:prstGeom prst="rect">
            <a:avLst/>
          </a:prstGeom>
          <a:noFill/>
        </p:spPr>
        <p:txBody>
          <a:bodyPr wrap="none" lIns="0" rIns="0" tIns="0" bIns="0" anchor="b"/>
          <a:lstStyle/>
          <a:p>
            <a:pPr algn="l"/>
            <a:r>
              <a:rPr sz="2400" b="0" i="0">
                <a:solidFill>
                  <a:srgbClr val="000000"/>
                </a:solidFill>
                <a:latin typeface="Arial"/>
              </a:rPr>
              <a:t>Composition: Overweight Tech, Underweight Materials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5780" y="914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595959"/>
                </a:solidFill>
                <a:latin typeface="Arial"/>
              </a:rPr>
              <a:t>Average 2024-26: +6.3pp in Info. Technology, -9.0pp in Materials vs the peer average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5780" y="6272784"/>
            <a:ext cx="1124712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700" b="0" i="0">
                <a:solidFill>
                  <a:srgbClr val="595959"/>
                </a:solidFill>
                <a:latin typeface="Arial"/>
              </a:rPr>
              <a:t>Illustrative data - layout gallery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53190" y="6446520"/>
            <a:ext cx="421538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525780" y="1345996"/>
            <a:ext cx="5459882" cy="292608"/>
          </a:xfrm>
          <a:prstGeom prst="rect">
            <a:avLst/>
          </a:prstGeom>
          <a:solidFill>
            <a:srgbClr val="0A5AA6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Average Weight by Sector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5780" y="1675180"/>
            <a:ext cx="5459882" cy="219456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/>
            <a:r>
              <a:rPr sz="900" b="0" i="1">
                <a:solidFill>
                  <a:srgbClr val="595959"/>
                </a:solidFill>
                <a:latin typeface="Arial"/>
              </a:rPr>
              <a:t>Fund vs peer average, Jan-24 to Sep-26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25780" y="1912924"/>
          <a:ext cx="5459882" cy="425927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6314846" y="1345996"/>
            <a:ext cx="5459882" cy="292608"/>
          </a:xfrm>
          <a:prstGeom prst="rect">
            <a:avLst/>
          </a:prstGeom>
          <a:solidFill>
            <a:srgbClr val="0A5AA6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Over / Underweight vs Peers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14846" y="1675180"/>
            <a:ext cx="5459882" cy="219456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/>
            <a:r>
              <a:rPr sz="900" b="0" i="1">
                <a:solidFill>
                  <a:srgbClr val="595959"/>
                </a:solidFill>
                <a:latin typeface="Arial"/>
              </a:rPr>
              <a:t>Fund weight minus peer average (pp)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6314846" y="1912924"/>
          <a:ext cx="5459882" cy="425927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5780" y="411480"/>
            <a:ext cx="11247120" cy="502920"/>
          </a:xfrm>
          <a:prstGeom prst="rect">
            <a:avLst/>
          </a:prstGeom>
          <a:noFill/>
        </p:spPr>
        <p:txBody>
          <a:bodyPr wrap="none" lIns="0" rIns="0" tIns="0" bIns="0" anchor="b"/>
          <a:lstStyle/>
          <a:p>
            <a:pPr algn="l"/>
            <a:r>
              <a:rPr sz="2400" b="0" i="0">
                <a:solidFill>
                  <a:srgbClr val="000000"/>
                </a:solidFill>
                <a:latin typeface="Arial"/>
              </a:rPr>
              <a:t>Performance: Fund Lagged the Peers by 7.4pp a Year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5780" y="914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595959"/>
                </a:solidFill>
                <a:latin typeface="Arial"/>
              </a:rPr>
              <a:t>Annualized Jan-24 to Sep-26: Fund 14.2% vs 21.7% for the peer average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5780" y="6272784"/>
            <a:ext cx="1124712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700" b="0" i="0">
                <a:solidFill>
                  <a:srgbClr val="595959"/>
                </a:solidFill>
                <a:latin typeface="Arial"/>
              </a:rPr>
              <a:t>Illustrative data - layout gallery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53190" y="6446520"/>
            <a:ext cx="421538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525780" y="1345996"/>
            <a:ext cx="11248948" cy="292608"/>
          </a:xfrm>
          <a:prstGeom prst="rect">
            <a:avLst/>
          </a:prstGeom>
          <a:solidFill>
            <a:srgbClr val="0A5AA6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Growth of 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5780" y="1675180"/>
            <a:ext cx="11248948" cy="219456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/>
            <a:r>
              <a:rPr sz="900" b="0" i="1">
                <a:solidFill>
                  <a:srgbClr val="595959"/>
                </a:solidFill>
                <a:latin typeface="Arial"/>
              </a:rPr>
              <a:t>Total return in USD, month-end; Dec-23 = 100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25780" y="1912924"/>
          <a:ext cx="11248948" cy="2331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525780" y="4224528"/>
            <a:ext cx="11248948" cy="292608"/>
          </a:xfrm>
          <a:prstGeom prst="rect">
            <a:avLst/>
          </a:prstGeom>
          <a:solidFill>
            <a:srgbClr val="0A5AA6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Fund Snapshot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25780" y="4608576"/>
          <a:ext cx="11248944" cy="12344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743200"/>
                <a:gridCol w="1417624"/>
                <a:gridCol w="1417624"/>
                <a:gridCol w="1417624"/>
                <a:gridCol w="1417624"/>
                <a:gridCol w="1417624"/>
                <a:gridCol w="1417624"/>
              </a:tblGrid>
              <a:tr h="246888"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Fund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0A5AA6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# Holdings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0A5AA6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3Y Perf.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0A5AA6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YTD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0A5AA6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3M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0A5AA6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1M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0A5AA6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12M Fwd P/E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0A5AA6"/>
                    </a:solidFill>
                  </a:tcPr>
                </a:tc>
              </a:tr>
              <a:tr h="246888"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Fund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16.4%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7.5%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-7.9%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-5.5%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11.4x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246888"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Peer A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1,618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28.3%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18.6%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6.6%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-2.3%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10.6x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246888"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Peer B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1,158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18.8%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9.7%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3.2%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-2.7%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12.2x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246888"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1000" b="1" i="0">
                          <a:solidFill>
                            <a:srgbClr val="000000"/>
                          </a:solidFill>
                          <a:latin typeface="Arial"/>
                        </a:rPr>
                        <a:t>Fund vs peer avg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1" i="0">
                          <a:solidFill>
                            <a:srgbClr val="000000"/>
                          </a:solidFill>
                          <a:latin typeface="Arial"/>
                        </a:rPr>
                        <a:t>-6.9pp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1" i="0">
                          <a:solidFill>
                            <a:srgbClr val="000000"/>
                          </a:solidFill>
                          <a:latin typeface="Arial"/>
                        </a:rPr>
                        <a:t>-6.7pp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1" i="0">
                          <a:solidFill>
                            <a:srgbClr val="000000"/>
                          </a:solidFill>
                          <a:latin typeface="Arial"/>
                        </a:rPr>
                        <a:t>-13.5pp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1" i="0">
                          <a:solidFill>
                            <a:srgbClr val="000000"/>
                          </a:solidFill>
                          <a:latin typeface="Arial"/>
                        </a:rPr>
                        <a:t>-2.9pp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1000" b="1" i="0">
                          <a:solidFill>
                            <a:srgbClr val="000000"/>
                          </a:solidFill>
                          <a:latin typeface="Arial"/>
                        </a:rPr>
                        <a:t>-0.2x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5780" y="411480"/>
            <a:ext cx="11247120" cy="502920"/>
          </a:xfrm>
          <a:prstGeom prst="rect">
            <a:avLst/>
          </a:prstGeom>
          <a:noFill/>
        </p:spPr>
        <p:txBody>
          <a:bodyPr wrap="none" lIns="0" rIns="0" tIns="0" bIns="0" anchor="b"/>
          <a:lstStyle/>
          <a:p>
            <a:pPr algn="l"/>
            <a:r>
              <a:rPr sz="2400" b="0" i="0">
                <a:solidFill>
                  <a:srgbClr val="000000"/>
                </a:solidFill>
                <a:latin typeface="Arial"/>
              </a:rPr>
              <a:t>Capital Allocation: 70% of Excess Cash Goes Back to Shareholders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5780" y="914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595959"/>
                </a:solidFill>
                <a:latin typeface="Arial"/>
              </a:rPr>
              <a:t>Ps. 46.6bn approved returns; Ps. 32.1bn of remaining capacity at 2.0x ND/EBITDA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5780" y="6272784"/>
            <a:ext cx="1124712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700" b="0" i="0">
                <a:solidFill>
                  <a:srgbClr val="595959"/>
                </a:solidFill>
                <a:latin typeface="Arial"/>
              </a:rPr>
              <a:t>Illustrative data - layout gallery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53190" y="6446520"/>
            <a:ext cx="421538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525780" y="1345996"/>
            <a:ext cx="6766560" cy="292608"/>
          </a:xfrm>
          <a:prstGeom prst="rect">
            <a:avLst/>
          </a:prstGeom>
          <a:solidFill>
            <a:srgbClr val="0A5AA6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Use of Excess Cash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5780" y="1675180"/>
            <a:ext cx="6766560" cy="219456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/>
            <a:r>
              <a:rPr sz="900" b="0" i="1">
                <a:solidFill>
                  <a:srgbClr val="595959"/>
                </a:solidFill>
                <a:latin typeface="Arial"/>
              </a:rPr>
              <a:t>Ps. billions, 2026E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25780" y="1912924"/>
          <a:ext cx="6766560" cy="421355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7589520" y="1345996"/>
            <a:ext cx="4185208" cy="292608"/>
          </a:xfrm>
          <a:prstGeom prst="rect">
            <a:avLst/>
          </a:prstGeom>
          <a:solidFill>
            <a:srgbClr val="0A5AA6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What the bridge says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1775764"/>
            <a:ext cx="4185208" cy="4114800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Arial"/>
              </a:rPr>
              <a:t>Dividends absorb 52%</a:t>
            </a:r>
            <a:r>
              <a:rPr sz="1200" b="0" i="0">
                <a:solidFill>
                  <a:srgbClr val="000000"/>
                </a:solidFill>
                <a:latin typeface="Arial"/>
              </a:rPr>
              <a:t> of excess cash (Ps. 41.0bn).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Arial"/>
              </a:rPr>
              <a:t>Buybacks are small</a:t>
            </a:r>
            <a:r>
              <a:rPr sz="1200" b="0" i="0">
                <a:solidFill>
                  <a:srgbClr val="000000"/>
                </a:solidFill>
                <a:latin typeface="Arial"/>
              </a:rPr>
              <a:t> (Ps. 5.6bn) despite a 13% discount to intrinsic value.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Arial"/>
              </a:rPr>
              <a:t>Debt capacity of Ps. 9.7bn</a:t>
            </a:r>
            <a:r>
              <a:rPr sz="1200" b="0" i="0">
                <a:solidFill>
                  <a:srgbClr val="000000"/>
                </a:solidFill>
                <a:latin typeface="Arial"/>
              </a:rPr>
              <a:t> keeps leverage at the 2.0x policy.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5780" y="411480"/>
            <a:ext cx="11247120" cy="502920"/>
          </a:xfrm>
          <a:prstGeom prst="rect">
            <a:avLst/>
          </a:prstGeom>
          <a:noFill/>
        </p:spPr>
        <p:txBody>
          <a:bodyPr wrap="none" lIns="0" rIns="0" tIns="0" bIns="0" anchor="b"/>
          <a:lstStyle/>
          <a:p>
            <a:pPr algn="l"/>
            <a:r>
              <a:rPr sz="2400" b="0" i="0">
                <a:solidFill>
                  <a:srgbClr val="000000"/>
                </a:solidFill>
                <a:latin typeface="Arial"/>
              </a:rPr>
              <a:t>Valuation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5780" y="914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595959"/>
                </a:solidFill>
                <a:latin typeface="Arial"/>
              </a:rPr>
              <a:t>DCF and trading comps support $38-$46 per share; offer at $43.00 sits mid-range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5780" y="6272784"/>
            <a:ext cx="1124712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700" b="0" i="0">
                <a:solidFill>
                  <a:srgbClr val="595959"/>
                </a:solidFill>
                <a:latin typeface="Arial"/>
              </a:rPr>
              <a:t>Illustrative data - layout gallery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53190" y="6446520"/>
            <a:ext cx="421538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9</a:t>
            </a:r>
          </a:p>
        </p:txBody>
      </p:sp>
      <p:sp>
        <p:nvSpPr>
          <p:cNvPr id="6" name="Rectangle 5"/>
          <p:cNvSpPr/>
          <p:nvPr/>
        </p:nvSpPr>
        <p:spPr>
          <a:xfrm>
            <a:off x="525780" y="1345996"/>
            <a:ext cx="7498079" cy="292608"/>
          </a:xfrm>
          <a:prstGeom prst="rect">
            <a:avLst/>
          </a:prstGeom>
          <a:solidFill>
            <a:srgbClr val="0A5AA6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Implied Price per 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5780" y="1675180"/>
            <a:ext cx="7498079" cy="219456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/>
            <a:r>
              <a:rPr sz="900" b="0" i="1">
                <a:solidFill>
                  <a:srgbClr val="595959"/>
                </a:solidFill>
                <a:latin typeface="Arial"/>
              </a:rPr>
              <a:t>US$; ranges as low-high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818388" y="2232964"/>
          <a:ext cx="7205471" cy="389351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9" name="Connector 8"/>
          <p:cNvCxnSpPr/>
          <p:nvPr/>
        </p:nvCxnSpPr>
        <p:spPr>
          <a:xfrm>
            <a:off x="3412357" y="5659258"/>
            <a:ext cx="4323284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3000877" y="5686690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$20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65534" y="5686690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$26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0191" y="5686690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$32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4847" y="5686690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$38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9504" y="5686690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$44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24161" y="5686690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$50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705019" y="2498726"/>
            <a:ext cx="0" cy="3160532"/>
          </a:xfrm>
          <a:prstGeom prst="line">
            <a:avLst/>
          </a:prstGeom>
          <a:ln w="15875">
            <a:solidFill>
              <a:srgbClr val="7F7F7F"/>
            </a:solidFill>
            <a:prstDash val="dash"/>
          </a:ln>
        </p:spPr>
      </p:cxnSp>
      <p:sp>
        <p:nvSpPr>
          <p:cNvPr id="17" name="Rectangle 16"/>
          <p:cNvSpPr/>
          <p:nvPr/>
        </p:nvSpPr>
        <p:spPr>
          <a:xfrm>
            <a:off x="4019219" y="2242694"/>
            <a:ext cx="137160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7F7F7F"/>
            </a:solidFill>
            <a:prstDash val="dash"/>
          </a:ln>
        </p:spPr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7F7F7F"/>
                </a:solidFill>
                <a:latin typeface="Arial"/>
              </a:rPr>
              <a:t>Unaffected: $28.97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726875" y="2498726"/>
            <a:ext cx="0" cy="3160532"/>
          </a:xfrm>
          <a:prstGeom prst="line">
            <a:avLst/>
          </a:prstGeom>
          <a:ln w="15875">
            <a:solidFill>
              <a:srgbClr val="E31B23"/>
            </a:solidFill>
            <a:prstDash val="dash"/>
          </a:ln>
        </p:spPr>
      </p:cxnSp>
      <p:sp>
        <p:nvSpPr>
          <p:cNvPr id="19" name="Rectangle 18"/>
          <p:cNvSpPr/>
          <p:nvPr/>
        </p:nvSpPr>
        <p:spPr>
          <a:xfrm>
            <a:off x="6041075" y="2242694"/>
            <a:ext cx="137160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E31B23"/>
            </a:solidFill>
            <a:prstDash val="dash"/>
          </a:ln>
        </p:spPr>
        <p:txBody>
          <a:bodyPr rtlCol="0" anchor="ctr" wrap="square" lIns="0" rIns="0" tIns="0" bIns="0"/>
          <a:lstStyle/>
          <a:p>
            <a:pPr algn="ctr"/>
            <a:r>
              <a:rPr sz="800" b="1" i="0">
                <a:solidFill>
                  <a:srgbClr val="E31B23"/>
                </a:solidFill>
                <a:latin typeface="Arial"/>
              </a:rPr>
              <a:t>Offer: $43.00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5780" y="2562734"/>
            <a:ext cx="256032" cy="2039965"/>
          </a:xfrm>
          <a:prstGeom prst="rect">
            <a:avLst/>
          </a:prstGeom>
          <a:solidFill>
            <a:srgbClr val="0A5AA6"/>
          </a:solidFill>
          <a:ln>
            <a:noFill/>
          </a:ln>
        </p:spPr>
        <p:txBody>
          <a:bodyPr rtlCol="0" anchor="ctr" wrap="square" lIns="18288" rIns="18288" tIns="18288" bIns="18288" vert="vert27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Valuation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5780" y="4639275"/>
            <a:ext cx="256032" cy="1001694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txBody>
          <a:bodyPr rtlCol="0" anchor="ctr" wrap="square" lIns="18288" rIns="18288" tIns="18288" bIns="18288" vert="vert27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Reference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25780" y="4620987"/>
            <a:ext cx="7209861" cy="0"/>
          </a:xfrm>
          <a:prstGeom prst="line">
            <a:avLst/>
          </a:prstGeom>
          <a:ln w="9525">
            <a:solidFill>
              <a:srgbClr val="A6A6A6"/>
            </a:solidFill>
            <a:prstDash val="dash"/>
          </a:ln>
        </p:spPr>
      </p:cxnSp>
      <p:sp>
        <p:nvSpPr>
          <p:cNvPr id="23" name="Rectangle 22"/>
          <p:cNvSpPr/>
          <p:nvPr/>
        </p:nvSpPr>
        <p:spPr>
          <a:xfrm>
            <a:off x="8275320" y="1345996"/>
            <a:ext cx="3499408" cy="292608"/>
          </a:xfrm>
          <a:prstGeom prst="rect">
            <a:avLst/>
          </a:prstGeom>
          <a:solidFill>
            <a:srgbClr val="0A5AA6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Assumptions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75320" y="1775764"/>
            <a:ext cx="3499408" cy="1234440"/>
          </a:xfrm>
          <a:prstGeom prst="rect">
            <a:avLst/>
          </a:prstGeom>
          <a:noFill/>
          <a:ln w="9525">
            <a:solidFill>
              <a:srgbClr val="A6A6A6"/>
            </a:solidFill>
          </a:ln>
        </p:spPr>
        <p:txBody>
          <a:bodyPr rtlCol="0" anchor="t" wrap="square" lIns="73152" rIns="73152" tIns="36576" bIns="36576"/>
          <a:lstStyle/>
          <a:p>
            <a:pPr algn="l"/>
            <a:r>
              <a:rPr sz="1000" b="1" i="0">
                <a:solidFill>
                  <a:srgbClr val="000000"/>
                </a:solidFill>
                <a:latin typeface="Arial"/>
              </a:rPr>
              <a:t>Trading comps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000" b="0" i="0">
                <a:solidFill>
                  <a:srgbClr val="000000"/>
                </a:solidFill>
                <a:latin typeface="Arial"/>
              </a:rPr>
              <a:t>7 generic peers; CY25E multiples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75320" y="3147364"/>
            <a:ext cx="3499408" cy="1234440"/>
          </a:xfrm>
          <a:prstGeom prst="rect">
            <a:avLst/>
          </a:prstGeom>
          <a:noFill/>
          <a:ln w="9525">
            <a:solidFill>
              <a:srgbClr val="A6A6A6"/>
            </a:solidFill>
          </a:ln>
        </p:spPr>
        <p:txBody>
          <a:bodyPr rtlCol="0" anchor="t" wrap="square" lIns="73152" rIns="73152" tIns="36576" bIns="36576"/>
          <a:lstStyle/>
          <a:p>
            <a:pPr algn="l"/>
            <a:r>
              <a:rPr sz="1000" b="1" i="0">
                <a:solidFill>
                  <a:srgbClr val="000000"/>
                </a:solidFill>
                <a:latin typeface="Arial"/>
              </a:rPr>
              <a:t>Precedents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000" b="0" i="0">
                <a:solidFill>
                  <a:srgbClr val="000000"/>
                </a:solidFill>
                <a:latin typeface="Arial"/>
              </a:rPr>
              <a:t>12 pharma deals 2015-24; LTM EBITDA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75320" y="4518964"/>
            <a:ext cx="3499408" cy="1234440"/>
          </a:xfrm>
          <a:prstGeom prst="rect">
            <a:avLst/>
          </a:prstGeom>
          <a:noFill/>
          <a:ln w="9525">
            <a:solidFill>
              <a:srgbClr val="A6A6A6"/>
            </a:solidFill>
          </a:ln>
        </p:spPr>
        <p:txBody>
          <a:bodyPr rtlCol="0" anchor="t" wrap="square" lIns="73152" rIns="73152" tIns="36576" bIns="36576"/>
          <a:lstStyle/>
          <a:p>
            <a:pPr algn="l"/>
            <a:r>
              <a:rPr sz="1000" b="1" i="0">
                <a:solidFill>
                  <a:srgbClr val="000000"/>
                </a:solidFill>
                <a:latin typeface="Arial"/>
              </a:rPr>
              <a:t>DCF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000" b="0" i="0">
                <a:solidFill>
                  <a:srgbClr val="000000"/>
                </a:solidFill>
                <a:latin typeface="Arial"/>
              </a:rPr>
              <a:t>Mgmt case to FY34E; mid-year convention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5780" y="411480"/>
            <a:ext cx="11247120" cy="502920"/>
          </a:xfrm>
          <a:prstGeom prst="rect">
            <a:avLst/>
          </a:prstGeom>
          <a:noFill/>
        </p:spPr>
        <p:txBody>
          <a:bodyPr wrap="none" lIns="0" rIns="0" tIns="0" bIns="0" anchor="b"/>
          <a:lstStyle/>
          <a:p>
            <a:pPr algn="l"/>
            <a:r>
              <a:rPr sz="2400" b="0" i="0">
                <a:solidFill>
                  <a:srgbClr val="000000"/>
                </a:solidFill>
                <a:latin typeface="Arial"/>
              </a:rPr>
              <a:t>DCF Sensitivity: Margin and WACC Drive the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5780" y="914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595959"/>
                </a:solidFill>
                <a:latin typeface="Arial"/>
              </a:rPr>
              <a:t>Midpoint $42.15 per share; +/-1pt of EBITDA margin moves value by $1.65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5780" y="6272784"/>
            <a:ext cx="1124712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700" b="0" i="0">
                <a:solidFill>
                  <a:srgbClr val="595959"/>
                </a:solidFill>
                <a:latin typeface="Arial"/>
              </a:rPr>
              <a:t>Illustrative data - layout gallery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53190" y="6446520"/>
            <a:ext cx="421538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525780" y="1345996"/>
            <a:ext cx="5459882" cy="292608"/>
          </a:xfrm>
          <a:prstGeom prst="rect">
            <a:avLst/>
          </a:prstGeom>
          <a:solidFill>
            <a:srgbClr val="0A5AA6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Tornado: impact on value per 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5780" y="1675180"/>
            <a:ext cx="5459882" cy="219456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/>
            <a:r>
              <a:rPr sz="900" b="0" i="1">
                <a:solidFill>
                  <a:srgbClr val="595959"/>
                </a:solidFill>
                <a:latin typeface="Arial"/>
              </a:rPr>
              <a:t>US$ per share vs base case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25780" y="2232964"/>
          <a:ext cx="5459882" cy="389351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cxnSp>
        <p:nvCxnSpPr>
          <p:cNvPr id="9" name="Connector 8"/>
          <p:cNvCxnSpPr/>
          <p:nvPr/>
        </p:nvCxnSpPr>
        <p:spPr>
          <a:xfrm>
            <a:off x="4020104" y="2258330"/>
            <a:ext cx="0" cy="3751344"/>
          </a:xfrm>
          <a:prstGeom prst="line">
            <a:avLst/>
          </a:prstGeom>
          <a:ln w="12700">
            <a:solidFill>
              <a:srgbClr val="7F7F7F"/>
            </a:solidFill>
            <a:prstDash val="dash"/>
          </a:ln>
        </p:spPr>
      </p:cxnSp>
      <p:sp>
        <p:nvSpPr>
          <p:cNvPr id="10" name="TextBox 9"/>
          <p:cNvSpPr txBox="1"/>
          <p:nvPr/>
        </p:nvSpPr>
        <p:spPr>
          <a:xfrm>
            <a:off x="3105704" y="2038874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Base: $42.15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14846" y="1345996"/>
            <a:ext cx="5459882" cy="292608"/>
          </a:xfrm>
          <a:prstGeom prst="rect">
            <a:avLst/>
          </a:prstGeom>
          <a:solidFill>
            <a:srgbClr val="0A5AA6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Heat map: WACC vs EBITDA margin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14846" y="1675180"/>
            <a:ext cx="5459882" cy="219456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/>
            <a:r>
              <a:rPr sz="900" b="0" i="1">
                <a:solidFill>
                  <a:srgbClr val="595959"/>
                </a:solidFill>
                <a:latin typeface="Arial"/>
              </a:rPr>
              <a:t>Implied price, US$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314846" y="2004364"/>
          <a:ext cx="5459880" cy="230428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909980"/>
                <a:gridCol w="909980"/>
                <a:gridCol w="909980"/>
                <a:gridCol w="909980"/>
                <a:gridCol w="909980"/>
                <a:gridCol w="909980"/>
              </a:tblGrid>
              <a:tr h="384048"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WACC \ Mg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0A5AA6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14%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0A5AA6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15%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0A5AA6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16%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0A5AA6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17%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0A5AA6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Arial"/>
                        </a:rPr>
                        <a:t>18%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7F7F7F"/>
                      </a:solidFill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0A5AA6"/>
                    </a:solidFill>
                  </a:tcPr>
                </a:tc>
              </a:tr>
              <a:tr h="384048"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13%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164.6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175.5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9776E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186.5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A8671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197.4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A9473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208.4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BA376"/>
                    </a:solidFill>
                  </a:tcPr>
                </a:tc>
              </a:tr>
              <a:tr h="384048"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12%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184.8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98470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197.4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A9473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210.0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BA577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222.6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CB57A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235.1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DC67D"/>
                    </a:solidFill>
                  </a:tcPr>
                </a:tc>
              </a:tr>
              <a:tr h="384048"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11%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209.5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BA476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224.1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CB77A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238.7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DCB7E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253.3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EDE81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267.9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8E984"/>
                    </a:solidFill>
                  </a:tcPr>
                </a:tc>
              </a:tr>
              <a:tr h="384048"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10%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240.3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DCD7E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257.5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E383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274.6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EDE683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291.8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D2DE81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309.0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B7D680"/>
                    </a:solidFill>
                  </a:tcPr>
                </a:tc>
              </a:tr>
              <a:tr h="384048"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9%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7F7F7F"/>
                      </a:solidFill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279.7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E5E382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300.2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C4DA81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320.8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A4D17F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341.3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83C77D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1000" b="0" i="0">
                          <a:solidFill>
                            <a:srgbClr val="000000"/>
                          </a:solidFill>
                          <a:latin typeface="Arial"/>
                        </a:rPr>
                        <a:t>361.8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7F7F7F"/>
                      </a:solidFill>
                    </a:lnB>
                    <a:solidFill>
                      <a:srgbClr val="63BE7B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9063075" y="3174796"/>
            <a:ext cx="873404" cy="347472"/>
          </a:xfrm>
          <a:prstGeom prst="rect">
            <a:avLst/>
          </a:prstGeom>
          <a:noFill/>
          <a:ln w="15875">
            <a:solidFill>
              <a:srgbClr val="00000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5780" y="411480"/>
            <a:ext cx="11247120" cy="502920"/>
          </a:xfrm>
          <a:prstGeom prst="rect">
            <a:avLst/>
          </a:prstGeom>
          <a:noFill/>
        </p:spPr>
        <p:txBody>
          <a:bodyPr wrap="none" lIns="0" rIns="0" tIns="0" bIns="0" anchor="b"/>
          <a:lstStyle/>
          <a:p>
            <a:pPr algn="l"/>
            <a:r>
              <a:rPr sz="2400" b="0" i="0">
                <a:solidFill>
                  <a:srgbClr val="000000"/>
                </a:solidFill>
                <a:latin typeface="Arial"/>
              </a:rPr>
              <a:t>Valuation 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5780" y="914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595959"/>
                </a:solidFill>
                <a:latin typeface="Arial"/>
              </a:rPr>
              <a:t>Four methods point to a 20-35% gap between price and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5780" y="6272784"/>
            <a:ext cx="1124712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700" b="0" i="0">
                <a:solidFill>
                  <a:srgbClr val="595959"/>
                </a:solidFill>
                <a:latin typeface="Arial"/>
              </a:rPr>
              <a:t>Illustrative data - layout gallery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53190" y="6446520"/>
            <a:ext cx="421538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25649" y="1463040"/>
            <a:ext cx="8149078" cy="685800"/>
          </a:xfrm>
          <a:prstGeom prst="roundRect">
            <a:avLst>
              <a:gd name="adj" fmla="val 25000"/>
            </a:avLst>
          </a:prstGeom>
          <a:solidFill>
            <a:srgbClr val="CCD1D7"/>
          </a:solidFill>
          <a:ln>
            <a:noFill/>
          </a:ln>
        </p:spPr>
        <p:txBody>
          <a:bodyPr rtlCol="0" anchor="ctr" wrap="square" lIns="834517" rIns="834517" tIns="36576" bIns="36576"/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Undervalued by 20-35% depending on the methodology and year</a:t>
            </a:r>
          </a:p>
        </p:txBody>
      </p:sp>
      <p:sp>
        <p:nvSpPr>
          <p:cNvPr id="7" name="Rectangle 6"/>
          <p:cNvSpPr/>
          <p:nvPr/>
        </p:nvSpPr>
        <p:spPr>
          <a:xfrm>
            <a:off x="525780" y="1463040"/>
            <a:ext cx="829769" cy="685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#1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355549" y="1463040"/>
            <a:ext cx="2997077" cy="685800"/>
          </a:xfrm>
          <a:prstGeom prst="rightArrow">
            <a:avLst/>
          </a:prstGeom>
          <a:solidFill>
            <a:srgbClr val="0A5AA6"/>
          </a:solidFill>
          <a:ln>
            <a:noFill/>
          </a:ln>
        </p:spPr>
        <p:txBody>
          <a:bodyPr rtlCol="0" anchor="ctr" wrap="square" tIns="36576" bIns="36576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Implied valuation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25649" y="2606040"/>
            <a:ext cx="8149078" cy="685800"/>
          </a:xfrm>
          <a:prstGeom prst="roundRect">
            <a:avLst>
              <a:gd name="adj" fmla="val 25000"/>
            </a:avLst>
          </a:prstGeom>
          <a:solidFill>
            <a:srgbClr val="CCD1D7"/>
          </a:solidFill>
          <a:ln>
            <a:noFill/>
          </a:ln>
        </p:spPr>
        <p:txBody>
          <a:bodyPr rtlCol="0" anchor="ctr" wrap="square" lIns="834517" rIns="834517" tIns="36576" bIns="36576"/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Higher growth and margins, yet trades at a discount to median EV/EBITDA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5780" y="2606040"/>
            <a:ext cx="829769" cy="685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#2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355549" y="2606040"/>
            <a:ext cx="2997077" cy="685800"/>
          </a:xfrm>
          <a:prstGeom prst="rightArrow">
            <a:avLst/>
          </a:prstGeom>
          <a:solidFill>
            <a:srgbClr val="0A5AA6"/>
          </a:solidFill>
          <a:ln>
            <a:noFill/>
          </a:ln>
        </p:spPr>
        <p:txBody>
          <a:bodyPr rtlCol="0" anchor="ctr" wrap="square" tIns="36576" bIns="36576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Comparable companies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25649" y="3749039"/>
            <a:ext cx="8149078" cy="685800"/>
          </a:xfrm>
          <a:prstGeom prst="roundRect">
            <a:avLst>
              <a:gd name="adj" fmla="val 25000"/>
            </a:avLst>
          </a:prstGeom>
          <a:solidFill>
            <a:srgbClr val="CCD1D7"/>
          </a:solidFill>
          <a:ln>
            <a:noFill/>
          </a:ln>
        </p:spPr>
        <p:txBody>
          <a:bodyPr rtlCol="0" anchor="ctr" wrap="square" lIns="834517" rIns="834517" tIns="36576" bIns="36576"/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Management case implies moderate upside; consensus implies none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5780" y="3749039"/>
            <a:ext cx="829769" cy="685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#3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1355549" y="3749039"/>
            <a:ext cx="2997077" cy="685800"/>
          </a:xfrm>
          <a:prstGeom prst="rightArrow">
            <a:avLst/>
          </a:prstGeom>
          <a:solidFill>
            <a:srgbClr val="0A5AA6"/>
          </a:solidFill>
          <a:ln>
            <a:noFill/>
          </a:ln>
        </p:spPr>
        <p:txBody>
          <a:bodyPr rtlCol="0" anchor="ctr" wrap="square" tIns="36576" bIns="36576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DCF analysis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25649" y="4892040"/>
            <a:ext cx="8149078" cy="685800"/>
          </a:xfrm>
          <a:prstGeom prst="roundRect">
            <a:avLst>
              <a:gd name="adj" fmla="val 25000"/>
            </a:avLst>
          </a:prstGeom>
          <a:solidFill>
            <a:srgbClr val="CCD1D7"/>
          </a:solidFill>
          <a:ln>
            <a:noFill/>
          </a:ln>
        </p:spPr>
        <p:txBody>
          <a:bodyPr rtlCol="0" anchor="ctr" wrap="square" lIns="834517" rIns="834517" tIns="36576" bIns="36576"/>
          <a:lstStyle/>
          <a:p>
            <a:pPr algn="l"/>
            <a:r>
              <a:rPr sz="1200" b="0" i="0">
                <a:solidFill>
                  <a:srgbClr val="000000"/>
                </a:solidFill>
                <a:latin typeface="Arial"/>
              </a:rPr>
              <a:t>LTM EV/EBITDA implies $240+; premiums imply $180-$200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5780" y="4892040"/>
            <a:ext cx="829769" cy="6858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355549" y="4892040"/>
            <a:ext cx="2997077" cy="685800"/>
          </a:xfrm>
          <a:prstGeom prst="rightArrow">
            <a:avLst/>
          </a:prstGeom>
          <a:solidFill>
            <a:srgbClr val="0A5AA6"/>
          </a:solidFill>
          <a:ln>
            <a:noFill/>
          </a:ln>
        </p:spPr>
        <p:txBody>
          <a:bodyPr rtlCol="0" anchor="ctr" wrap="square" tIns="36576" bIns="36576"/>
          <a:lstStyle/>
          <a:p>
            <a:pPr algn="ctr"/>
            <a:r>
              <a:rPr sz="1200" b="0" i="0">
                <a:solidFill>
                  <a:srgbClr val="FFFFFF"/>
                </a:solidFill>
                <a:latin typeface="Arial"/>
              </a:rPr>
              <a:t>Precedent transactions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5780" y="411480"/>
            <a:ext cx="11247120" cy="502920"/>
          </a:xfrm>
          <a:prstGeom prst="rect">
            <a:avLst/>
          </a:prstGeom>
          <a:noFill/>
        </p:spPr>
        <p:txBody>
          <a:bodyPr wrap="none" lIns="0" rIns="0" tIns="0" bIns="0" anchor="b"/>
          <a:lstStyle/>
          <a:p>
            <a:pPr algn="l"/>
            <a:r>
              <a:rPr sz="2400" b="0" i="0">
                <a:solidFill>
                  <a:srgbClr val="000000"/>
                </a:solidFill>
                <a:latin typeface="Arial"/>
              </a:rPr>
              <a:t>Capital Return Track Record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5780" y="914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595959"/>
                </a:solidFill>
                <a:latin typeface="Arial"/>
              </a:rPr>
              <a:t>Solid record since 2023; yield of ~4.2% with upside if leverage &lt; 2x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5780" y="6272784"/>
            <a:ext cx="1124712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700" b="0" i="0">
                <a:solidFill>
                  <a:srgbClr val="595959"/>
                </a:solidFill>
                <a:latin typeface="Arial"/>
              </a:rPr>
              <a:t>Illustrative data - layout gallery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53190" y="6446520"/>
            <a:ext cx="421538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5780" y="1417320"/>
            <a:ext cx="11248948" cy="310896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>
            <a:noFill/>
          </a:ln>
        </p:spPr>
        <p:txBody>
          <a:bodyPr rtlCol="0" anchor="ctr" wrap="square" lIns="137160" rIns="137160" tIns="36576" bIns="36576"/>
          <a:lstStyle/>
          <a:p>
            <a:pPr algn="l"/>
            <a:r>
              <a:rPr sz="1200" b="1" i="0">
                <a:solidFill>
                  <a:srgbClr val="000000"/>
                </a:solidFill>
                <a:latin typeface="Arial"/>
              </a:rPr>
              <a:t>Evolution of the capital return programme (2021-2025)</a:t>
            </a:r>
          </a:p>
        </p:txBody>
      </p:sp>
      <p:sp>
        <p:nvSpPr>
          <p:cNvPr id="7" name="Chevron 6"/>
          <p:cNvSpPr/>
          <p:nvPr/>
        </p:nvSpPr>
        <p:spPr>
          <a:xfrm>
            <a:off x="525780" y="1874519"/>
            <a:ext cx="2308311" cy="502920"/>
          </a:xfrm>
          <a:prstGeom prst="chevron">
            <a:avLst/>
          </a:prstGeom>
          <a:solidFill>
            <a:srgbClr val="0A5AA6"/>
          </a:solidFill>
          <a:ln>
            <a:noFill/>
          </a:ln>
        </p:spPr>
        <p:txBody>
          <a:bodyPr rtlCol="0" anchor="ctr" wrap="square" lIns="228600" rIns="228600" tIns="36576" bIns="36576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2021</a:t>
            </a:r>
          </a:p>
        </p:txBody>
      </p:sp>
      <p:sp>
        <p:nvSpPr>
          <p:cNvPr id="8" name="Chevron 7"/>
          <p:cNvSpPr/>
          <p:nvPr/>
        </p:nvSpPr>
        <p:spPr>
          <a:xfrm>
            <a:off x="2760939" y="1874519"/>
            <a:ext cx="2308311" cy="502920"/>
          </a:xfrm>
          <a:prstGeom prst="chevron">
            <a:avLst/>
          </a:prstGeom>
          <a:solidFill>
            <a:srgbClr val="0A5AA6"/>
          </a:solidFill>
          <a:ln>
            <a:noFill/>
          </a:ln>
        </p:spPr>
        <p:txBody>
          <a:bodyPr rtlCol="0" anchor="ctr" wrap="square" lIns="228600" rIns="228600" tIns="36576" bIns="36576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2022</a:t>
            </a:r>
          </a:p>
        </p:txBody>
      </p:sp>
      <p:sp>
        <p:nvSpPr>
          <p:cNvPr id="9" name="Chevron 8"/>
          <p:cNvSpPr/>
          <p:nvPr/>
        </p:nvSpPr>
        <p:spPr>
          <a:xfrm>
            <a:off x="4996098" y="1874519"/>
            <a:ext cx="2308311" cy="502920"/>
          </a:xfrm>
          <a:prstGeom prst="chevron">
            <a:avLst/>
          </a:prstGeom>
          <a:solidFill>
            <a:srgbClr val="0A5AA6"/>
          </a:solidFill>
          <a:ln>
            <a:noFill/>
          </a:ln>
        </p:spPr>
        <p:txBody>
          <a:bodyPr rtlCol="0" anchor="ctr" wrap="square" lIns="228600" rIns="228600" tIns="36576" bIns="36576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2023</a:t>
            </a:r>
          </a:p>
        </p:txBody>
      </p:sp>
      <p:sp>
        <p:nvSpPr>
          <p:cNvPr id="10" name="Chevron 9"/>
          <p:cNvSpPr/>
          <p:nvPr/>
        </p:nvSpPr>
        <p:spPr>
          <a:xfrm>
            <a:off x="7231258" y="1874519"/>
            <a:ext cx="2308311" cy="502920"/>
          </a:xfrm>
          <a:prstGeom prst="chevron">
            <a:avLst/>
          </a:prstGeom>
          <a:solidFill>
            <a:srgbClr val="0A5AA6"/>
          </a:solidFill>
          <a:ln>
            <a:noFill/>
          </a:ln>
        </p:spPr>
        <p:txBody>
          <a:bodyPr rtlCol="0" anchor="ctr" wrap="square" lIns="228600" rIns="228600" tIns="36576" bIns="36576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2024</a:t>
            </a:r>
          </a:p>
        </p:txBody>
      </p:sp>
      <p:sp>
        <p:nvSpPr>
          <p:cNvPr id="11" name="Chevron 10"/>
          <p:cNvSpPr/>
          <p:nvPr/>
        </p:nvSpPr>
        <p:spPr>
          <a:xfrm>
            <a:off x="9466417" y="1874519"/>
            <a:ext cx="2308311" cy="502920"/>
          </a:xfrm>
          <a:prstGeom prst="chevron">
            <a:avLst/>
          </a:prstGeom>
          <a:solidFill>
            <a:srgbClr val="0A5AA6"/>
          </a:solidFill>
          <a:ln>
            <a:noFill/>
          </a:ln>
        </p:spPr>
        <p:txBody>
          <a:bodyPr rtlCol="0" anchor="ctr" wrap="square" lIns="228600" rIns="228600" tIns="36576" bIns="36576"/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2025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0644" y="2514600"/>
            <a:ext cx="2125431" cy="356616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2084" y="2606040"/>
            <a:ext cx="1942551" cy="320040"/>
          </a:xfrm>
          <a:prstGeom prst="rect">
            <a:avLst/>
          </a:prstGeom>
          <a:noFill/>
        </p:spPr>
        <p:txBody>
          <a:bodyPr wrap="square" lIns="54864" rIns="54864" tIns="36576" bIns="36576" anchor="b"/>
          <a:lstStyle/>
          <a:p>
            <a:pPr algn="ctr"/>
            <a:r>
              <a:rPr sz="1200" b="1" i="0">
                <a:solidFill>
                  <a:srgbClr val="000000"/>
                </a:solidFill>
                <a:latin typeface="Arial"/>
              </a:rPr>
              <a:t>Conservative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17804" y="2971800"/>
            <a:ext cx="1851111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15" name="TextBox 14"/>
          <p:cNvSpPr txBox="1"/>
          <p:nvPr/>
        </p:nvSpPr>
        <p:spPr>
          <a:xfrm>
            <a:off x="653796" y="3044952"/>
            <a:ext cx="1979127" cy="2971800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100" b="0" i="0">
                <a:solidFill>
                  <a:srgbClr val="000000"/>
                </a:solidFill>
                <a:latin typeface="Arial"/>
              </a:rPr>
              <a:t>Ordinary dividend Ps. 2.3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100" b="0" i="0">
                <a:solidFill>
                  <a:srgbClr val="000000"/>
                </a:solidFill>
                <a:latin typeface="Arial"/>
              </a:rPr>
              <a:t>-26% vs 2020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5803" y="2514600"/>
            <a:ext cx="2125431" cy="356616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07243" y="2606040"/>
            <a:ext cx="1942551" cy="320040"/>
          </a:xfrm>
          <a:prstGeom prst="rect">
            <a:avLst/>
          </a:prstGeom>
          <a:noFill/>
        </p:spPr>
        <p:txBody>
          <a:bodyPr wrap="square" lIns="54864" rIns="54864" tIns="36576" bIns="36576" anchor="b"/>
          <a:lstStyle/>
          <a:p>
            <a:pPr algn="ctr"/>
            <a:r>
              <a:rPr sz="1200" b="1" i="0">
                <a:solidFill>
                  <a:srgbClr val="000000"/>
                </a:solidFill>
                <a:latin typeface="Arial"/>
              </a:rPr>
              <a:t>Recovery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952963" y="2971800"/>
            <a:ext cx="1851111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2888955" y="3044952"/>
            <a:ext cx="1979127" cy="2971800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100" b="0" i="0">
                <a:solidFill>
                  <a:srgbClr val="000000"/>
                </a:solidFill>
                <a:latin typeface="Arial"/>
              </a:rPr>
              <a:t>Ordinary dividend Ps. 3.4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100" b="0" i="0">
                <a:solidFill>
                  <a:srgbClr val="000000"/>
                </a:solidFill>
                <a:latin typeface="Arial"/>
              </a:rPr>
              <a:t>+48% vs 2021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50962" y="2514600"/>
            <a:ext cx="2125431" cy="356616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42402" y="2606040"/>
            <a:ext cx="1942551" cy="320040"/>
          </a:xfrm>
          <a:prstGeom prst="rect">
            <a:avLst/>
          </a:prstGeom>
          <a:noFill/>
        </p:spPr>
        <p:txBody>
          <a:bodyPr wrap="square" lIns="54864" rIns="54864" tIns="36576" bIns="36576" anchor="b"/>
          <a:lstStyle/>
          <a:p>
            <a:pPr algn="ctr"/>
            <a:r>
              <a:rPr sz="1200" b="1" i="0">
                <a:solidFill>
                  <a:srgbClr val="000000"/>
                </a:solidFill>
                <a:latin typeface="Arial"/>
              </a:rPr>
              <a:t>Strategic pivot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188122" y="2971800"/>
            <a:ext cx="1851112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23" name="TextBox 22"/>
          <p:cNvSpPr txBox="1"/>
          <p:nvPr/>
        </p:nvSpPr>
        <p:spPr>
          <a:xfrm>
            <a:off x="5124114" y="3044952"/>
            <a:ext cx="1979127" cy="2971800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100" b="0" i="0">
                <a:solidFill>
                  <a:srgbClr val="000000"/>
                </a:solidFill>
                <a:latin typeface="Arial"/>
              </a:rPr>
              <a:t>Stake sale for EUR 6.9bn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100" b="0" i="0">
                <a:solidFill>
                  <a:srgbClr val="000000"/>
                </a:solidFill>
                <a:latin typeface="Arial"/>
              </a:rPr>
              <a:t>Capital framework announced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86122" y="2514600"/>
            <a:ext cx="2125431" cy="3566160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77562" y="2606040"/>
            <a:ext cx="1942551" cy="320040"/>
          </a:xfrm>
          <a:prstGeom prst="rect">
            <a:avLst/>
          </a:prstGeom>
          <a:noFill/>
        </p:spPr>
        <p:txBody>
          <a:bodyPr wrap="square" lIns="54864" rIns="54864" tIns="36576" bIns="36576" anchor="b"/>
          <a:lstStyle/>
          <a:p>
            <a:pPr algn="ctr"/>
            <a:r>
              <a:rPr sz="1200" b="1" i="0">
                <a:solidFill>
                  <a:srgbClr val="000000"/>
                </a:solidFill>
                <a:latin typeface="Arial"/>
              </a:rPr>
              <a:t>Record year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423282" y="2971800"/>
            <a:ext cx="1851111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27" name="TextBox 26"/>
          <p:cNvSpPr txBox="1"/>
          <p:nvPr/>
        </p:nvSpPr>
        <p:spPr>
          <a:xfrm>
            <a:off x="7359274" y="3044952"/>
            <a:ext cx="1979127" cy="2971800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100" b="0" i="0">
                <a:solidFill>
                  <a:srgbClr val="000000"/>
                </a:solidFill>
                <a:latin typeface="Arial"/>
              </a:rPr>
              <a:t>Ordinary + extraordinary Ps. 7.5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100" b="0" i="0">
                <a:solidFill>
                  <a:srgbClr val="000000"/>
                </a:solidFill>
                <a:latin typeface="Arial"/>
              </a:rPr>
              <a:t>Buybacks 2.9% of capital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21281" y="2514600"/>
            <a:ext cx="2125431" cy="3566160"/>
          </a:xfrm>
          <a:prstGeom prst="rect">
            <a:avLst/>
          </a:prstGeom>
          <a:solidFill>
            <a:srgbClr val="F2F2F2"/>
          </a:solidFill>
          <a:ln w="9525">
            <a:solidFill>
              <a:srgbClr val="A6A6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12721" y="2606040"/>
            <a:ext cx="1942551" cy="320040"/>
          </a:xfrm>
          <a:prstGeom prst="rect">
            <a:avLst/>
          </a:prstGeom>
          <a:noFill/>
        </p:spPr>
        <p:txBody>
          <a:bodyPr wrap="square" lIns="54864" rIns="54864" tIns="36576" bIns="36576" anchor="b"/>
          <a:lstStyle/>
          <a:p>
            <a:pPr algn="ctr"/>
            <a:r>
              <a:rPr sz="1200" b="1" i="0">
                <a:solidFill>
                  <a:srgbClr val="000000"/>
                </a:solidFill>
                <a:latin typeface="Arial"/>
              </a:rPr>
              <a:t>Acceleration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658441" y="2971800"/>
            <a:ext cx="1851111" cy="0"/>
          </a:xfrm>
          <a:prstGeom prst="line">
            <a:avLst/>
          </a:prstGeom>
          <a:ln w="9525">
            <a:solidFill>
              <a:srgbClr val="7F7F7F"/>
            </a:solidFill>
          </a:ln>
        </p:spPr>
      </p:cxnSp>
      <p:sp>
        <p:nvSpPr>
          <p:cNvPr id="31" name="TextBox 30"/>
          <p:cNvSpPr txBox="1"/>
          <p:nvPr/>
        </p:nvSpPr>
        <p:spPr>
          <a:xfrm>
            <a:off x="9594433" y="3044952"/>
            <a:ext cx="1979127" cy="2971800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100" b="0" i="0">
                <a:solidFill>
                  <a:srgbClr val="000000"/>
                </a:solidFill>
                <a:latin typeface="Arial"/>
              </a:rPr>
              <a:t>Dividend +4.2%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100" b="0" i="0">
                <a:solidFill>
                  <a:srgbClr val="000000"/>
                </a:solidFill>
                <a:latin typeface="Arial"/>
              </a:rPr>
              <a:t>Total return 10.4% of market cap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5780" y="411480"/>
            <a:ext cx="11247120" cy="502920"/>
          </a:xfrm>
          <a:prstGeom prst="rect">
            <a:avLst/>
          </a:prstGeom>
          <a:noFill/>
        </p:spPr>
        <p:txBody>
          <a:bodyPr wrap="none" lIns="0" rIns="0" tIns="0" bIns="0" anchor="b"/>
          <a:lstStyle/>
          <a:p>
            <a:pPr algn="l"/>
            <a:r>
              <a:rPr sz="2400" b="0" i="0">
                <a:solidFill>
                  <a:srgbClr val="000000"/>
                </a:solidFill>
                <a:latin typeface="Arial"/>
              </a:rPr>
              <a:t>Process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5780" y="914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595959"/>
                </a:solidFill>
                <a:latin typeface="Arial"/>
              </a:rPr>
              <a:t>Illustrative buy-in process: three phases, ~24 weeks to 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5780" y="6272784"/>
            <a:ext cx="1124712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700" b="0" i="0">
                <a:solidFill>
                  <a:srgbClr val="595959"/>
                </a:solidFill>
                <a:latin typeface="Arial"/>
              </a:rPr>
              <a:t>Illustrative data - layout gallery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53190" y="6446520"/>
            <a:ext cx="421538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525780" y="1371600"/>
            <a:ext cx="11248948" cy="347472"/>
          </a:xfrm>
          <a:prstGeom prst="rect">
            <a:avLst/>
          </a:prstGeom>
          <a:solidFill>
            <a:srgbClr val="D9D2CA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100" b="1" i="1">
                <a:solidFill>
                  <a:srgbClr val="000000"/>
                </a:solidFill>
                <a:latin typeface="Arial"/>
              </a:rPr>
              <a:t>Every special-committee process is unique; timing below is illustrative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525780" y="1874519"/>
            <a:ext cx="1463040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10800000">
            <a:off x="525780" y="3008376"/>
            <a:ext cx="1463040" cy="329184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5780" y="1874519"/>
            <a:ext cx="1463040" cy="1143000"/>
          </a:xfrm>
          <a:prstGeom prst="rect">
            <a:avLst/>
          </a:prstGeom>
          <a:noFill/>
        </p:spPr>
        <p:txBody>
          <a:bodyPr wrap="square" lIns="54864" rIns="54864" tIns="36576" bIns="36576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Initial phase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17420" y="1920239"/>
            <a:ext cx="9511588" cy="1371600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Arial"/>
              </a:rPr>
              <a:t>Board approves proposal and engages advisors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Arial"/>
              </a:rPr>
              <a:t>Committee reviews strategic alternatives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Arial"/>
              </a:rPr>
              <a:t>Advisor prepares preliminary valuation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17420" y="3392424"/>
            <a:ext cx="9557308" cy="0"/>
          </a:xfrm>
          <a:prstGeom prst="line">
            <a:avLst/>
          </a:prstGeom>
          <a:ln w="9525">
            <a:solidFill>
              <a:srgbClr val="A6A6A6"/>
            </a:solidFill>
          </a:ln>
        </p:spPr>
      </p:cxnSp>
      <p:sp>
        <p:nvSpPr>
          <p:cNvPr id="12" name="Rectangle 11"/>
          <p:cNvSpPr/>
          <p:nvPr/>
        </p:nvSpPr>
        <p:spPr>
          <a:xfrm>
            <a:off x="525780" y="3447288"/>
            <a:ext cx="1463040" cy="85725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 rot="10800000">
            <a:off x="525780" y="4295394"/>
            <a:ext cx="1463040" cy="294894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5780" y="3447288"/>
            <a:ext cx="1463040" cy="857250"/>
          </a:xfrm>
          <a:prstGeom prst="rect">
            <a:avLst/>
          </a:prstGeom>
          <a:noFill/>
        </p:spPr>
        <p:txBody>
          <a:bodyPr wrap="square" lIns="54864" rIns="54864" tIns="36576" bIns="36576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Negotiations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17420" y="3493008"/>
            <a:ext cx="9511588" cy="1051560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Arial"/>
              </a:rPr>
              <a:t>Parties negotiate price and terms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Arial"/>
              </a:rPr>
              <a:t>Committee may request a revised offer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217420" y="4645152"/>
            <a:ext cx="9557308" cy="0"/>
          </a:xfrm>
          <a:prstGeom prst="line">
            <a:avLst/>
          </a:prstGeom>
          <a:ln w="9525">
            <a:solidFill>
              <a:srgbClr val="A6A6A6"/>
            </a:solidFill>
          </a:ln>
        </p:spPr>
      </p:cxnSp>
      <p:sp>
        <p:nvSpPr>
          <p:cNvPr id="17" name="Rectangle 16"/>
          <p:cNvSpPr/>
          <p:nvPr/>
        </p:nvSpPr>
        <p:spPr>
          <a:xfrm>
            <a:off x="525780" y="4700016"/>
            <a:ext cx="1463040" cy="1143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 rot="10800000">
            <a:off x="525780" y="5833872"/>
            <a:ext cx="1463040" cy="329184"/>
          </a:xfrm>
          <a:prstGeom prst="triangle">
            <a:avLst/>
          </a:prstGeom>
          <a:solidFill>
            <a:srgbClr val="1F38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5780" y="4700016"/>
            <a:ext cx="1463040" cy="1143000"/>
          </a:xfrm>
          <a:prstGeom prst="rect">
            <a:avLst/>
          </a:prstGeom>
          <a:noFill/>
        </p:spPr>
        <p:txBody>
          <a:bodyPr wrap="square" lIns="54864" rIns="54864" tIns="36576" bIns="36576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Execution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17420" y="4745736"/>
            <a:ext cx="9511588" cy="1371600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Arial"/>
              </a:rPr>
              <a:t>Definitive agreement and joint announcement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Arial"/>
              </a:rPr>
              <a:t>Proxy filed with the SEC; unitholder vote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Arial"/>
              </a:rPr>
              <a:t>Closing after regulatory approval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217420" y="6217920"/>
            <a:ext cx="9557308" cy="0"/>
          </a:xfrm>
          <a:prstGeom prst="line">
            <a:avLst/>
          </a:prstGeom>
          <a:ln w="9525">
            <a:solidFill>
              <a:srgbClr val="A6A6A6"/>
            </a:solidFill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5780" y="411480"/>
            <a:ext cx="11247120" cy="502920"/>
          </a:xfrm>
          <a:prstGeom prst="rect">
            <a:avLst/>
          </a:prstGeom>
          <a:noFill/>
        </p:spPr>
        <p:txBody>
          <a:bodyPr wrap="none" lIns="0" rIns="0" tIns="0" bIns="0" anchor="b"/>
          <a:lstStyle/>
          <a:p>
            <a:pPr algn="l"/>
            <a:r>
              <a:rPr sz="2400" b="0" i="0">
                <a:solidFill>
                  <a:srgbClr val="000000"/>
                </a:solidFill>
                <a:latin typeface="Arial"/>
              </a:rPr>
              <a:t>Evaluating the 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5780" y="914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595959"/>
                </a:solidFill>
                <a:latin typeface="Arial"/>
              </a:rPr>
              <a:t>Which method creates more value for the shareholder?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5780" y="6272784"/>
            <a:ext cx="1124712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700" b="0" i="0">
                <a:solidFill>
                  <a:srgbClr val="595959"/>
                </a:solidFill>
                <a:latin typeface="Arial"/>
              </a:rPr>
              <a:t>Illustrative data - layout gallery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53190" y="6446520"/>
            <a:ext cx="421538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5780" y="1417320"/>
            <a:ext cx="3520440" cy="411480"/>
          </a:xfrm>
          <a:prstGeom prst="roundRect">
            <a:avLst>
              <a:gd name="adj" fmla="val 20000"/>
            </a:avLst>
          </a:prstGeom>
          <a:solidFill>
            <a:srgbClr val="0A5AA6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Dimension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29100" y="1417320"/>
            <a:ext cx="3520440" cy="41148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200" b="1" i="0">
                <a:solidFill>
                  <a:srgbClr val="000000"/>
                </a:solidFill>
                <a:latin typeface="Arial"/>
              </a:rPr>
              <a:t>Accelerated buyback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86700" y="1417320"/>
            <a:ext cx="3520440" cy="411480"/>
          </a:xfrm>
          <a:prstGeom prst="roundRect">
            <a:avLst>
              <a:gd name="adj" fmla="val 20000"/>
            </a:avLst>
          </a:prstGeom>
          <a:solidFill>
            <a:srgbClr val="F2F2F2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200" b="1" i="0">
                <a:solidFill>
                  <a:srgbClr val="000000"/>
                </a:solidFill>
                <a:latin typeface="Arial"/>
              </a:rPr>
              <a:t>Dividend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19" y="1965960"/>
            <a:ext cx="3337560" cy="384048"/>
          </a:xfrm>
          <a:prstGeom prst="rect">
            <a:avLst/>
          </a:prstGeom>
          <a:noFill/>
        </p:spPr>
        <p:txBody>
          <a:bodyPr wrap="square" lIns="54864" rIns="54864" tIns="36576" bIns="36576" anchor="ctr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Arial"/>
              </a:rPr>
              <a:t>Market signal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540" y="1965960"/>
            <a:ext cx="3337560" cy="384048"/>
          </a:xfrm>
          <a:prstGeom prst="rect">
            <a:avLst/>
          </a:prstGeom>
          <a:noFill/>
        </p:spPr>
        <p:txBody>
          <a:bodyPr wrap="square" lIns="54864" rIns="54864" tIns="36576" bIns="36576" anchor="ctr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Arial"/>
              </a:rPr>
              <a:t>Very strong, immediate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78140" y="1965960"/>
            <a:ext cx="3337560" cy="384048"/>
          </a:xfrm>
          <a:prstGeom prst="rect">
            <a:avLst/>
          </a:prstGeom>
          <a:noFill/>
        </p:spPr>
        <p:txBody>
          <a:bodyPr wrap="square" lIns="54864" rIns="54864" tIns="36576" bIns="36576" anchor="ctr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Arial"/>
              </a:rPr>
              <a:t>Strong, gradual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25780" y="2423160"/>
            <a:ext cx="11248948" cy="0"/>
          </a:xfrm>
          <a:prstGeom prst="line">
            <a:avLst/>
          </a:prstGeom>
          <a:ln w="9525">
            <a:solidFill>
              <a:srgbClr val="A6A6A6"/>
            </a:solidFill>
            <a:prstDash val="sysDot"/>
          </a:ln>
        </p:spPr>
      </p:cxnSp>
      <p:sp>
        <p:nvSpPr>
          <p:cNvPr id="13" name="TextBox 12"/>
          <p:cNvSpPr txBox="1"/>
          <p:nvPr/>
        </p:nvSpPr>
        <p:spPr>
          <a:xfrm>
            <a:off x="617219" y="2514600"/>
            <a:ext cx="3337560" cy="384048"/>
          </a:xfrm>
          <a:prstGeom prst="rect">
            <a:avLst/>
          </a:prstGeom>
          <a:noFill/>
        </p:spPr>
        <p:txBody>
          <a:bodyPr wrap="square" lIns="54864" rIns="54864" tIns="36576" bIns="36576" anchor="ctr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Arial"/>
              </a:rPr>
              <a:t>Future flexibility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0540" y="2514600"/>
            <a:ext cx="3337560" cy="384048"/>
          </a:xfrm>
          <a:prstGeom prst="rect">
            <a:avLst/>
          </a:prstGeom>
          <a:noFill/>
        </p:spPr>
        <p:txBody>
          <a:bodyPr wrap="square" lIns="54864" rIns="54864" tIns="36576" bIns="36576" anchor="ctr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Arial"/>
              </a:rPr>
              <a:t>High (no recurring commitment)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78140" y="2514600"/>
            <a:ext cx="3337560" cy="384048"/>
          </a:xfrm>
          <a:prstGeom prst="rect">
            <a:avLst/>
          </a:prstGeom>
          <a:noFill/>
        </p:spPr>
        <p:txBody>
          <a:bodyPr wrap="square" lIns="54864" rIns="54864" tIns="36576" bIns="36576" anchor="ctr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Arial"/>
              </a:rPr>
              <a:t>Low (cuts read as negative)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25780" y="2971800"/>
            <a:ext cx="11248948" cy="0"/>
          </a:xfrm>
          <a:prstGeom prst="line">
            <a:avLst/>
          </a:prstGeom>
          <a:ln w="9525">
            <a:solidFill>
              <a:srgbClr val="A6A6A6"/>
            </a:solidFill>
            <a:prstDash val="sysDot"/>
          </a:ln>
        </p:spPr>
      </p:cxnSp>
      <p:sp>
        <p:nvSpPr>
          <p:cNvPr id="17" name="TextBox 16"/>
          <p:cNvSpPr txBox="1"/>
          <p:nvPr/>
        </p:nvSpPr>
        <p:spPr>
          <a:xfrm>
            <a:off x="617219" y="3063239"/>
            <a:ext cx="3337560" cy="384048"/>
          </a:xfrm>
          <a:prstGeom prst="rect">
            <a:avLst/>
          </a:prstGeom>
          <a:noFill/>
        </p:spPr>
        <p:txBody>
          <a:bodyPr wrap="square" lIns="54864" rIns="54864" tIns="36576" bIns="36576" anchor="ctr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Arial"/>
              </a:rPr>
              <a:t>Tax efficiency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0540" y="3063239"/>
            <a:ext cx="3337560" cy="384048"/>
          </a:xfrm>
          <a:prstGeom prst="rect">
            <a:avLst/>
          </a:prstGeom>
          <a:noFill/>
        </p:spPr>
        <p:txBody>
          <a:bodyPr wrap="square" lIns="54864" rIns="54864" tIns="36576" bIns="36576" anchor="ctr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Arial"/>
              </a:rPr>
              <a:t>Superior (capital gains)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78140" y="3063239"/>
            <a:ext cx="3337560" cy="384048"/>
          </a:xfrm>
          <a:prstGeom prst="rect">
            <a:avLst/>
          </a:prstGeom>
          <a:noFill/>
        </p:spPr>
        <p:txBody>
          <a:bodyPr wrap="square" lIns="54864" rIns="54864" tIns="36576" bIns="36576" anchor="ctr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Arial"/>
              </a:rPr>
              <a:t>Lower in most jurisdictions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74820" y="3081527"/>
            <a:ext cx="3291840" cy="365760"/>
          </a:xfrm>
          <a:prstGeom prst="rect">
            <a:avLst/>
          </a:prstGeom>
          <a:noFill/>
          <a:ln w="15875">
            <a:solidFill>
              <a:srgbClr val="E31B23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525780" y="3520439"/>
            <a:ext cx="11248948" cy="0"/>
          </a:xfrm>
          <a:prstGeom prst="line">
            <a:avLst/>
          </a:prstGeom>
          <a:ln w="9525">
            <a:solidFill>
              <a:srgbClr val="A6A6A6"/>
            </a:solidFill>
            <a:prstDash val="sysDot"/>
          </a:ln>
        </p:spPr>
      </p:cxnSp>
      <p:sp>
        <p:nvSpPr>
          <p:cNvPr id="22" name="TextBox 21"/>
          <p:cNvSpPr txBox="1"/>
          <p:nvPr/>
        </p:nvSpPr>
        <p:spPr>
          <a:xfrm>
            <a:off x="617219" y="3611879"/>
            <a:ext cx="3337560" cy="384048"/>
          </a:xfrm>
          <a:prstGeom prst="rect">
            <a:avLst/>
          </a:prstGeom>
          <a:noFill/>
        </p:spPr>
        <p:txBody>
          <a:bodyPr wrap="square" lIns="54864" rIns="54864" tIns="36576" bIns="36576" anchor="ctr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Arial"/>
              </a:rPr>
              <a:t>EPS accretion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0540" y="3611879"/>
            <a:ext cx="3337560" cy="384048"/>
          </a:xfrm>
          <a:prstGeom prst="rect">
            <a:avLst/>
          </a:prstGeom>
          <a:noFill/>
        </p:spPr>
        <p:txBody>
          <a:bodyPr wrap="square" lIns="54864" rIns="54864" tIns="36576" bIns="36576" anchor="ctr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Arial"/>
              </a:rPr>
              <a:t>Immediate and concentrated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78140" y="3611879"/>
            <a:ext cx="3337560" cy="384048"/>
          </a:xfrm>
          <a:prstGeom prst="rect">
            <a:avLst/>
          </a:prstGeom>
          <a:noFill/>
        </p:spPr>
        <p:txBody>
          <a:bodyPr wrap="square" lIns="54864" rIns="54864" tIns="36576" bIns="36576" anchor="ctr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Arial"/>
              </a:rPr>
              <a:t>None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4820" y="3630168"/>
            <a:ext cx="3291840" cy="365760"/>
          </a:xfrm>
          <a:prstGeom prst="rect">
            <a:avLst/>
          </a:prstGeom>
          <a:noFill/>
          <a:ln w="15875">
            <a:solidFill>
              <a:srgbClr val="E31B23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>
            <a:off x="525780" y="4069079"/>
            <a:ext cx="11248948" cy="0"/>
          </a:xfrm>
          <a:prstGeom prst="line">
            <a:avLst/>
          </a:prstGeom>
          <a:ln w="9525">
            <a:solidFill>
              <a:srgbClr val="A6A6A6"/>
            </a:solidFill>
            <a:prstDash val="sysDot"/>
          </a:ln>
        </p:spPr>
      </p:cxnSp>
      <p:sp>
        <p:nvSpPr>
          <p:cNvPr id="27" name="TextBox 26"/>
          <p:cNvSpPr txBox="1"/>
          <p:nvPr/>
        </p:nvSpPr>
        <p:spPr>
          <a:xfrm>
            <a:off x="617219" y="4160520"/>
            <a:ext cx="3337560" cy="384048"/>
          </a:xfrm>
          <a:prstGeom prst="rect">
            <a:avLst/>
          </a:prstGeom>
          <a:noFill/>
        </p:spPr>
        <p:txBody>
          <a:bodyPr wrap="square" lIns="54864" rIns="54864" tIns="36576" bIns="36576" anchor="ctr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Arial"/>
              </a:rPr>
              <a:t>Who benefits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20540" y="4160520"/>
            <a:ext cx="3337560" cy="384048"/>
          </a:xfrm>
          <a:prstGeom prst="rect">
            <a:avLst/>
          </a:prstGeom>
          <a:noFill/>
        </p:spPr>
        <p:txBody>
          <a:bodyPr wrap="square" lIns="54864" rIns="54864" tIns="36576" bIns="36576" anchor="ctr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Arial"/>
              </a:rPr>
              <a:t>Holders who stay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78140" y="4160520"/>
            <a:ext cx="3337560" cy="384048"/>
          </a:xfrm>
          <a:prstGeom prst="rect">
            <a:avLst/>
          </a:prstGeom>
          <a:noFill/>
        </p:spPr>
        <p:txBody>
          <a:bodyPr wrap="square" lIns="54864" rIns="54864" tIns="36576" bIns="36576" anchor="ctr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Arial"/>
              </a:rPr>
              <a:t>All current holders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74820" y="4178807"/>
            <a:ext cx="3291840" cy="365760"/>
          </a:xfrm>
          <a:prstGeom prst="rect">
            <a:avLst/>
          </a:prstGeom>
          <a:noFill/>
          <a:ln w="15875">
            <a:solidFill>
              <a:srgbClr val="E31B23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525780" y="4617720"/>
            <a:ext cx="11248948" cy="0"/>
          </a:xfrm>
          <a:prstGeom prst="line">
            <a:avLst/>
          </a:prstGeom>
          <a:ln w="9525">
            <a:solidFill>
              <a:srgbClr val="A6A6A6"/>
            </a:solidFill>
            <a:prstDash val="sysDot"/>
          </a:ln>
        </p:spPr>
      </p:cxnSp>
      <p:sp>
        <p:nvSpPr>
          <p:cNvPr id="32" name="TextBox 31"/>
          <p:cNvSpPr txBox="1"/>
          <p:nvPr/>
        </p:nvSpPr>
        <p:spPr>
          <a:xfrm>
            <a:off x="617219" y="4709160"/>
            <a:ext cx="3337560" cy="384048"/>
          </a:xfrm>
          <a:prstGeom prst="rect">
            <a:avLst/>
          </a:prstGeom>
          <a:noFill/>
        </p:spPr>
        <p:txBody>
          <a:bodyPr wrap="square" lIns="54864" rIns="54864" tIns="36576" bIns="36576" anchor="ctr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1" i="0">
                <a:solidFill>
                  <a:srgbClr val="000000"/>
                </a:solidFill>
                <a:latin typeface="Arial"/>
              </a:rPr>
              <a:t>Requires undervaluation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20540" y="4709160"/>
            <a:ext cx="3337560" cy="384048"/>
          </a:xfrm>
          <a:prstGeom prst="rect">
            <a:avLst/>
          </a:prstGeom>
          <a:noFill/>
        </p:spPr>
        <p:txBody>
          <a:bodyPr wrap="square" lIns="54864" rIns="54864" tIns="36576" bIns="36576" anchor="ctr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Arial"/>
              </a:rPr>
              <a:t>Yes, to create value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78140" y="4709160"/>
            <a:ext cx="3337560" cy="384048"/>
          </a:xfrm>
          <a:prstGeom prst="rect">
            <a:avLst/>
          </a:prstGeom>
          <a:noFill/>
        </p:spPr>
        <p:txBody>
          <a:bodyPr wrap="square" lIns="54864" rIns="54864" tIns="36576" bIns="36576" anchor="ctr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1200" b="0" i="0">
                <a:solidFill>
                  <a:srgbClr val="000000"/>
                </a:solidFill>
                <a:latin typeface="Arial"/>
              </a:rPr>
              <a:t>No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25780" y="5166360"/>
            <a:ext cx="11248948" cy="0"/>
          </a:xfrm>
          <a:prstGeom prst="line">
            <a:avLst/>
          </a:prstGeom>
          <a:ln w="9525">
            <a:solidFill>
              <a:srgbClr val="A6A6A6"/>
            </a:solidFill>
            <a:prstDash val="sysDot"/>
          </a:ln>
        </p:spPr>
      </p:cxnSp>
      <p:sp>
        <p:nvSpPr>
          <p:cNvPr id="36" name="Rounded Rectangle 35"/>
          <p:cNvSpPr/>
          <p:nvPr/>
        </p:nvSpPr>
        <p:spPr>
          <a:xfrm>
            <a:off x="525780" y="5486400"/>
            <a:ext cx="11248948" cy="548640"/>
          </a:xfrm>
          <a:prstGeom prst="roundRect">
            <a:avLst>
              <a:gd name="adj" fmla="val 15000"/>
            </a:avLst>
          </a:prstGeom>
          <a:solidFill>
            <a:srgbClr val="0A5AA6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The accelerated buyback maximises value: tax-efficient, immediately accretive and signals undervaluation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5780" y="411480"/>
            <a:ext cx="11247120" cy="502920"/>
          </a:xfrm>
          <a:prstGeom prst="rect">
            <a:avLst/>
          </a:prstGeom>
          <a:noFill/>
        </p:spPr>
        <p:txBody>
          <a:bodyPr wrap="none" lIns="0" rIns="0" tIns="0" bIns="0" anchor="b"/>
          <a:lstStyle/>
          <a:p>
            <a:pPr algn="l"/>
            <a:r>
              <a:rPr sz="2400" b="0" i="0">
                <a:solidFill>
                  <a:srgbClr val="000000"/>
                </a:solidFill>
                <a:latin typeface="Arial"/>
              </a:rPr>
              <a:t>Scale, Earnings and Returns at Record Levels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5780" y="6272784"/>
            <a:ext cx="1124712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700" b="0" i="0">
                <a:solidFill>
                  <a:srgbClr val="595959"/>
                </a:solidFill>
                <a:latin typeface="Arial"/>
              </a:rPr>
              <a:t>Illustrative data - layout gallery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53190" y="6446520"/>
            <a:ext cx="421538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525780" y="1828800"/>
            <a:ext cx="3566769" cy="2926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5780" y="2355494"/>
            <a:ext cx="3566769" cy="1316736"/>
          </a:xfrm>
          <a:prstGeom prst="rect">
            <a:avLst/>
          </a:prstGeom>
          <a:noFill/>
        </p:spPr>
        <p:txBody>
          <a:bodyPr wrap="square" lIns="54864" rIns="54864" tIns="36576" bIns="36576" anchor="b"/>
          <a:lstStyle/>
          <a:p>
            <a:pPr algn="ctr"/>
            <a:r>
              <a:rPr sz="4000" b="1" i="0">
                <a:solidFill>
                  <a:srgbClr val="0A5AA6"/>
                </a:solidFill>
                <a:latin typeface="Arial"/>
              </a:rPr>
              <a:t>$9.3Tn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19" y="3672230"/>
            <a:ext cx="3383889" cy="936345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ctr"/>
            <a:r>
              <a:rPr sz="1200" b="0" i="0">
                <a:solidFill>
                  <a:srgbClr val="0A5AA6"/>
                </a:solidFill>
                <a:latin typeface="Arial"/>
              </a:rPr>
              <a:t>Total client assets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366869" y="1828800"/>
            <a:ext cx="3566769" cy="2926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66869" y="2355494"/>
            <a:ext cx="3566769" cy="1316736"/>
          </a:xfrm>
          <a:prstGeom prst="rect">
            <a:avLst/>
          </a:prstGeom>
          <a:noFill/>
        </p:spPr>
        <p:txBody>
          <a:bodyPr wrap="square" lIns="54864" rIns="54864" tIns="36576" bIns="36576" anchor="b"/>
          <a:lstStyle/>
          <a:p>
            <a:pPr algn="ctr"/>
            <a:r>
              <a:rPr sz="4000" b="1" i="0">
                <a:solidFill>
                  <a:srgbClr val="0A5AA6"/>
                </a:solidFill>
                <a:latin typeface="Arial"/>
              </a:rPr>
              <a:t>$10.21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8309" y="3672230"/>
            <a:ext cx="3383889" cy="936345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ctr"/>
            <a:r>
              <a:rPr sz="1200" b="0" i="0">
                <a:solidFill>
                  <a:srgbClr val="0A5AA6"/>
                </a:solidFill>
                <a:latin typeface="Arial"/>
              </a:rPr>
              <a:t>Earnings per share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7959" y="1828800"/>
            <a:ext cx="3566769" cy="2926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7959" y="2355494"/>
            <a:ext cx="3566769" cy="1316736"/>
          </a:xfrm>
          <a:prstGeom prst="rect">
            <a:avLst/>
          </a:prstGeom>
          <a:noFill/>
        </p:spPr>
        <p:txBody>
          <a:bodyPr wrap="square" lIns="54864" rIns="54864" tIns="36576" bIns="36576" anchor="b"/>
          <a:lstStyle/>
          <a:p>
            <a:pPr algn="ctr"/>
            <a:r>
              <a:rPr sz="4000" b="1" i="0">
                <a:solidFill>
                  <a:srgbClr val="0A5AA6"/>
                </a:solidFill>
                <a:latin typeface="Arial"/>
              </a:rPr>
              <a:t>21.6%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9399" y="3672230"/>
            <a:ext cx="3383889" cy="936345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ctr"/>
            <a:r>
              <a:rPr sz="1200" b="0" i="0">
                <a:solidFill>
                  <a:srgbClr val="0A5AA6"/>
                </a:solidFill>
                <a:latin typeface="Arial"/>
              </a:rPr>
              <a:t>ROTCE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5780" y="411480"/>
            <a:ext cx="11247120" cy="502920"/>
          </a:xfrm>
          <a:prstGeom prst="rect">
            <a:avLst/>
          </a:prstGeom>
          <a:noFill/>
        </p:spPr>
        <p:txBody>
          <a:bodyPr wrap="none" lIns="0" rIns="0" tIns="0" bIns="0" anchor="b"/>
          <a:lstStyle/>
          <a:p>
            <a:pPr algn="l"/>
            <a:r>
              <a:rPr sz="2400" b="0" i="0">
                <a:solidFill>
                  <a:srgbClr val="000000"/>
                </a:solidFill>
                <a:latin typeface="Arial"/>
              </a:rPr>
              <a:t>Weak Sectors: Largest Contributors (1/4)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5780" y="914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595959"/>
                </a:solidFill>
                <a:latin typeface="Arial"/>
              </a:rPr>
              <a:t>Materials (-5.0pp): mostly selection; Metals &amp; Mining +0.5pp vs +3.9pp for the peers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5780" y="6272784"/>
            <a:ext cx="1124712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700" b="0" i="0">
                <a:solidFill>
                  <a:srgbClr val="595959"/>
                </a:solidFill>
                <a:latin typeface="Arial"/>
              </a:rPr>
              <a:t>Illustrative data - layout gallery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53190" y="6446520"/>
            <a:ext cx="421538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16</a:t>
            </a:r>
          </a:p>
        </p:txBody>
      </p:sp>
      <p:sp>
        <p:nvSpPr>
          <p:cNvPr id="6" name="Rectangle 5"/>
          <p:cNvSpPr/>
          <p:nvPr/>
        </p:nvSpPr>
        <p:spPr>
          <a:xfrm>
            <a:off x="520293" y="1345996"/>
            <a:ext cx="11248948" cy="3246120"/>
          </a:xfrm>
          <a:prstGeom prst="rect">
            <a:avLst/>
          </a:prstGeom>
          <a:noFill/>
          <a:ln w="12700">
            <a:solidFill>
              <a:srgbClr val="42825D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0877" y="1419148"/>
            <a:ext cx="2743200" cy="2834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600" b="1" i="0">
                <a:solidFill>
                  <a:srgbClr val="42825D"/>
                </a:solidFill>
                <a:latin typeface="Arial"/>
              </a:rPr>
              <a:t>Materials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36061" y="1501444"/>
            <a:ext cx="5815584" cy="228600"/>
          </a:xfrm>
          <a:prstGeom prst="rect">
            <a:avLst/>
          </a:prstGeom>
          <a:solidFill>
            <a:srgbClr val="DDE8E2"/>
          </a:solidFill>
          <a:ln w="6350">
            <a:solidFill>
              <a:srgbClr val="42825D"/>
            </a:solidFill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900" b="1" i="0">
                <a:solidFill>
                  <a:srgbClr val="000000"/>
                </a:solidFill>
                <a:latin typeface="Arial"/>
              </a:rPr>
              <a:t>Fund wt 6.8% vs peers 15.8%  |  Annualized perf. Fund -3% vs peers 30%  |  Gap -5.0pp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644" y="1856231"/>
            <a:ext cx="5441594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>
                <a:solidFill>
                  <a:srgbClr val="000000"/>
                </a:solidFill>
                <a:latin typeface="Arial"/>
              </a:rPr>
              <a:t>Fund's largest contributors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80644" y="2103120"/>
          <a:ext cx="5441593" cy="148132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523646"/>
                <a:gridCol w="1632478"/>
                <a:gridCol w="761823"/>
                <a:gridCol w="761823"/>
                <a:gridCol w="761823"/>
              </a:tblGrid>
              <a:tr h="246888"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Name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Industry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Contrib.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Return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YTD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404040"/>
                    </a:solidFill>
                  </a:tcPr>
                </a:tc>
              </a:tr>
              <a:tr h="246888"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Company A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Metals &amp; Mining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+0.28pp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391%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-2%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246888"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Company B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Chemicals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+0.22pp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-12%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-11%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246888"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Company C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Chemicals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+0.20pp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397%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132%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246888"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Company D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Metals &amp; Mining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+0.16pp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388%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35%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246888"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Company E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Construction Mat.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-0.38pp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-69%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-24%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05118" y="1856231"/>
            <a:ext cx="5441594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1" i="0">
                <a:solidFill>
                  <a:srgbClr val="000000"/>
                </a:solidFill>
                <a:latin typeface="Arial"/>
              </a:rPr>
              <a:t>Peers' largest contributors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05118" y="2103120"/>
          <a:ext cx="5441593" cy="148132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523646"/>
                <a:gridCol w="1632478"/>
                <a:gridCol w="761823"/>
                <a:gridCol w="761823"/>
                <a:gridCol w="761823"/>
              </a:tblGrid>
              <a:tr h="246888"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Name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Industry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Contrib.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Return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ctr"/>
                      <a:r>
                        <a:rPr sz="900" b="1" i="0">
                          <a:solidFill>
                            <a:srgbClr val="FFFFFF"/>
                          </a:solidFill>
                          <a:latin typeface="Arial"/>
                        </a:rPr>
                        <a:t>YTD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rgbClr val="000000"/>
                      </a:solidFill>
                    </a:lnT>
                    <a:lnB w="9525">
                      <a:solidFill>
                        <a:srgbClr val="000000"/>
                      </a:solidFill>
                    </a:lnB>
                    <a:solidFill>
                      <a:srgbClr val="404040"/>
                    </a:solidFill>
                  </a:tcPr>
                </a:tc>
              </a:tr>
              <a:tr h="246888"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Company A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Metals &amp; Mining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+0.28pp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391%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-2%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246888"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Company B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Chemicals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+0.22pp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-12%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-11%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246888"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Company C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Chemicals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+0.20pp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397%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132%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246888"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Company D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Metals &amp; Mining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+0.16pp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388%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35%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noFill/>
                  </a:tcPr>
                </a:tc>
              </a:tr>
              <a:tr h="246888"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Company E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l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Construction Mat.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-0.38pp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-69%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 lIns="36576" rIns="36576" tIns="36576" bIns="36576" anchor="t"/>
                    <a:lstStyle/>
                    <a:p>
                      <a:pPr algn="r"/>
                      <a:r>
                        <a:rPr sz="900" b="0" i="0">
                          <a:solidFill>
                            <a:srgbClr val="000000"/>
                          </a:solidFill>
                          <a:latin typeface="Arial"/>
                        </a:rPr>
                        <a:t>-24%</a:t>
                      </a:r>
                    </a:p>
                  </a:txBody>
                  <a:tcPr marL="45720" marR="45720" marT="9144" marB="914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525780" y="4709160"/>
            <a:ext cx="11248948" cy="457200"/>
          </a:xfrm>
          <a:prstGeom prst="rect">
            <a:avLst/>
          </a:prstGeom>
          <a:noFill/>
          <a:ln w="6350">
            <a:solidFill>
              <a:srgbClr val="000000"/>
            </a:solidFill>
          </a:ln>
        </p:spPr>
        <p:txBody>
          <a:bodyPr rtlCol="0" anchor="ctr" wrap="square" lIns="54864" rIns="54864" tIns="36576" bIns="36576"/>
          <a:lstStyle/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900" b="1" i="0">
                <a:solidFill>
                  <a:srgbClr val="0A5AA6"/>
                </a:solidFill>
                <a:latin typeface="Arial"/>
              </a:rPr>
              <a:t>Allocation vs selection:</a:t>
            </a:r>
            <a:r>
              <a:rPr sz="900" b="0" i="0">
                <a:solidFill>
                  <a:srgbClr val="000000"/>
                </a:solidFill>
                <a:latin typeface="Arial"/>
              </a:rPr>
              <a:t> allocation -0.7pp, selection -2.3pp; fund held 6.8% vs 15.8%.</a:t>
            </a:r>
          </a:p>
          <a:p>
            <a:pPr algn="l" marL="155448" indent="-146304">
              <a:spcBef>
                <a:spcPts val="400"/>
              </a:spcBef>
              <a:buFont typeface="Arial"/>
              <a:buChar char="•"/>
            </a:pPr>
            <a:r>
              <a:rPr sz="900" b="1" i="0">
                <a:solidFill>
                  <a:srgbClr val="0A5AA6"/>
                </a:solidFill>
                <a:latin typeface="Arial"/>
              </a:rPr>
              <a:t>By industry:</a:t>
            </a:r>
            <a:r>
              <a:rPr sz="900" b="0" i="0">
                <a:solidFill>
                  <a:srgbClr val="000000"/>
                </a:solidFill>
                <a:latin typeface="Arial"/>
              </a:rPr>
              <a:t> Metals &amp; Mining +0.5pp vs +3.9pp; Chemicals -0.6pp vs +0.7pp.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25780" y="411480"/>
            <a:ext cx="11247120" cy="502920"/>
          </a:xfrm>
          <a:prstGeom prst="rect">
            <a:avLst/>
          </a:prstGeom>
          <a:noFill/>
        </p:spPr>
        <p:txBody>
          <a:bodyPr wrap="none" lIns="0" rIns="0" tIns="0" bIns="0" anchor="b"/>
          <a:lstStyle/>
          <a:p>
            <a:pPr algn="l"/>
            <a:r>
              <a:rPr sz="2400" b="0" i="0">
                <a:solidFill>
                  <a:srgbClr val="000000"/>
                </a:solidFill>
                <a:latin typeface="Arial"/>
              </a:rPr>
              <a:t>Balanced Mix and Leverage Below Policy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5780" y="914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1200" b="0" i="0">
                <a:solidFill>
                  <a:srgbClr val="595959"/>
                </a:solidFill>
                <a:latin typeface="Arial"/>
              </a:rPr>
              <a:t>Three segments of similar size; net debt / EBITDA of 1.0x vs the 2.0x 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5780" y="6272784"/>
            <a:ext cx="11247120" cy="182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700" b="0" i="0">
                <a:solidFill>
                  <a:srgbClr val="595959"/>
                </a:solidFill>
                <a:latin typeface="Arial"/>
              </a:rPr>
              <a:t>Illustrative data - layout gallery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53190" y="6446520"/>
            <a:ext cx="421538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17</a:t>
            </a:r>
          </a:p>
        </p:txBody>
      </p:sp>
      <p:sp>
        <p:nvSpPr>
          <p:cNvPr id="6" name="Rectangle 5"/>
          <p:cNvSpPr/>
          <p:nvPr/>
        </p:nvSpPr>
        <p:spPr>
          <a:xfrm>
            <a:off x="525780" y="1345996"/>
            <a:ext cx="5303520" cy="292608"/>
          </a:xfrm>
          <a:prstGeom prst="rect">
            <a:avLst/>
          </a:prstGeom>
          <a:solidFill>
            <a:srgbClr val="0A5AA6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Revenue Mix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5780" y="1675180"/>
            <a:ext cx="5303520" cy="219456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/>
            <a:r>
              <a:rPr sz="900" b="0" i="1">
                <a:solidFill>
                  <a:srgbClr val="595959"/>
                </a:solidFill>
                <a:latin typeface="Arial"/>
              </a:rPr>
              <a:t>FY25, % of revenue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800100" y="1958644"/>
          <a:ext cx="301752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00100" y="290322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b"/>
          <a:lstStyle/>
          <a:p>
            <a:pPr algn="ctr"/>
            <a:r>
              <a:rPr sz="2000" b="1" i="0">
                <a:solidFill>
                  <a:srgbClr val="0A5AA6"/>
                </a:solidFill>
                <a:latin typeface="Arial"/>
              </a:rPr>
              <a:t>$32bn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268979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FY25 revenue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37660" y="1958644"/>
            <a:ext cx="1691640" cy="1005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37660" y="2139696"/>
            <a:ext cx="1691640" cy="452628"/>
          </a:xfrm>
          <a:prstGeom prst="rect">
            <a:avLst/>
          </a:prstGeom>
          <a:noFill/>
        </p:spPr>
        <p:txBody>
          <a:bodyPr wrap="square" lIns="54864" rIns="54864" tIns="36576" bIns="36576" anchor="b"/>
          <a:lstStyle/>
          <a:p>
            <a:pPr algn="ctr"/>
            <a:r>
              <a:rPr sz="2000" b="1" i="0">
                <a:solidFill>
                  <a:srgbClr val="0A5AA6"/>
                </a:solidFill>
                <a:latin typeface="Arial"/>
              </a:rPr>
              <a:t>45%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29100" y="2592324"/>
            <a:ext cx="1508760" cy="321868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ctr"/>
            <a:r>
              <a:rPr sz="1200" b="0" i="0">
                <a:solidFill>
                  <a:srgbClr val="0A5AA6"/>
                </a:solidFill>
                <a:latin typeface="Arial"/>
              </a:rPr>
              <a:t>Retail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37660" y="3101644"/>
            <a:ext cx="1691640" cy="1005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37660" y="3282696"/>
            <a:ext cx="1691640" cy="452628"/>
          </a:xfrm>
          <a:prstGeom prst="rect">
            <a:avLst/>
          </a:prstGeom>
          <a:noFill/>
        </p:spPr>
        <p:txBody>
          <a:bodyPr wrap="square" lIns="54864" rIns="54864" tIns="36576" bIns="36576" anchor="b"/>
          <a:lstStyle/>
          <a:p>
            <a:pPr algn="ctr"/>
            <a:r>
              <a:rPr sz="2000" b="1" i="0">
                <a:solidFill>
                  <a:srgbClr val="0A5AA6"/>
                </a:solidFill>
                <a:latin typeface="Arial"/>
              </a:rPr>
              <a:t>+9%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29100" y="3735324"/>
            <a:ext cx="1508760" cy="321868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ctr"/>
            <a:r>
              <a:rPr sz="1200" b="0" i="0">
                <a:solidFill>
                  <a:srgbClr val="0A5AA6"/>
                </a:solidFill>
                <a:latin typeface="Arial"/>
              </a:rPr>
              <a:t>Revenue YoY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37660" y="4244644"/>
            <a:ext cx="1691640" cy="10058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37660" y="4425696"/>
            <a:ext cx="1691640" cy="452628"/>
          </a:xfrm>
          <a:prstGeom prst="rect">
            <a:avLst/>
          </a:prstGeom>
          <a:noFill/>
        </p:spPr>
        <p:txBody>
          <a:bodyPr wrap="square" lIns="54864" rIns="54864" tIns="36576" bIns="36576" anchor="b"/>
          <a:lstStyle/>
          <a:p>
            <a:pPr algn="ctr"/>
            <a:r>
              <a:rPr sz="2000" b="1" i="0">
                <a:solidFill>
                  <a:srgbClr val="0A5AA6"/>
                </a:solidFill>
                <a:latin typeface="Arial"/>
              </a:rPr>
              <a:t>14%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29100" y="4878323"/>
            <a:ext cx="1508760" cy="321868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ctr"/>
            <a:r>
              <a:rPr sz="1200" b="0" i="0">
                <a:solidFill>
                  <a:srgbClr val="0A5AA6"/>
                </a:solidFill>
                <a:latin typeface="Arial"/>
              </a:rPr>
              <a:t>EBITDA margin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1345996"/>
            <a:ext cx="5465368" cy="292608"/>
          </a:xfrm>
          <a:prstGeom prst="rect">
            <a:avLst/>
          </a:prstGeom>
          <a:solidFill>
            <a:srgbClr val="0A5AA6"/>
          </a:solidFill>
          <a:ln>
            <a:noFill/>
          </a:ln>
        </p:spPr>
        <p:txBody>
          <a:bodyPr rtlCol="0" anchor="ctr" wrap="square" lIns="54864" rIns="54864" tIns="36576" bIns="36576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Net Debt / EBITDA vs Peers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1675180"/>
            <a:ext cx="5465368" cy="219456"/>
          </a:xfrm>
          <a:prstGeom prst="rect">
            <a:avLst/>
          </a:prstGeom>
          <a:noFill/>
        </p:spPr>
        <p:txBody>
          <a:bodyPr wrap="square" lIns="18288" rIns="18288" tIns="18288" bIns="18288" anchor="t"/>
          <a:lstStyle/>
          <a:p>
            <a:pPr algn="l"/>
            <a:r>
              <a:rPr sz="900" b="0" i="1">
                <a:solidFill>
                  <a:srgbClr val="595959"/>
                </a:solidFill>
                <a:latin typeface="Arial"/>
              </a:rPr>
              <a:t>x, LTM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6309360" y="1912924"/>
          <a:ext cx="5465368" cy="4213555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cxnSp>
        <p:nvCxnSpPr>
          <p:cNvPr id="23" name="Connector 22"/>
          <p:cNvCxnSpPr/>
          <p:nvPr/>
        </p:nvCxnSpPr>
        <p:spPr>
          <a:xfrm>
            <a:off x="6418667" y="3729776"/>
            <a:ext cx="5246754" cy="0"/>
          </a:xfrm>
          <a:prstGeom prst="line">
            <a:avLst/>
          </a:prstGeom>
          <a:ln w="15875">
            <a:solidFill>
              <a:srgbClr val="E31B23"/>
            </a:solidFill>
            <a:prstDash val="dash"/>
          </a:ln>
        </p:spPr>
      </p:cxnSp>
      <p:sp>
        <p:nvSpPr>
          <p:cNvPr id="24" name="TextBox 23"/>
          <p:cNvSpPr txBox="1"/>
          <p:nvPr/>
        </p:nvSpPr>
        <p:spPr>
          <a:xfrm>
            <a:off x="6418667" y="349203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/>
            <a:r>
              <a:rPr sz="900" b="0" i="1">
                <a:solidFill>
                  <a:srgbClr val="E31B23"/>
                </a:solidFill>
                <a:latin typeface="Arial"/>
              </a:rPr>
              <a:t>Policy 2.0x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5A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058400" cy="822960"/>
          </a:xfrm>
          <a:prstGeom prst="rect">
            <a:avLst/>
          </a:prstGeom>
          <a:noFill/>
        </p:spPr>
        <p:txBody>
          <a:bodyPr wrap="square" lIns="54864" rIns="54864" tIns="36576" bIns="36576" anchor="b"/>
          <a:lstStyle/>
          <a:p>
            <a:pPr algn="l"/>
            <a:r>
              <a:rPr sz="4000" b="0" i="0">
                <a:solidFill>
                  <a:srgbClr val="FFFFFF"/>
                </a:solidFill>
                <a:latin typeface="Arial"/>
              </a:rPr>
              <a:t>05  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11880"/>
            <a:ext cx="10058400" cy="457200"/>
          </a:xfrm>
          <a:prstGeom prst="rect">
            <a:avLst/>
          </a:prstGeom>
          <a:noFill/>
        </p:spPr>
        <p:txBody>
          <a:bodyPr wrap="square" lIns="54864" rIns="54864" tIns="36576" bIns="36576" anchor="t"/>
          <a:lstStyle/>
          <a:p>
            <a:pPr algn="l"/>
            <a:r>
              <a:rPr sz="2400" b="0" i="0">
                <a:solidFill>
                  <a:srgbClr val="FFFFFF"/>
                </a:solidFill>
                <a:latin typeface="Arial"/>
              </a:rPr>
              <a:t>Financial statements and sensitivity tables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5A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058400" cy="822960"/>
          </a:xfrm>
          <a:prstGeom prst="rect">
            <a:avLst/>
          </a:prstGeom>
          <a:noFill/>
        </p:spPr>
        <p:txBody>
          <a:bodyPr wrap="square" lIns="54864" rIns="54864" tIns="36576" bIns="36576" anchor="b"/>
          <a:lstStyle/>
          <a:p>
            <a:pPr algn="l"/>
            <a:r>
              <a:rPr sz="4000" b="0" i="0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