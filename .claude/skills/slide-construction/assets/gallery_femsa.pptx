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D2D2"/>
    <a:srgbClr val="862633"/>
    <a:srgbClr val="88CA83"/>
    <a:srgbClr val="D6464E"/>
    <a:srgbClr val="FFFFFF"/>
    <a:srgbClr val="FF320D"/>
    <a:srgbClr val="FAB401"/>
    <a:srgbClr val="045698"/>
    <a:srgbClr val="F6821E"/>
    <a:srgbClr val="004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40" Type="http://schemas.openxmlformats.org/officeDocument/2006/relationships/tags" Target="tags/tag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862633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BC888F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C888F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Helvetica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</c:v>
                </c:pt>
                <c:pt idx="1">
                  <c:v>5900</c:v>
                </c:pt>
                <c:pt idx="2">
                  <c:v>6300</c:v>
                </c:pt>
                <c:pt idx="3">
                  <c:v>6400</c:v>
                </c:pt>
                <c:pt idx="4">
                  <c:v>7100</c:v>
                </c:pt>
                <c:pt idx="5">
                  <c:v>7700</c:v>
                </c:pt>
                <c:pt idx="6">
                  <c:v>8300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B96A73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D8ADB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8ADB2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Helvetica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1650</c:v>
                </c:pt>
                <c:pt idx="1">
                  <c:v>1950</c:v>
                </c:pt>
                <c:pt idx="2">
                  <c:v>2300</c:v>
                </c:pt>
                <c:pt idx="3">
                  <c:v>2700</c:v>
                </c:pt>
                <c:pt idx="4">
                  <c:v>3300</c:v>
                </c:pt>
                <c:pt idx="5">
                  <c:v>4100</c:v>
                </c:pt>
                <c:pt idx="6">
                  <c:v>5100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_total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6,850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7,850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8,600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9,100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10,400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11,800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Helvetica"/>
                      </a:rPr>
                      <a:t>13,400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20.0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overlay val="0"/>
      <c:txPr>
        <a:bodyPr/>
        <a:lstStyle/>
        <a:p>
          <a:pPr>
            <a:defRPr sz="900">
              <a:latin typeface="Helvetica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1"/>
          <c:w val="0.7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Peer avg</c:v>
                </c:pt>
              </c:strCache>
            </c:strRef>
          </c:tx>
          <c:spPr>
            <a:solidFill>
              <a:srgbClr val="862633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</c:v>
                </c:pt>
                <c:pt idx="1">
                  <c:v>6.5</c:v>
                </c:pt>
                <c:pt idx="2">
                  <c:v>21.3</c:v>
                </c:pt>
                <c:pt idx="3">
                  <c:v>15.8</c:v>
                </c:pt>
                <c:pt idx="4">
                  <c:v>2.5</c:v>
                </c:pt>
                <c:pt idx="5">
                  <c:v>3.1</c:v>
                </c:pt>
                <c:pt idx="6">
                  <c:v>3.6</c:v>
                </c:pt>
                <c:pt idx="7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</c:v>
                </c:pt>
              </c:strCache>
            </c:strRef>
          </c:tx>
          <c:spPr>
            <a:solidFill>
              <a:srgbClr val="9B2C39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6.8</c:v>
                </c:pt>
                <c:pt idx="1">
                  <c:v>1.8</c:v>
                </c:pt>
                <c:pt idx="2">
                  <c:v>18.6</c:v>
                </c:pt>
                <c:pt idx="3">
                  <c:v>17.6</c:v>
                </c:pt>
                <c:pt idx="4">
                  <c:v>5.5</c:v>
                </c:pt>
                <c:pt idx="5">
                  <c:v>6.3</c:v>
                </c:pt>
                <c:pt idx="6">
                  <c:v>7.9</c:v>
                </c:pt>
                <c:pt idx="7">
                  <c:v>13.1</c:v>
                </c:pt>
              </c:numCache>
            </c:numRef>
          </c:val>
        </c:ser>
        <c:gapWidth val="6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134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latin typeface="Helvetica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1"/>
          <c:w val="0.73"/>
          <c:h val="0.9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Lbls>
            <c:numFmt formatCode="+0.0&quot;pp&quot;;-0.0&quot;pp&quot;;0.0&quot;pp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-9.0</c:v>
                </c:pt>
                <c:pt idx="1">
                  <c:v>-4.7</c:v>
                </c:pt>
                <c:pt idx="2">
                  <c:v>-2.6999999999999993</c:v>
                </c:pt>
                <c:pt idx="3">
                  <c:v>1.8000000000000007</c:v>
                </c:pt>
                <c:pt idx="4">
                  <c:v>3.0</c:v>
                </c:pt>
                <c:pt idx="5">
                  <c:v>3.1999999999999997</c:v>
                </c:pt>
                <c:pt idx="6">
                  <c:v>4.300000000000001</c:v>
                </c:pt>
                <c:pt idx="7">
                  <c:v>6.3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5"/>
          <c:min val="-12.1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78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spPr>
            <a:ln w="31750">
              <a:solidFill>
                <a:srgbClr val="9B2C39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9B2C39"/>
                        </a:solidFill>
                        <a:latin typeface="Helvetica"/>
                      </a:rPr>
                      <a:t>Fund 144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104</c:v>
                </c:pt>
                <c:pt idx="2">
                  <c:v>103</c:v>
                </c:pt>
                <c:pt idx="3">
                  <c:v>110</c:v>
                </c:pt>
                <c:pt idx="4">
                  <c:v>108</c:v>
                </c:pt>
                <c:pt idx="5">
                  <c:v>115</c:v>
                </c:pt>
                <c:pt idx="6">
                  <c:v>121</c:v>
                </c:pt>
                <c:pt idx="7">
                  <c:v>129</c:v>
                </c:pt>
                <c:pt idx="8">
                  <c:v>133</c:v>
                </c:pt>
                <c:pt idx="9">
                  <c:v>138</c:v>
                </c:pt>
                <c:pt idx="10">
                  <c:v>145</c:v>
                </c:pt>
                <c:pt idx="11">
                  <c:v>144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6A6A6"/>
                        </a:solidFill>
                        <a:latin typeface="Helvetica"/>
                      </a:rPr>
                      <a:t>Peer A 178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106</c:v>
                </c:pt>
                <c:pt idx="2">
                  <c:v>108</c:v>
                </c:pt>
                <c:pt idx="3">
                  <c:v>115</c:v>
                </c:pt>
                <c:pt idx="4">
                  <c:v>116</c:v>
                </c:pt>
                <c:pt idx="5">
                  <c:v>126</c:v>
                </c:pt>
                <c:pt idx="6">
                  <c:v>135</c:v>
                </c:pt>
                <c:pt idx="7">
                  <c:v>147</c:v>
                </c:pt>
                <c:pt idx="8">
                  <c:v>155</c:v>
                </c:pt>
                <c:pt idx="9">
                  <c:v>163</c:v>
                </c:pt>
                <c:pt idx="10">
                  <c:v>176</c:v>
                </c:pt>
                <c:pt idx="11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B</c:v>
                </c:pt>
              </c:strCache>
            </c:strRef>
          </c:tx>
          <c:spPr>
            <a:ln w="19050">
              <a:solidFill>
                <a:srgbClr val="B96A73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B96A73"/>
                        </a:solidFill>
                        <a:latin typeface="Helvetica"/>
                      </a:rPr>
                      <a:t>Peer B 161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112</c:v>
                </c:pt>
                <c:pt idx="5">
                  <c:v>120</c:v>
                </c:pt>
                <c:pt idx="6">
                  <c:v>128</c:v>
                </c:pt>
                <c:pt idx="7">
                  <c:v>136</c:v>
                </c:pt>
                <c:pt idx="8">
                  <c:v>141</c:v>
                </c:pt>
                <c:pt idx="9">
                  <c:v>149</c:v>
                </c:pt>
                <c:pt idx="10">
                  <c:v>158</c:v>
                </c:pt>
                <c:pt idx="11">
                  <c:v>161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Peer avg</c:v>
                </c:pt>
              </c:strCache>
            </c:strRef>
          </c:tx>
          <c:spPr>
            <a:ln w="25400">
              <a:solidFill>
                <a:srgbClr val="862633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862633"/>
                        </a:solidFill>
                        <a:latin typeface="Helvetica"/>
                      </a:rPr>
                      <a:t>Peer avg 170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107</c:v>
                </c:pt>
                <c:pt idx="3">
                  <c:v>113</c:v>
                </c:pt>
                <c:pt idx="4">
                  <c:v>114</c:v>
                </c:pt>
                <c:pt idx="5">
                  <c:v>123</c:v>
                </c:pt>
                <c:pt idx="6">
                  <c:v>131</c:v>
                </c:pt>
                <c:pt idx="7">
                  <c:v>141</c:v>
                </c:pt>
                <c:pt idx="8">
                  <c:v>148</c:v>
                </c:pt>
                <c:pt idx="9">
                  <c:v>156</c:v>
                </c:pt>
                <c:pt idx="10">
                  <c:v>167</c:v>
                </c:pt>
                <c:pt idx="11">
                  <c:v>170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Helvetic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0.0"/>
          <c:min val="90.0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63.8</c:v>
                </c:pt>
                <c:pt idx="2">
                  <c:v>38.0</c:v>
                </c:pt>
                <c:pt idx="3">
                  <c:v>32.4</c:v>
                </c:pt>
                <c:pt idx="4">
                  <c:v>32.4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2825D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9.7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15.2</c:v>
                </c:pt>
                <c:pt idx="2">
                  <c:v>25.8</c:v>
                </c:pt>
                <c:pt idx="3">
                  <c:v>5.6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862633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79.0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42.1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_lab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79.0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(15.2)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(25.8)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(5.6)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+9.7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42.1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8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6"/>
          <c:y val="0.08"/>
          <c:w val="0.6"/>
          <c:h val="0.8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_off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$23.00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$31.50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$37.80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$34.95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$36.75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$33.50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11.5</c:v>
                </c:pt>
                <c:pt idx="2">
                  <c:v>17.799999999999997</c:v>
                </c:pt>
                <c:pt idx="3">
                  <c:v>14.950000000000003</c:v>
                </c:pt>
                <c:pt idx="4">
                  <c:v>16.75</c:v>
                </c:pt>
                <c:pt idx="5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96A73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16.9</c:v>
                </c:pt>
                <c:pt idx="1">
                  <c:v>13.5</c:v>
                </c:pt>
                <c:pt idx="2">
                  <c:v>7.800000000000004</c:v>
                </c:pt>
                <c:pt idx="3">
                  <c:v>11.25</c:v>
                </c:pt>
                <c:pt idx="4">
                  <c:v>7.549999999999997</c:v>
                </c:pt>
                <c:pt idx="5">
                  <c:v>11.600000000000001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_hi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$39.90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$45.00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$45.60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$46.20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$44.30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Helvetica"/>
                      </a:rPr>
                      <a:t>$45.10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68"/>
          <c:h val="0.94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B96A73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($0.55)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($0.65)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($1.25)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($1.65)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($3.75)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-0.55</c:v>
                </c:pt>
                <c:pt idx="1">
                  <c:v>-0.65</c:v>
                </c:pt>
                <c:pt idx="2">
                  <c:v>-1.25</c:v>
                </c:pt>
                <c:pt idx="3">
                  <c:v>-1.65</c:v>
                </c:pt>
                <c:pt idx="4">
                  <c:v>-3.75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862633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$0.65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$0.70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$1.50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$1.65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0.65</c:v>
                </c:pt>
                <c:pt idx="1">
                  <c:v>0.7</c:v>
                </c:pt>
                <c:pt idx="2">
                  <c:v>1.5</c:v>
                </c:pt>
                <c:pt idx="3">
                  <c:v>1.65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4375"/>
          <c:min val="-5.437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4"/>
          <c:h val="0.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862633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B96A73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F7F7F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AD2D2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Helvetica"/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Helvetica"/>
                      </a:rPr>
                      <a:t>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Helvetica"/>
                      </a:rPr>
                      <a:t>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Helvetica"/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Retail</c:v>
                </c:pt>
                <c:pt idx="1">
                  <c:v>Beverages</c:v>
                </c:pt>
                <c:pt idx="2">
                  <c:v>Health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latin typeface="Helvetica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862633"/>
              </a:solidFill>
              <a:ln>
                <a:noFill/>
              </a:ln>
            </c:spPr>
          </c:dPt>
          <c:dLbls>
            <c:numFmt formatCode="0.0&quot;x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Company</c:v>
                </c:pt>
                <c:pt idx="1">
                  <c:v>Peer A</c:v>
                </c:pt>
                <c:pt idx="2">
                  <c:v>Peer B</c:v>
                </c:pt>
                <c:pt idx="3">
                  <c:v>Peer C</c:v>
                </c:pt>
                <c:pt idx="4">
                  <c:v>Peer 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1.02</c:v>
                </c:pt>
                <c:pt idx="1">
                  <c:v>2.4</c:v>
                </c:pt>
                <c:pt idx="2">
                  <c:v>1.8</c:v>
                </c:pt>
                <c:pt idx="3">
                  <c:v>3.1</c:v>
                </c:pt>
                <c:pt idx="4">
                  <c:v>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Helvetic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6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Helvetic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2BDD-245C-434E-B417-0E21C9FF75B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9E41F-57FD-4EBD-B3BF-FC5648EB9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5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C9FDEDF-5155-80D9-472C-AF04B978C67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BAB16B11-B893-B676-1824-ECD699ACCE6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2410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B16B11-B893-B676-1824-ECD699ACCE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3CA3-CB98-C417-1D1B-42649D23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56350"/>
            <a:ext cx="10407163" cy="365125"/>
          </a:xfrm>
          <a:prstGeom prst="rect">
            <a:avLst/>
          </a:prstGeom>
        </p:spPr>
        <p:txBody>
          <a:bodyPr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Source(s):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1D534D-80E9-F8C1-D46E-9F83FE55F650}"/>
              </a:ext>
            </a:extLst>
          </p:cNvPr>
          <p:cNvCxnSpPr>
            <a:cxnSpLocks/>
          </p:cNvCxnSpPr>
          <p:nvPr userDrawn="1"/>
        </p:nvCxnSpPr>
        <p:spPr>
          <a:xfrm>
            <a:off x="609600" y="855641"/>
            <a:ext cx="10972800" cy="0"/>
          </a:xfrm>
          <a:prstGeom prst="line">
            <a:avLst/>
          </a:prstGeom>
          <a:ln>
            <a:solidFill>
              <a:srgbClr val="862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F5C1DB4-DEFE-BBCA-D0AB-035D1E8B72F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89260" y="461629"/>
            <a:ext cx="993139" cy="228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F391A84-16A7-B08D-32FC-71E65C4547F2}"/>
              </a:ext>
            </a:extLst>
          </p:cNvPr>
          <p:cNvSpPr/>
          <p:nvPr userDrawn="1"/>
        </p:nvSpPr>
        <p:spPr>
          <a:xfrm>
            <a:off x="-1031632" y="2760"/>
            <a:ext cx="914400" cy="1188720"/>
          </a:xfrm>
          <a:prstGeom prst="rect">
            <a:avLst/>
          </a:prstGeom>
          <a:solidFill>
            <a:srgbClr val="8626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134</a:t>
            </a:r>
          </a:p>
          <a:p>
            <a:pPr algn="ctr"/>
            <a:r>
              <a:rPr lang="en-US"/>
              <a:t>38</a:t>
            </a:r>
          </a:p>
          <a:p>
            <a:pPr algn="ctr"/>
            <a:r>
              <a:rPr lang="en-US"/>
              <a:t>51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639A23-50DD-A060-7C6F-3F83DD65699A}"/>
              </a:ext>
            </a:extLst>
          </p:cNvPr>
          <p:cNvSpPr/>
          <p:nvPr userDrawn="1"/>
        </p:nvSpPr>
        <p:spPr>
          <a:xfrm>
            <a:off x="-1031632" y="1420080"/>
            <a:ext cx="914400" cy="1188720"/>
          </a:xfrm>
          <a:prstGeom prst="rect">
            <a:avLst/>
          </a:prstGeom>
          <a:solidFill>
            <a:srgbClr val="B96A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185</a:t>
            </a:r>
          </a:p>
          <a:p>
            <a:pPr algn="ctr"/>
            <a:r>
              <a:rPr lang="en-US"/>
              <a:t>106</a:t>
            </a:r>
          </a:p>
          <a:p>
            <a:pPr algn="ctr"/>
            <a:r>
              <a:rPr lang="en-US"/>
              <a:t>115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AEC7D3-0731-4CBB-AD95-00EE9C624261}"/>
              </a:ext>
            </a:extLst>
          </p:cNvPr>
          <p:cNvSpPr/>
          <p:nvPr userDrawn="1"/>
        </p:nvSpPr>
        <p:spPr>
          <a:xfrm>
            <a:off x="-1031632" y="2837400"/>
            <a:ext cx="914400" cy="1188720"/>
          </a:xfrm>
          <a:prstGeom prst="rect">
            <a:avLst/>
          </a:prstGeom>
          <a:solidFill>
            <a:srgbClr val="EAD2D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234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210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8B319A-FDCB-B48B-C04A-5A19EB43E1E3}"/>
              </a:ext>
            </a:extLst>
          </p:cNvPr>
          <p:cNvSpPr/>
          <p:nvPr userDrawn="1"/>
        </p:nvSpPr>
        <p:spPr>
          <a:xfrm>
            <a:off x="-1031632" y="4254720"/>
            <a:ext cx="914400" cy="11887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127</a:t>
            </a:r>
          </a:p>
          <a:p>
            <a:pPr algn="ctr"/>
            <a:r>
              <a:rPr lang="en-US"/>
              <a:t>127</a:t>
            </a:r>
          </a:p>
          <a:p>
            <a:pPr algn="ctr"/>
            <a:r>
              <a:rPr lang="en-US"/>
              <a:t>127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7F88A3-4DC1-4B00-14A3-B26948992FDE}"/>
              </a:ext>
            </a:extLst>
          </p:cNvPr>
          <p:cNvSpPr/>
          <p:nvPr userDrawn="1"/>
        </p:nvSpPr>
        <p:spPr>
          <a:xfrm>
            <a:off x="-1031632" y="5672040"/>
            <a:ext cx="914400" cy="1188720"/>
          </a:xfrm>
          <a:prstGeom prst="rect">
            <a:avLst/>
          </a:prstGeom>
          <a:solidFill>
            <a:srgbClr val="FEF3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254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243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218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F8F2BE8-7967-F52A-10BF-98C3C8FC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0067"/>
            <a:ext cx="9167446" cy="514106"/>
          </a:xfrm>
          <a:prstGeom prst="rect">
            <a:avLst/>
          </a:prstGeom>
        </p:spPr>
        <p:txBody>
          <a:bodyPr vert="horz" lIns="0" rIns="91440" bIns="0" anchor="ctr"/>
          <a:lstStyle>
            <a:lvl1pPr>
              <a:defRPr sz="2800" b="1">
                <a:solidFill>
                  <a:srgbClr val="862633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2D6A44B-89FD-522E-F123-1732F25CF0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854173"/>
            <a:ext cx="7368564" cy="2862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buNone/>
              <a:defRPr lang="en-US" sz="1400" i="1" dirty="0" smtClean="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70CE24C1-1AE8-B04B-2960-018935F8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939" y="6356350"/>
            <a:ext cx="421460" cy="365123"/>
          </a:xfrm>
          <a:prstGeom prst="rect">
            <a:avLst/>
          </a:prstGeom>
        </p:spPr>
        <p:txBody>
          <a:bodyPr rIns="0" anchor="ctr"/>
          <a:lstStyle>
            <a:lvl1pPr>
              <a:defRPr lang="en-MX" sz="1100" i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623642F-8B6C-4948-BDBA-D9CE46053C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5703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167B84-1BD8-76D1-4E60-D190E74263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2E5A6B-5CFF-194C-D63F-2057A3EDD6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9101" y="701233"/>
            <a:ext cx="1903324" cy="4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3112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B981-B88C-EAC9-9378-2CE62132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AC4A8-2E38-BD3F-5BD8-630E4254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A7EA68-E82D-8F29-BDCC-0FEB6B58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5D719-E046-A277-13E6-C7C493FC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8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A2687B-B578-6285-60FA-0484A28ADE3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6093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2687B-B578-6285-60FA-0484A28AD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E0E3709-305E-A7F9-CA4A-22D8E7FC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  <a:prstGeom prst="rect">
            <a:avLst/>
          </a:prstGeom>
        </p:spPr>
        <p:txBody>
          <a:bodyPr vert="horz" lIns="0" rIns="91440"/>
          <a:lstStyle>
            <a:lvl1pPr>
              <a:defRPr sz="2800" b="1">
                <a:solidFill>
                  <a:srgbClr val="862633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4355F-8F72-80AF-54F7-E076EB73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1C5-25E5-694E-0FEB-07B8D407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9F858-3464-CF13-98A7-04253BEE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28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583B4416-A5C3-580D-5075-C46A2E6D10D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2BEC3-FC4D-AF2B-C813-BEB3746D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58192-7A6F-47DC-69BE-72BE2BB3F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5622-F897-5B99-E359-9DE422E9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C144-740B-4266-B09F-A127873420E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3CA3-CB98-C417-1D1B-42649D23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83F7-680C-F220-3B34-F1A5DE63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D2F6-A4E7-46CA-A14C-E278FDE6B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17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744D6B8-CFB8-3652-54EE-2ED52987EF17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811641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3" progId="TCLayout.ActiveDocument.1">
                  <p:embed/>
                </p:oleObj>
              </mc:Choice>
              <mc:Fallback>
                <p:oleObj name="think-cell Slide" r:id="rId9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44D6B8-CFB8-3652-54EE-2ED52987E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785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0" r:id="rId2"/>
    <p:sldLayoutId id="2147483662" r:id="rId3"/>
    <p:sldLayoutId id="2147483664" r:id="rId4"/>
    <p:sldLayoutId id="2147483663" r:id="rId5"/>
    <p:sldLayoutId id="214748366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8686800" cy="91440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"/>
              </a:rPr>
              <a:t>Layout Gallery: Slide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3756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1">
                <a:solidFill>
                  <a:srgbClr val="FFFFFF"/>
                </a:solidFill>
                <a:latin typeface="Helvetica"/>
              </a:rPr>
              <a:t>House style · native shapes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84048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1">
                <a:solidFill>
                  <a:srgbClr val="FFFFFF"/>
                </a:solidFill>
                <a:latin typeface="Helvetica"/>
              </a:rPr>
              <a:t>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120640"/>
            <a:ext cx="5486400" cy="12801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1100" b="0" i="1">
                <a:solidFill>
                  <a:srgbClr val="FFFFFF"/>
                </a:solidFill>
                <a:latin typeface="Helvetica"/>
              </a:rPr>
              <a:t>Analyst A</a:t>
            </a:r>
          </a:p>
          <a:p>
            <a:pPr algn="l">
              <a:spcBef>
                <a:spcPts val="800"/>
              </a:spcBef>
            </a:pPr>
            <a:r>
              <a:rPr sz="1100" b="0" i="1">
                <a:solidFill>
                  <a:srgbClr val="FFFFFF"/>
                </a:solidFill>
                <a:latin typeface="Helvetica"/>
              </a:rPr>
              <a:t>Analyst B</a:t>
            </a:r>
          </a:p>
          <a:p>
            <a:pPr algn="l">
              <a:spcBef>
                <a:spcPts val="800"/>
              </a:spcBef>
            </a:pPr>
            <a:r>
              <a:rPr sz="1100" b="0" i="1">
                <a:solidFill>
                  <a:srgbClr val="FFFFFF"/>
                </a:solidFill>
                <a:latin typeface="Helvetica"/>
              </a:rPr>
              <a:t>Analyst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8426" y="1417320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I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5277" y="1417320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426" y="1941271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II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5277" y="1941271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Company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426" y="2465222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III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5277" y="2465222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Financial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426" y="2989173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IV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5277" y="2989173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Peers &amp; positioning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426" y="3513124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35277" y="3513124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8426" y="4037076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5277" y="4037076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Capital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8426" y="4561027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VII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5277" y="4561027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Helvetica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Call: Compounding Into the Upcycle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Backlog of $12.6bn (+60% YoY) covers ~1.1x next-year revenue; valuation still 15% below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280160"/>
            <a:ext cx="10972800" cy="47548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Helvetica"/>
              </a:rPr>
              <a:t>Company X is the </a:t>
            </a:r>
            <a:r>
              <a:rPr sz="1400" b="1" i="0">
                <a:solidFill>
                  <a:srgbClr val="000000"/>
                </a:solidFill>
                <a:latin typeface="Helvetica"/>
              </a:rPr>
              <a:t>global leader in process control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, capturing rising complexity with </a:t>
            </a:r>
            <a:r>
              <a:rPr sz="1400" b="1" i="0">
                <a:solidFill>
                  <a:srgbClr val="862633"/>
                </a:solidFill>
                <a:latin typeface="Helvetica"/>
              </a:rPr>
              <a:t>~56% market share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and 6.5x the share of its nearest competitor.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Helvetica"/>
              </a:rPr>
              <a:t>Catalysts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Helvetica"/>
              </a:rPr>
              <a:t>Order momentum: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bookings of </a:t>
            </a:r>
            <a:r>
              <a:rPr sz="1400" b="1" i="0">
                <a:solidFill>
                  <a:srgbClr val="862633"/>
                </a:solidFill>
                <a:latin typeface="Helvetica"/>
              </a:rPr>
              <a:t>$3.2bn in Q2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(+25% YoY) and a backlog that already covers 82% of guided revenue.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Helvetica"/>
              </a:rPr>
              <a:t>Mix shift: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services grow to 38% of revenue by FY27E, lifting gross margin by ~150 bps.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Helvetica"/>
              </a:rPr>
              <a:t>Capital returns: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$3.4bn returned in FY26 with $9.7bn of authorisation still available.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Helvetica"/>
              </a:rPr>
              <a:t>Key Risks to Monitor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Helvetica"/>
              </a:rPr>
              <a:t>Customer concentration: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top-3 customers represent 41% of revenue; a capex pause hits orders first.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Helvetica"/>
              </a:rPr>
              <a:t>Valuation:</a:t>
            </a:r>
            <a:r>
              <a:rPr sz="1400" b="0" i="0">
                <a:solidFill>
                  <a:srgbClr val="000000"/>
                </a:solidFill>
                <a:latin typeface="Helvetica"/>
              </a:rPr>
              <a:t> at 32x forward P/E any miss compresses the multiple before earnings catch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Global leader in process control for semiconductor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280160"/>
            <a:ext cx="78638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Dominant provider of inspection and metrology systems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that detect defects at every step of chip manufacturing, serving foundry, logic and memory makers.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Competes through </a:t>
            </a:r>
            <a:r>
              <a:rPr sz="1200" b="1" i="0">
                <a:solidFill>
                  <a:srgbClr val="000000"/>
                </a:solidFill>
                <a:latin typeface="Helvetica"/>
              </a:rPr>
              <a:t>R&amp;D scale and IP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: 9,100 patents and $1.5bn of annual R&amp;D (11% of revenue).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325880"/>
            <a:ext cx="2743200" cy="914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000" b="0" i="0">
                <a:solidFill>
                  <a:srgbClr val="7F7F7F"/>
                </a:solidFill>
                <a:latin typeface="Helvetica"/>
              </a:rPr>
              <a:t>[ company logo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904" y="2880360"/>
            <a:ext cx="3535680" cy="329184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Process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3227832"/>
            <a:ext cx="35356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Helvetica"/>
              </a:rPr>
              <a:t>90% of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" y="3493008"/>
            <a:ext cx="3535680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Helvetica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Helvetica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Mix: foundry/logic 79%, memory 21%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464" y="2880360"/>
            <a:ext cx="3535680" cy="329184"/>
          </a:xfrm>
          <a:prstGeom prst="rect">
            <a:avLst/>
          </a:prstGeom>
          <a:solidFill>
            <a:srgbClr val="B96A7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PCB &amp;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8464" y="3227832"/>
            <a:ext cx="35356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Helvetica"/>
              </a:rPr>
              <a:t>6% of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64" y="3493008"/>
            <a:ext cx="3535680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Helvetica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Helvetica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Mix: foundry/logic 79%, memory 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7024" y="2880360"/>
            <a:ext cx="3535680" cy="32918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Specialty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7024" y="3227832"/>
            <a:ext cx="35356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Helvetica"/>
              </a:rPr>
              <a:t>4% of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7024" y="3493008"/>
            <a:ext cx="3535680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Helvetica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Helvetica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Mix: foundry/logic 79%, memory 21%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5120640"/>
            <a:ext cx="10972800" cy="502920"/>
          </a:xfrm>
          <a:prstGeom prst="roundRect">
            <a:avLst>
              <a:gd name="adj" fmla="val 15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Takeaway: one segment drives 90% of revenue - the thesis is a process-control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Compounds at 12% as Services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FY21-FY27E CAGR 11.8%; services rise from 24% to 38% of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694944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Revenue by Segment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694944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Amounts in USD millions; FY26E-FY27E consensus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14223" y="2024481"/>
            <a:ext cx="1906132" cy="356447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4223" y="2024481"/>
            <a:ext cx="19061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1">
                <a:solidFill>
                  <a:srgbClr val="7F7F7F"/>
                </a:solidFill>
                <a:latin typeface="Helvetica"/>
              </a:rPr>
              <a:t>Consensus forecast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09904" y="2006193"/>
          <a:ext cx="6949440" cy="41660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2" name="Connector 11"/>
          <p:cNvCxnSpPr/>
          <p:nvPr/>
        </p:nvCxnSpPr>
        <p:spPr>
          <a:xfrm flipV="1">
            <a:off x="1225426" y="2915788"/>
            <a:ext cx="5718396" cy="1159163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3" name="Oval 12"/>
          <p:cNvSpPr/>
          <p:nvPr/>
        </p:nvSpPr>
        <p:spPr>
          <a:xfrm>
            <a:off x="3535984" y="3138753"/>
            <a:ext cx="109728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000000"/>
                </a:solidFill>
                <a:latin typeface="Helvetica"/>
              </a:rPr>
              <a:t>CAGR: 11.8%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345996"/>
            <a:ext cx="3856024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Key Takeaways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1701698"/>
            <a:ext cx="3856025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726679" y="1803196"/>
            <a:ext cx="3856024" cy="420624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Services +21% CAGR: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installed base of 17,000 tools converts into recurring revenue.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Products cyclical: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FY24 flat as memory capex paused.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Estimate risk: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FY27E assumes WFE of $150bn; </a:t>
            </a:r>
            <a:r>
              <a:rPr sz="1200" b="1" i="0">
                <a:solidFill>
                  <a:srgbClr val="C00000"/>
                </a:solidFill>
                <a:latin typeface="Helvetica"/>
              </a:rPr>
              <a:t>a 10% miss cuts revenue ~6%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Overweight Tech, Underweight Materials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Average 2024-26: +6.3pp in Info. Technology, -9.0pp in Materials vs the peer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53218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Average Weight by Sector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532180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532180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Fund vs peer average, Jan-24 to Sep-26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9904" y="2006193"/>
          <a:ext cx="5321808" cy="416600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0896" y="1345996"/>
            <a:ext cx="53218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Over / Underweight vs Peers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0896" y="1701698"/>
            <a:ext cx="532180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260896" y="1740103"/>
            <a:ext cx="532180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Fund weight minus peer average (pp)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60896" y="2006193"/>
          <a:ext cx="5321808" cy="416600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Lagged the Peers by 7.4pp a Year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Annualized Jan-24 to Sep-26: Fund 14.2% vs 21.7% for the peer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1097280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Growth of 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109728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Total return in USD, month-end; Dec-23 = 100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9904" y="2006193"/>
          <a:ext cx="109728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904" y="4224528"/>
            <a:ext cx="1097280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Fund Snapshot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" y="4580229"/>
            <a:ext cx="1097280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904" y="4636008"/>
          <a:ext cx="10972800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# Holdings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3Y Perf.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3M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12M Fwd P/E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862633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16.4%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7.5%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-7.9%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-5.5%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11.4x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Peer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1,618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28.3%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18.6%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6.6%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-2.3%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10.6x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Peer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1,158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18.8%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9.7%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3.2%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-2.7%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12.2x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Fund vs peer avg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-6.9pp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-6.7pp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-13.5pp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-2.9pp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Helvetica"/>
                        </a:rPr>
                        <a:t>-0.2x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70% of Excess Cash Is Returned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Ps. 46.6bn approved returns; Ps. 32.1bn of remaining capacity at 2.0x ND/EBITDA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676656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Use of Excess Cash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676656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Ps. billions, 2026E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9904" y="2006193"/>
          <a:ext cx="6766560" cy="412028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1345996"/>
            <a:ext cx="3993184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What the bridge says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1701698"/>
            <a:ext cx="3993184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589520" y="1803196"/>
            <a:ext cx="3993184" cy="4114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Dividends absorb 52%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of excess cash (Ps. 41.0bn).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Buybacks are small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(Ps. 5.6bn) despite a 13% discount to intrinsic value.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Debt capacity of Ps. 9.7bn</a:t>
            </a:r>
            <a:r>
              <a:rPr sz="1200" b="0" i="0">
                <a:solidFill>
                  <a:srgbClr val="000000"/>
                </a:solidFill>
                <a:latin typeface="Helvetica"/>
              </a:rPr>
              <a:t> keeps leverage at the 2.0x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DCF and trading comps support $38-$46 per share; offer at $43.00 sits mid-range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7498079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Implied Price per Share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749808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US$; ranges as low-high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02512" y="2326233"/>
          <a:ext cx="7205471" cy="38002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3496482" y="5670450"/>
            <a:ext cx="4323283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3085002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9659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315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8972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629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8285" y="569788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Helvetica"/>
              </a:rPr>
              <a:t>$50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89144" y="2584533"/>
            <a:ext cx="0" cy="3085917"/>
          </a:xfrm>
          <a:prstGeom prst="line">
            <a:avLst/>
          </a:prstGeom>
          <a:ln w="15875">
            <a:solidFill>
              <a:srgbClr val="7F7F7F"/>
            </a:solidFill>
            <a:prstDash val="dash"/>
          </a:ln>
        </p:spPr>
      </p:cxnSp>
      <p:sp>
        <p:nvSpPr>
          <p:cNvPr id="18" name="Rectangle 17"/>
          <p:cNvSpPr/>
          <p:nvPr/>
        </p:nvSpPr>
        <p:spPr>
          <a:xfrm>
            <a:off x="4103344" y="2328501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7F7F7F"/>
                </a:solidFill>
                <a:latin typeface="Helvetica"/>
              </a:rPr>
              <a:t>Unaffected: $28.97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0999" y="2584533"/>
            <a:ext cx="0" cy="3085917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0" name="Rectangle 19"/>
          <p:cNvSpPr/>
          <p:nvPr/>
        </p:nvSpPr>
        <p:spPr>
          <a:xfrm>
            <a:off x="6125199" y="2328501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1B23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E31B23"/>
                </a:solidFill>
                <a:latin typeface="Helvetica"/>
              </a:rPr>
              <a:t>Offer: $43.00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" y="2648541"/>
            <a:ext cx="256032" cy="1990222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"/>
              </a:rPr>
              <a:t>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4675339"/>
            <a:ext cx="256032" cy="976823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Helvetica"/>
              </a:rPr>
              <a:t>Reference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" y="4657051"/>
            <a:ext cx="7209861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</p:cxnSp>
      <p:sp>
        <p:nvSpPr>
          <p:cNvPr id="24" name="TextBox 23"/>
          <p:cNvSpPr txBox="1"/>
          <p:nvPr/>
        </p:nvSpPr>
        <p:spPr>
          <a:xfrm>
            <a:off x="8275320" y="1345996"/>
            <a:ext cx="3307384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Assumptions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1701698"/>
            <a:ext cx="3307384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8275320" y="1803196"/>
            <a:ext cx="3307384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"/>
              </a:rPr>
              <a:t>Trading comps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7 generic peers; CY25E multiples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174796"/>
            <a:ext cx="3307384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"/>
              </a:rPr>
              <a:t>Precedents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12 pharma deals 2015-24; LTM EBITDA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4546396"/>
            <a:ext cx="3307384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"/>
              </a:rPr>
              <a:t>DCF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Helvetica"/>
              </a:rPr>
              <a:t>Mgmt case to FY34E; mid-year convention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Sensitivity: Margin and WACC Drive the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Midpoint $42.15 per share; +/-1pt of EBITDA margin moves value by $1.65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53218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Tornado: impact on value per share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532180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532180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US$ per share vs base case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09904" y="2326233"/>
          <a:ext cx="5321808" cy="380024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015861" y="2348800"/>
            <a:ext cx="0" cy="3663672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11" name="TextBox 10"/>
          <p:cNvSpPr txBox="1"/>
          <p:nvPr/>
        </p:nvSpPr>
        <p:spPr>
          <a:xfrm>
            <a:off x="3101461" y="212934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Helvetica"/>
              </a:rPr>
              <a:t>Base: $42.15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0896" y="1345996"/>
            <a:ext cx="5321808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Heat map: WACC vs EBITDA margin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0896" y="1701698"/>
            <a:ext cx="5321808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260896" y="1740103"/>
            <a:ext cx="532180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Implied price, US$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60896" y="2097633"/>
          <a:ext cx="5321808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6968"/>
                <a:gridCol w="886968"/>
                <a:gridCol w="886968"/>
                <a:gridCol w="886968"/>
                <a:gridCol w="886968"/>
                <a:gridCol w="886968"/>
              </a:tblGrid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WACC \ Mg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Helvetica"/>
                        </a:rPr>
                        <a:t>18%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62633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164.6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175.5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186.5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208.4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376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184.8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210.0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577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222.6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5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235.1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67D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209.5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224.1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238.7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B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253.3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267.9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E984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10%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240.3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257.5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274.6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291.8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309.0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B7D680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279.7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300.2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320.8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341.3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3C77D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Helvetica"/>
                        </a:rPr>
                        <a:t>361.8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63BE7B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8940088" y="3268065"/>
            <a:ext cx="850392" cy="347472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Four methods point to a 20-35% gap between price and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3676" y="1463040"/>
            <a:ext cx="794902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16275" rIns="816275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>Undervalued by 20-35% depending on the methodology and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" y="1463040"/>
            <a:ext cx="80939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#1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19304" y="1463040"/>
            <a:ext cx="2923502" cy="685800"/>
          </a:xfrm>
          <a:prstGeom prst="rightArrow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Implied 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3676" y="2606040"/>
            <a:ext cx="794902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16275" rIns="816275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>Higher growth and margins, yet trades at a discount to median EV/EBITDA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" y="2606040"/>
            <a:ext cx="80939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#2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419304" y="2606040"/>
            <a:ext cx="2923502" cy="685800"/>
          </a:xfrm>
          <a:prstGeom prst="rightArrow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Comparable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3676" y="3749039"/>
            <a:ext cx="794902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16275" rIns="816275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>Management case implies moderate upside; consensus implies none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" y="3749039"/>
            <a:ext cx="80939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#3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19304" y="3749039"/>
            <a:ext cx="2923502" cy="685800"/>
          </a:xfrm>
          <a:prstGeom prst="rightArrow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DCF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3676" y="4892040"/>
            <a:ext cx="794902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16275" rIns="816275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Helvetica"/>
              </a:rPr>
              <a:t>LTM EV/EBITDA implies $240+; premiums imply $180-$200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4892040"/>
            <a:ext cx="80939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#4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419304" y="4892040"/>
            <a:ext cx="2923502" cy="685800"/>
          </a:xfrm>
          <a:prstGeom prst="rightArrow">
            <a:avLst/>
          </a:prstGeom>
          <a:solidFill>
            <a:srgbClr val="862633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Helvetica"/>
              </a:rPr>
              <a:t>Precedent 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Return Track Record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Solid record since 2023; yield of ~4.2% with upside if leverage &lt; 2x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1417320"/>
            <a:ext cx="10972800" cy="310896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137160" rIns="137160" tIns="36576" bIns="36576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Evolution of the capital return programme (2021-2025)</a:t>
            </a:r>
          </a:p>
        </p:txBody>
      </p:sp>
      <p:sp>
        <p:nvSpPr>
          <p:cNvPr id="7" name="Chevron 6"/>
          <p:cNvSpPr/>
          <p:nvPr/>
        </p:nvSpPr>
        <p:spPr>
          <a:xfrm>
            <a:off x="609904" y="1874519"/>
            <a:ext cx="2253081" cy="502920"/>
          </a:xfrm>
          <a:prstGeom prst="chevron">
            <a:avLst/>
          </a:prstGeom>
          <a:solidFill>
            <a:srgbClr val="9B2C39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2021</a:t>
            </a:r>
          </a:p>
        </p:txBody>
      </p:sp>
      <p:sp>
        <p:nvSpPr>
          <p:cNvPr id="8" name="Chevron 7"/>
          <p:cNvSpPr/>
          <p:nvPr/>
        </p:nvSpPr>
        <p:spPr>
          <a:xfrm>
            <a:off x="2789834" y="1874519"/>
            <a:ext cx="2253081" cy="502920"/>
          </a:xfrm>
          <a:prstGeom prst="chevron">
            <a:avLst/>
          </a:prstGeom>
          <a:solidFill>
            <a:srgbClr val="9B2C39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2022</a:t>
            </a:r>
          </a:p>
        </p:txBody>
      </p:sp>
      <p:sp>
        <p:nvSpPr>
          <p:cNvPr id="9" name="Chevron 8"/>
          <p:cNvSpPr/>
          <p:nvPr/>
        </p:nvSpPr>
        <p:spPr>
          <a:xfrm>
            <a:off x="4969764" y="1874519"/>
            <a:ext cx="2253081" cy="502920"/>
          </a:xfrm>
          <a:prstGeom prst="chevron">
            <a:avLst/>
          </a:prstGeom>
          <a:solidFill>
            <a:srgbClr val="9B2C39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2023</a:t>
            </a:r>
          </a:p>
        </p:txBody>
      </p:sp>
      <p:sp>
        <p:nvSpPr>
          <p:cNvPr id="10" name="Chevron 9"/>
          <p:cNvSpPr/>
          <p:nvPr/>
        </p:nvSpPr>
        <p:spPr>
          <a:xfrm>
            <a:off x="7149693" y="1874519"/>
            <a:ext cx="2253081" cy="502920"/>
          </a:xfrm>
          <a:prstGeom prst="chevron">
            <a:avLst/>
          </a:prstGeom>
          <a:solidFill>
            <a:srgbClr val="9B2C39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2024</a:t>
            </a:r>
          </a:p>
        </p:txBody>
      </p:sp>
      <p:sp>
        <p:nvSpPr>
          <p:cNvPr id="11" name="Chevron 10"/>
          <p:cNvSpPr/>
          <p:nvPr/>
        </p:nvSpPr>
        <p:spPr>
          <a:xfrm>
            <a:off x="9329623" y="1874519"/>
            <a:ext cx="2253081" cy="502920"/>
          </a:xfrm>
          <a:prstGeom prst="chevron">
            <a:avLst/>
          </a:prstGeom>
          <a:solidFill>
            <a:srgbClr val="9B2C39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Helvetica"/>
              </a:rPr>
              <a:t>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" y="2514600"/>
            <a:ext cx="207020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" y="2606040"/>
            <a:ext cx="188732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Conservative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928" y="2971800"/>
            <a:ext cx="179588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37920" y="3044952"/>
            <a:ext cx="192389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Ordinary dividend Ps. 2.3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-26% vs 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4698" y="2514600"/>
            <a:ext cx="207020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6138" y="2606040"/>
            <a:ext cx="188732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Recovery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81858" y="2971800"/>
            <a:ext cx="179588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2917850" y="3044952"/>
            <a:ext cx="192389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Ordinary dividend Ps. 3.4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+48% vs 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4627" y="2514600"/>
            <a:ext cx="207020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6067" y="2606040"/>
            <a:ext cx="188732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Strategic pivot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61788" y="2971800"/>
            <a:ext cx="179588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097779" y="3044952"/>
            <a:ext cx="192389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Stake sale for EUR 6.9bn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Capital framework announced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4557" y="2514600"/>
            <a:ext cx="207020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5997" y="2606040"/>
            <a:ext cx="188732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Record year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41717" y="2971800"/>
            <a:ext cx="179588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277709" y="3044952"/>
            <a:ext cx="192389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Ordinary + extraordinary Ps. 7.5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Buybacks 2.9% of capital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4487" y="2514600"/>
            <a:ext cx="207020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5927" y="2606040"/>
            <a:ext cx="188732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Acceleration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1647" y="2971800"/>
            <a:ext cx="179588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457639" y="3044952"/>
            <a:ext cx="192389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Dividend +4.2%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Helvetica"/>
              </a:rPr>
              <a:t>Total return 10.4% of market cap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Illustrative buy-in process: three phases, ~24 weeks to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1371600"/>
            <a:ext cx="10972800" cy="347472"/>
          </a:xfrm>
          <a:prstGeom prst="rect">
            <a:avLst/>
          </a:prstGeom>
          <a:solidFill>
            <a:srgbClr val="D9D2CA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1">
                <a:solidFill>
                  <a:srgbClr val="000000"/>
                </a:solidFill>
                <a:latin typeface="Helvetica"/>
              </a:rPr>
              <a:t>Every special-committee process is unique; timing below is illustrative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" y="1874519"/>
            <a:ext cx="1463040" cy="1143000"/>
          </a:xfrm>
          <a:prstGeom prst="rect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609904" y="3008376"/>
            <a:ext cx="1463040" cy="329184"/>
          </a:xfrm>
          <a:prstGeom prst="triangle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1874519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Initial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1544" y="1920239"/>
            <a:ext cx="92354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Board approves proposal and engages advisors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Committee reviews strategic alternatives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Advisor prepares preliminary valuation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1544" y="3392424"/>
            <a:ext cx="928116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609904" y="3447288"/>
            <a:ext cx="1463040" cy="857250"/>
          </a:xfrm>
          <a:prstGeom prst="rect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609904" y="4295394"/>
            <a:ext cx="1463040" cy="294894"/>
          </a:xfrm>
          <a:prstGeom prst="triangle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3447288"/>
            <a:ext cx="1463040" cy="85725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Negotiations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1544" y="3493008"/>
            <a:ext cx="9235440" cy="10515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Parties negotiate price and terms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Committee may request a revised offer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01544" y="4645152"/>
            <a:ext cx="928116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09904" y="4700016"/>
            <a:ext cx="1463040" cy="1143000"/>
          </a:xfrm>
          <a:prstGeom prst="rect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609904" y="5833872"/>
            <a:ext cx="1463040" cy="329184"/>
          </a:xfrm>
          <a:prstGeom prst="triangle">
            <a:avLst/>
          </a:prstGeom>
          <a:solidFill>
            <a:srgbClr val="4E1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4700016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Helvetica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1544" y="4745736"/>
            <a:ext cx="92354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Definitive agreement and joint announcement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Proxy filed with the SEC; unitholder vote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Closing after regulatory 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01544" y="6217920"/>
            <a:ext cx="9281160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the 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Which method creates more value for the shareholder?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862633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3224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Accelerated buyback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0824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>
            <a:outerShdw blurRad="38100" dist="1905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Helvetica"/>
              </a:rPr>
              <a:t>Dividend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Market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664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Very strong, 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2264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Strong, gradual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904" y="2423160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3" name="TextBox 12"/>
          <p:cNvSpPr txBox="1"/>
          <p:nvPr/>
        </p:nvSpPr>
        <p:spPr>
          <a:xfrm>
            <a:off x="701344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Future flexibility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664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High (no recurring commitment)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2264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Low (cuts read as negative)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" y="2971800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7" name="TextBox 16"/>
          <p:cNvSpPr txBox="1"/>
          <p:nvPr/>
        </p:nvSpPr>
        <p:spPr>
          <a:xfrm>
            <a:off x="701344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Tax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664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Superior (capital gains)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2264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Lower in most jurisdictions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8944" y="308152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09904" y="3520439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2" name="TextBox 21"/>
          <p:cNvSpPr txBox="1"/>
          <p:nvPr/>
        </p:nvSpPr>
        <p:spPr>
          <a:xfrm>
            <a:off x="701344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EPS accretion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4664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Immediate and concentrated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2264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8944" y="3630168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09904" y="4069079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7" name="TextBox 26"/>
          <p:cNvSpPr txBox="1"/>
          <p:nvPr/>
        </p:nvSpPr>
        <p:spPr>
          <a:xfrm>
            <a:off x="701344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Who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4664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Holders who stay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2264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All current holders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8944" y="417880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09904" y="4617720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2" name="TextBox 31"/>
          <p:cNvSpPr txBox="1"/>
          <p:nvPr/>
        </p:nvSpPr>
        <p:spPr>
          <a:xfrm>
            <a:off x="701344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Helvetica"/>
              </a:rPr>
              <a:t>Requires undervaluation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664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Yes, to create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2264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Helvetica"/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904" y="5166360"/>
            <a:ext cx="10972800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6" name="Rounded Rectangle 35"/>
          <p:cNvSpPr/>
          <p:nvPr/>
        </p:nvSpPr>
        <p:spPr>
          <a:xfrm>
            <a:off x="609904" y="548640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862633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"/>
              </a:rPr>
              <a:t>The accelerated buyback maximises value: tax-efficient, immediately accretive and signals undervaluation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Company Sits Inside Every Step of the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Metrology and inspection intercept the process after nearly every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15</a:t>
            </a:r>
          </a:p>
        </p:txBody>
      </p:sp>
      <p:sp>
        <p:nvSpPr>
          <p:cNvPr id="6" name="Pentagon 5"/>
          <p:cNvSpPr/>
          <p:nvPr/>
        </p:nvSpPr>
        <p:spPr>
          <a:xfrm>
            <a:off x="609904" y="2011680"/>
            <a:ext cx="1851660" cy="706831"/>
          </a:xfrm>
          <a:prstGeom prst="homePlate">
            <a:avLst>
              <a:gd name="adj" fmla="val 44435"/>
            </a:avLst>
          </a:prstGeom>
          <a:solidFill>
            <a:srgbClr val="FFFFFF"/>
          </a:solidFill>
          <a:ln w="28575">
            <a:solidFill>
              <a:srgbClr val="862633"/>
            </a:solidFill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"/>
              </a:rPr>
              <a:t>Wafers</a:t>
            </a:r>
          </a:p>
        </p:txBody>
      </p:sp>
      <p:sp>
        <p:nvSpPr>
          <p:cNvPr id="7" name="Pentagon 6"/>
          <p:cNvSpPr/>
          <p:nvPr/>
        </p:nvSpPr>
        <p:spPr>
          <a:xfrm>
            <a:off x="253014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A6A6A6"/>
          </a:solidFill>
          <a:ln w="28575">
            <a:solidFill>
              <a:srgbClr val="7F7F7F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"/>
              </a:rPr>
              <a:t>Wafer Quality</a:t>
            </a:r>
          </a:p>
        </p:txBody>
      </p:sp>
      <p:sp>
        <p:nvSpPr>
          <p:cNvPr id="8" name="Pentagon 7"/>
          <p:cNvSpPr/>
          <p:nvPr/>
        </p:nvSpPr>
        <p:spPr>
          <a:xfrm>
            <a:off x="383316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8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Deposition</a:t>
            </a:r>
          </a:p>
        </p:txBody>
      </p:sp>
      <p:sp>
        <p:nvSpPr>
          <p:cNvPr id="9" name="Pentagon 8"/>
          <p:cNvSpPr/>
          <p:nvPr/>
        </p:nvSpPr>
        <p:spPr>
          <a:xfrm>
            <a:off x="513618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7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Lithography</a:t>
            </a:r>
          </a:p>
        </p:txBody>
      </p:sp>
      <p:sp>
        <p:nvSpPr>
          <p:cNvPr id="10" name="Pentagon 9"/>
          <p:cNvSpPr/>
          <p:nvPr/>
        </p:nvSpPr>
        <p:spPr>
          <a:xfrm>
            <a:off x="643920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6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Etch</a:t>
            </a:r>
          </a:p>
        </p:txBody>
      </p:sp>
      <p:sp>
        <p:nvSpPr>
          <p:cNvPr id="11" name="Pentagon 10"/>
          <p:cNvSpPr/>
          <p:nvPr/>
        </p:nvSpPr>
        <p:spPr>
          <a:xfrm>
            <a:off x="774222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862633">
              <a:alpha val="50000"/>
            </a:srgbClr>
          </a:solidFill>
          <a:ln w="28575">
            <a:solidFill>
              <a:srgbClr val="86263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CMP</a:t>
            </a:r>
          </a:p>
        </p:txBody>
      </p:sp>
      <p:sp>
        <p:nvSpPr>
          <p:cNvPr id="12" name="Pentagon 11"/>
          <p:cNvSpPr/>
          <p:nvPr/>
        </p:nvSpPr>
        <p:spPr>
          <a:xfrm>
            <a:off x="904524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A6A6A6"/>
          </a:solidFill>
          <a:ln w="28575">
            <a:solidFill>
              <a:srgbClr val="7F7F7F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200" b="1" i="0">
                <a:solidFill>
                  <a:srgbClr val="FFFFFF"/>
                </a:solidFill>
                <a:latin typeface="Helvetica"/>
              </a:rPr>
              <a:t>Repeat Process</a:t>
            </a:r>
          </a:p>
        </p:txBody>
      </p:sp>
      <p:sp>
        <p:nvSpPr>
          <p:cNvPr id="13" name="Pentagon 12"/>
          <p:cNvSpPr/>
          <p:nvPr/>
        </p:nvSpPr>
        <p:spPr>
          <a:xfrm>
            <a:off x="10348264" y="2011680"/>
            <a:ext cx="1234439" cy="706831"/>
          </a:xfrm>
          <a:prstGeom prst="homePlate">
            <a:avLst>
              <a:gd name="adj" fmla="val 44435"/>
            </a:avLst>
          </a:prstGeom>
          <a:solidFill>
            <a:srgbClr val="B96A73"/>
          </a:solidFill>
          <a:ln w="28575">
            <a:solidFill>
              <a:srgbClr val="B96A73"/>
            </a:solidFill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"/>
              </a:rPr>
              <a:t>Packaging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4584" y="1892808"/>
            <a:ext cx="6583679" cy="917143"/>
          </a:xfrm>
          <a:prstGeom prst="rect">
            <a:avLst/>
          </a:prstGeom>
          <a:noFill/>
          <a:ln w="285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4584" y="1600200"/>
            <a:ext cx="65836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 i="1">
                <a:solidFill>
                  <a:srgbClr val="4E161E"/>
                </a:solidFill>
                <a:latin typeface="Helvetica"/>
              </a:rPr>
              <a:t>Process Control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0742" y="2718511"/>
            <a:ext cx="0" cy="219456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4388662" y="2937967"/>
            <a:ext cx="5212080" cy="0"/>
          </a:xfrm>
          <a:prstGeom prst="line">
            <a:avLst/>
          </a:prstGeom>
          <a:ln w="25400">
            <a:solidFill>
              <a:srgbClr val="4E161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4388662" y="2718511"/>
            <a:ext cx="0" cy="219456"/>
          </a:xfrm>
          <a:prstGeom prst="line">
            <a:avLst/>
          </a:prstGeom>
          <a:ln w="25400">
            <a:solidFill>
              <a:srgbClr val="4E161E"/>
            </a:solidFill>
            <a:tailEnd type="triangle" w="med" len="med"/>
          </a:ln>
        </p:spPr>
      </p:cxnSp>
      <p:sp>
        <p:nvSpPr>
          <p:cNvPr id="19" name="Isosceles Triangle 18"/>
          <p:cNvSpPr/>
          <p:nvPr/>
        </p:nvSpPr>
        <p:spPr>
          <a:xfrm rot="10800000">
            <a:off x="609904" y="4032504"/>
            <a:ext cx="10972800" cy="201168"/>
          </a:xfrm>
          <a:prstGeom prst="triangle">
            <a:avLst/>
          </a:prstGeom>
          <a:solidFill>
            <a:srgbClr val="CECE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904" y="3657600"/>
            <a:ext cx="10972800" cy="384048"/>
          </a:xfrm>
          <a:prstGeom prst="rect">
            <a:avLst/>
          </a:prstGeom>
          <a:solidFill>
            <a:srgbClr val="7F7F7F"/>
          </a:solidFill>
          <a:ln w="12700">
            <a:solidFill>
              <a:srgbClr val="1F2937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"/>
              </a:rPr>
              <a:t>What it means for the 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" y="4379976"/>
            <a:ext cx="3474720" cy="12801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Every new layer adds inspection steps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: demand scales with chip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944" y="4379976"/>
            <a:ext cx="3474720" cy="12801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Tools are qualified per process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: switching is slow and risky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67504" y="4379976"/>
            <a:ext cx="0" cy="128016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016544" y="4379976"/>
            <a:ext cx="3474720" cy="12801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Helvetica"/>
              </a:rPr>
              <a:t>Feedback loops create data lock-in</a:t>
            </a:r>
            <a:r>
              <a:rPr sz="1100" b="0" i="0">
                <a:solidFill>
                  <a:srgbClr val="000000"/>
                </a:solidFill>
                <a:latin typeface="Helvetica"/>
              </a:rPr>
              <a:t> across the fab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5104" y="4379976"/>
            <a:ext cx="0" cy="128016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Sectors: Largest Contributors (1/4)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Materials (-5.0pp): mostly selection; Metals &amp; Mining +0.5pp vs +3.9pp for the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4418" y="1345996"/>
            <a:ext cx="10972800" cy="3246120"/>
          </a:xfrm>
          <a:prstGeom prst="rect">
            <a:avLst/>
          </a:prstGeom>
          <a:noFill/>
          <a:ln w="12700">
            <a:solidFill>
              <a:srgbClr val="42825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002" y="1419148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42825D"/>
                </a:solidFill>
                <a:latin typeface="Helvetica"/>
              </a:rPr>
              <a:t>Materials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0186" y="1501444"/>
            <a:ext cx="5815584" cy="228600"/>
          </a:xfrm>
          <a:prstGeom prst="rect">
            <a:avLst/>
          </a:prstGeom>
          <a:solidFill>
            <a:srgbClr val="DDE8E2"/>
          </a:solidFill>
          <a:ln w="6350">
            <a:solidFill>
              <a:srgbClr val="42825D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900" b="1" i="0">
                <a:solidFill>
                  <a:srgbClr val="000000"/>
                </a:solidFill>
                <a:latin typeface="Helvetica"/>
              </a:rPr>
              <a:t>Fund wt 6.8% vs peers 15.8%  |  Annualized perf. Fund -3% vs peers 30%  |  Gap -5.0pp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" y="1856231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Fund's largest contributors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4768" y="2103120"/>
          <a:ext cx="5303517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84985"/>
                <a:gridCol w="1591056"/>
                <a:gridCol w="742492"/>
                <a:gridCol w="742492"/>
                <a:gridCol w="742492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51168" y="1856231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Peers' largest contributors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51168" y="2103120"/>
          <a:ext cx="5303517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84985"/>
                <a:gridCol w="1591056"/>
                <a:gridCol w="742492"/>
                <a:gridCol w="742492"/>
                <a:gridCol w="742492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Helvetica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Helvetica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09904" y="4709160"/>
            <a:ext cx="10972800" cy="457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862633"/>
                </a:solidFill>
                <a:latin typeface="Helvetica"/>
              </a:rPr>
              <a:t>Allocation vs selection:</a:t>
            </a:r>
            <a:r>
              <a:rPr sz="900" b="0" i="0">
                <a:solidFill>
                  <a:srgbClr val="000000"/>
                </a:solidFill>
                <a:latin typeface="Helvetica"/>
              </a:rPr>
              <a:t> allocation -0.7pp, selection -2.3pp; fund held 6.8% vs 15.8%.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862633"/>
                </a:solidFill>
                <a:latin typeface="Helvetica"/>
              </a:rPr>
              <a:t>By industry:</a:t>
            </a:r>
            <a:r>
              <a:rPr sz="900" b="0" i="0">
                <a:solidFill>
                  <a:srgbClr val="000000"/>
                </a:solidFill>
                <a:latin typeface="Helvetica"/>
              </a:rPr>
              <a:t> Metals &amp; Mining +0.5pp vs +3.9pp; Chemicals -0.6pp vs +0.7pp.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Mix and Leverage Below Policy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Three segments of similar size; net debt / EBITDA of 1.0x vs the 2.0x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5599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i="1">
                <a:solidFill>
                  <a:srgbClr val="7F7F7F"/>
                </a:solidFill>
                <a:latin typeface="Helvetica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1166" y="6355994"/>
            <a:ext cx="42153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 i="0">
                <a:solidFill>
                  <a:srgbClr val="7F7F7F"/>
                </a:solidFill>
                <a:latin typeface="Helvetic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1345996"/>
            <a:ext cx="5303520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Revenue Mix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1701698"/>
            <a:ext cx="5303520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09904" y="1740103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FY25, % of revenue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84224" y="2051913"/>
          <a:ext cx="3017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84224" y="29964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2000" b="1" i="0">
                <a:solidFill>
                  <a:srgbClr val="862633"/>
                </a:solidFill>
                <a:latin typeface="Helvetica"/>
              </a:rPr>
              <a:t>$32bn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8604" y="336224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Helvetica"/>
              </a:rPr>
              <a:t>FY25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1784" y="2051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784" y="2232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62633"/>
                </a:solidFill>
                <a:latin typeface="Helvetica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3224" y="2685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62633"/>
                </a:solidFill>
                <a:latin typeface="Helvetica"/>
              </a:rPr>
              <a:t>Retail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1784" y="3194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1784" y="3375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62633"/>
                </a:solidFill>
                <a:latin typeface="Helvetica"/>
              </a:rPr>
              <a:t>+9%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3224" y="3828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62633"/>
                </a:solidFill>
                <a:latin typeface="Helvetica"/>
              </a:rPr>
              <a:t>Revenue YoY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1784" y="4337913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784" y="4518964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862633"/>
                </a:solidFill>
                <a:latin typeface="Helvetica"/>
              </a:rP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3224" y="4971592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862633"/>
                </a:solidFill>
                <a:latin typeface="Helvetica"/>
              </a:rPr>
              <a:t>EBITDA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345996"/>
            <a:ext cx="5273344" cy="31729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200" b="1" i="0">
                <a:solidFill>
                  <a:srgbClr val="000000"/>
                </a:solidFill>
                <a:latin typeface="Helvetica"/>
              </a:rPr>
              <a:t>Net Debt / EBITDA vs Peers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09360" y="1701698"/>
            <a:ext cx="5273344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309360" y="1740103"/>
            <a:ext cx="527334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000000"/>
                </a:solidFill>
                <a:latin typeface="Helvetica"/>
              </a:rPr>
              <a:t>x, LTM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309360" y="2006193"/>
          <a:ext cx="5273344" cy="412028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5" name="Connector 24"/>
          <p:cNvCxnSpPr/>
          <p:nvPr/>
        </p:nvCxnSpPr>
        <p:spPr>
          <a:xfrm>
            <a:off x="6414826" y="3782828"/>
            <a:ext cx="5062411" cy="0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6" name="TextBox 25"/>
          <p:cNvSpPr txBox="1"/>
          <p:nvPr/>
        </p:nvSpPr>
        <p:spPr>
          <a:xfrm>
            <a:off x="6414826" y="354508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E31B23"/>
                </a:solidFill>
                <a:latin typeface="Helvetica"/>
              </a:rPr>
              <a:t>Policy 2.0x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8686800" cy="91440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"/>
              </a:rPr>
              <a:t>05 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33756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1">
                <a:solidFill>
                  <a:srgbClr val="FFFFFF"/>
                </a:solidFill>
                <a:latin typeface="Helvetica"/>
              </a:rPr>
              <a:t>Financial statements and sensitivity 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0"/>
            <a:ext cx="8686800" cy="91440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00973790000000018807E+00&quot;&gt;&lt;m_msothmcolidx val=&quot;0&quot;/&gt;&lt;m_rgb r=&quot;86&quot; g=&quot;26&quot; b=&quot;33&quot;/&gt;&lt;/elem&gt;&lt;elem m_fUsage=&quot;1.38509999999999999787E+00&quot;&gt;&lt;m_msothmcolidx val=&quot;0&quot;/&gt;&lt;m_rgb r=&quot;FE&quot; g=&quot;F3&quot; b=&quot;DA&quot;/&gt;&lt;/elem&gt;&lt;elem m_fUsage=&quot;9.00000000000000022204E-01&quot;&gt;&lt;m_msothmcolidx val=&quot;0&quot;/&gt;&lt;m_rgb r=&quot;00&quot; g=&quot;16&quot; b=&quot;89&quot;/&gt;&lt;/elem&gt;&lt;elem m_fUsage=&quot;8.10000000000000053291E-01&quot;&gt;&lt;m_msothmcolidx val=&quot;0&quot;/&gt;&lt;m_rgb r=&quot;E4&quot; g=&quot;3A&quot; b=&quot;31&quot;/&gt;&lt;/elem&gt;&lt;elem m_fUsage=&quot;5.90490000000000181402E-01&quot;&gt;&lt;m_msothmcolidx val=&quot;0&quot;/&gt;&lt;m_rgb r=&quot;B9&quot; g=&quot;6A&quot; b=&quot;73&quot;/&gt;&lt;/elem&gt;&lt;elem m_fUsage=&quot;4.30467210000000155556E-01&quot;&gt;&lt;m_msothmcolidx val=&quot;0&quot;/&gt;&lt;m_rgb r=&quot;FF&quot; g=&quot;40&quot; b=&quot;40&quot;/&gt;&lt;/elem&gt;&lt;elem m_fUsage=&quot;3.87420489000000034530E-01&quot;&gt;&lt;m_msothmcolidx val=&quot;0&quot;/&gt;&lt;m_rgb r=&quot;FB&quot; g=&quot;A2&quot; b=&quot;76&quot;/&gt;&lt;/elem&gt;&lt;elem m_fUsage=&quot;3.48678440100000042179E-01&quot;&gt;&lt;m_msothmcolidx val=&quot;0&quot;/&gt;&lt;m_rgb r=&quot;FF&quot; g=&quot;EB&quot; b=&quot;84&quot;/&gt;&lt;/elem&gt;&lt;elem m_fUsage=&quot;3.13810596090000060165E-01&quot;&gt;&lt;m_msothmcolidx val=&quot;0&quot;/&gt;&lt;m_rgb r=&quot;BC&quot; g=&quot;D8&quot; b=&quot;81&quot;/&gt;&lt;/elem&gt;&lt;elem m_fUsage=&quot;2.82429536481000109660E-01&quot;&gt;&lt;m_msothmcolidx val=&quot;0&quot;/&gt;&lt;m_rgb r=&quot;63&quot; g=&quot;BE&quot; b=&quot;7B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4BAE05-752E-4994-AD37-707B5EEF5E3E}">
  <we:reference id="wa200010001" version="1.0.0.1" store="en-US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2736255F8947488A9FD7649BF53D97" ma:contentTypeVersion="15" ma:contentTypeDescription="Create a new document." ma:contentTypeScope="" ma:versionID="24d6b2fe36500122d90e091d9d71ce37">
  <xsd:schema xmlns:xsd="http://www.w3.org/2001/XMLSchema" xmlns:xs="http://www.w3.org/2001/XMLSchema" xmlns:p="http://schemas.microsoft.com/office/2006/metadata/properties" xmlns:ns3="8fccf58b-a573-4d2b-996f-1c706d669db6" xmlns:ns4="585ed2ce-6475-4aa4-ae7d-5b0a21b2865e" targetNamespace="http://schemas.microsoft.com/office/2006/metadata/properties" ma:root="true" ma:fieldsID="7f7801a20f627626ad565b8978166bb2" ns3:_="" ns4:_="">
    <xsd:import namespace="8fccf58b-a573-4d2b-996f-1c706d669db6"/>
    <xsd:import namespace="585ed2ce-6475-4aa4-ae7d-5b0a21b286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cf58b-a573-4d2b-996f-1c706d669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ed2ce-6475-4aa4-ae7d-5b0a21b2865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fccf58b-a573-4d2b-996f-1c706d669db6" xsi:nil="true"/>
  </documentManagement>
</p:properties>
</file>

<file path=customXml/itemProps1.xml><?xml version="1.0" encoding="utf-8"?>
<ds:datastoreItem xmlns:ds="http://schemas.openxmlformats.org/officeDocument/2006/customXml" ds:itemID="{F6F55C3C-8C19-4463-8BB8-7025275379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C7FE5A-CEA6-46EE-8542-FEC421B82D12}">
  <ds:schemaRefs>
    <ds:schemaRef ds:uri="585ed2ce-6475-4aa4-ae7d-5b0a21b2865e"/>
    <ds:schemaRef ds:uri="8fccf58b-a573-4d2b-996f-1c706d669d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1EAF789-4F04-4D94-88B5-331B6F2EA055}">
  <ds:schemaRefs>
    <ds:schemaRef ds:uri="http://purl.org/dc/dcmitype/"/>
    <ds:schemaRef ds:uri="8fccf58b-a573-4d2b-996f-1c706d669db6"/>
    <ds:schemaRef ds:uri="http://www.w3.org/XML/1998/namespace"/>
    <ds:schemaRef ds:uri="http://purl.org/dc/elements/1.1/"/>
    <ds:schemaRef ds:uri="http://purl.org/dc/terms/"/>
    <ds:schemaRef ds:uri="585ed2ce-6475-4aa4-ae7d-5b0a21b286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5797</Words>
  <Application>Microsoft Office PowerPoint</Application>
  <PresentationFormat>Widescreen</PresentationFormat>
  <Paragraphs>1507</Paragraphs>
  <Slides>34</Slides>
  <Notes>27</Notes>
  <HiddenSlides>5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Aptos Narrow</vt:lpstr>
      <vt:lpstr>Arial</vt:lpstr>
      <vt:lpstr>Calibri</vt:lpstr>
      <vt:lpstr>Cambria</vt:lpstr>
      <vt:lpstr>Courier New</vt:lpstr>
      <vt:lpstr>Helvetica</vt:lpstr>
      <vt:lpstr>Open Sans</vt:lpstr>
      <vt:lpstr>Wingdings</vt:lpstr>
      <vt:lpstr>Office Theme</vt:lpstr>
      <vt:lpstr>think-cell Slide</vt:lpstr>
      <vt:lpstr>PowerPoint Presentation</vt:lpstr>
      <vt:lpstr>PowerPoint Presentation</vt:lpstr>
      <vt:lpstr>Entendiendo FEMSA Forward</vt:lpstr>
      <vt:lpstr>Prioridades de Expansión Geográfica</vt:lpstr>
      <vt:lpstr>Tamaño y Crecimiento Del Sector C-stores EE.UU.</vt:lpstr>
      <vt:lpstr>Análisis de Mercado: C-stores EE.UU.</vt:lpstr>
      <vt:lpstr>Análisis de Mercado</vt:lpstr>
      <vt:lpstr>Pool of Targets</vt:lpstr>
      <vt:lpstr>Propuesta</vt:lpstr>
      <vt:lpstr>ARKO Overview</vt:lpstr>
      <vt:lpstr>ARKO Snapshot Financiero Histórico (2019–2025)</vt:lpstr>
      <vt:lpstr>Comparación de Tiendas</vt:lpstr>
      <vt:lpstr>WACC</vt:lpstr>
      <vt:lpstr>Flujos del DCF - Caso Base</vt:lpstr>
      <vt:lpstr>Flujos del DCF - Caso con Sinergias</vt:lpstr>
      <vt:lpstr>Valuación por DCF</vt:lpstr>
      <vt:lpstr>Análisis de Sensibilidad</vt:lpstr>
      <vt:lpstr>LBO Floor &amp; Strategic IRR</vt:lpstr>
      <vt:lpstr>FEMSA Proforma</vt:lpstr>
      <vt:lpstr>FEMSA Proforma</vt:lpstr>
      <vt:lpstr>FEMSA ex-KOF - Balance Sheet Proforma</vt:lpstr>
      <vt:lpstr>Racional de Arko</vt:lpstr>
      <vt:lpstr>PowerPoint Presentation</vt:lpstr>
      <vt:lpstr>PowerPoint Presentation</vt:lpstr>
      <vt:lpstr>PowerPoint Presentation</vt:lpstr>
      <vt:lpstr>Proceso de transacción &amp; timeline</vt:lpstr>
      <vt:lpstr>Recomendamos comprar a un múltiplo de 8.0x</vt:lpstr>
      <vt:lpstr>PowerPoint Presentation</vt:lpstr>
      <vt:lpstr>Pool of Targets</vt:lpstr>
      <vt:lpstr>Análisis Legal</vt:lpstr>
      <vt:lpstr>Arko Corp – GPM Investments LLC</vt:lpstr>
      <vt:lpstr>Adquisiciones &amp; Desinversiones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César Silva De la Rosa</dc:creator>
  <cp:lastModifiedBy>Julio César Silva de la Rosa</cp:lastModifiedBy>
  <cp:revision>2</cp:revision>
  <dcterms:created xsi:type="dcterms:W3CDTF">2026-03-11T00:29:17Z</dcterms:created>
  <dcterms:modified xsi:type="dcterms:W3CDTF">2026-09-12T04:46:50Z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0x010100F72736255F8947488A9FD7649BF53D97</vt:lpwstr>
  </property>
</Properties>
</file>